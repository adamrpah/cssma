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845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1339" y="457200"/>
            <a:ext cx="4861322" cy="6172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B699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Jupyter Notebook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2141339" y="1217284"/>
            <a:ext cx="486132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Interactive Data Playground!</a:t>
            </a:r>
            <a:endParaRPr lang="en-US" sz="202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117396"/>
            <a:ext cx="5715000" cy="38099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03604" y="6013112"/>
            <a:ext cx="15117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Explore, Code, Document, Share</a:t>
            </a:r>
            <a:endParaRPr lang="en-US" sz="73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232297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28E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Jupyter Notebook?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1848445"/>
            <a:ext cx="15537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Jupyter Notebook is an 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1982391" y="1848445"/>
            <a:ext cx="17859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B6992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web application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3768328" y="1848445"/>
            <a:ext cx="2303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428625" y="2077045"/>
            <a:ext cx="31861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creating and sharing computational documents. </a:t>
            </a:r>
            <a:endParaRPr lang="en-US" sz="1046" dirty="0"/>
          </a:p>
        </p:txBody>
      </p:sp>
      <p:sp>
        <p:nvSpPr>
          <p:cNvPr id="8" name="Shape 5"/>
          <p:cNvSpPr/>
          <p:nvPr/>
        </p:nvSpPr>
        <p:spPr>
          <a:xfrm>
            <a:off x="428625" y="2482453"/>
            <a:ext cx="285750" cy="285750"/>
          </a:xfrm>
          <a:prstGeom prst="ellipse">
            <a:avLst/>
          </a:prstGeom>
          <a:solidFill>
            <a:srgbClr val="4E79A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2568178"/>
            <a:ext cx="114300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1531" y="2441377"/>
            <a:ext cx="10820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Application: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1903614" y="2441377"/>
            <a:ext cx="21579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Browser-based interface for coding 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821531" y="2634258"/>
            <a:ext cx="11898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documentation 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428625" y="2975372"/>
            <a:ext cx="285750" cy="285750"/>
          </a:xfrm>
          <a:prstGeom prst="ellipse">
            <a:avLst/>
          </a:prstGeom>
          <a:solidFill>
            <a:srgbClr val="4E79A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3" y="3061097"/>
            <a:ext cx="142875" cy="11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1531" y="2934295"/>
            <a:ext cx="4561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Kernel:</a:t>
            </a:r>
            <a:endParaRPr lang="en-US" sz="942" dirty="0"/>
          </a:p>
        </p:txBody>
      </p:sp>
      <p:sp>
        <p:nvSpPr>
          <p:cNvPr id="16" name="Text 11"/>
          <p:cNvSpPr/>
          <p:nvPr/>
        </p:nvSpPr>
        <p:spPr>
          <a:xfrm>
            <a:off x="1277643" y="2934295"/>
            <a:ext cx="25471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Computational engine that executes code </a:t>
            </a:r>
            <a:endParaRPr lang="en-US" sz="942" dirty="0"/>
          </a:p>
        </p:txBody>
      </p:sp>
      <p:sp>
        <p:nvSpPr>
          <p:cNvPr id="17" name="Text 12"/>
          <p:cNvSpPr/>
          <p:nvPr/>
        </p:nvSpPr>
        <p:spPr>
          <a:xfrm>
            <a:off x="821531" y="3127177"/>
            <a:ext cx="12555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(Python, R, Julia, etc.) 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428625" y="3468291"/>
            <a:ext cx="285750" cy="285750"/>
          </a:xfrm>
          <a:prstGeom prst="ellipse">
            <a:avLst/>
          </a:prstGeom>
          <a:solidFill>
            <a:srgbClr val="4E79A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8" y="3554016"/>
            <a:ext cx="85725" cy="1143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1531" y="3427214"/>
            <a:ext cx="14381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Notebook Documents:</a:t>
            </a:r>
            <a:endParaRPr lang="en-US" sz="942" dirty="0"/>
          </a:p>
        </p:txBody>
      </p:sp>
      <p:sp>
        <p:nvSpPr>
          <p:cNvPr id="21" name="Text 15"/>
          <p:cNvSpPr/>
          <p:nvPr/>
        </p:nvSpPr>
        <p:spPr>
          <a:xfrm>
            <a:off x="2259657" y="3427214"/>
            <a:ext cx="16177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Files with .ipynb extension </a:t>
            </a:r>
            <a:endParaRPr lang="en-US" sz="942" dirty="0"/>
          </a:p>
        </p:txBody>
      </p:sp>
      <p:sp>
        <p:nvSpPr>
          <p:cNvPr id="22" name="Text 16"/>
          <p:cNvSpPr/>
          <p:nvPr/>
        </p:nvSpPr>
        <p:spPr>
          <a:xfrm>
            <a:off x="821531" y="3620095"/>
            <a:ext cx="24924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that contain code, text, and visualizations </a:t>
            </a:r>
            <a:endParaRPr lang="en-US" sz="942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063" y="1564509"/>
            <a:ext cx="3571875" cy="201445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28E2B"/>
          </a:solidFill>
          <a:ln/>
        </p:spPr>
      </p:sp>
      <p:sp>
        <p:nvSpPr>
          <p:cNvPr id="26" name="Shape 19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8" name="Shape 21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1" name="Shape 24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03659"/>
            <a:ext cx="37147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28E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Use Jupyter Notebook?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1689497"/>
            <a:ext cx="285750" cy="285750"/>
          </a:xfrm>
          <a:prstGeom prst="ellipse">
            <a:avLst/>
          </a:prstGeom>
          <a:solidFill>
            <a:srgbClr val="F28E2B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775222"/>
            <a:ext cx="114300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1531" y="1689497"/>
            <a:ext cx="3321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 Computing</a:t>
            </a:r>
            <a:endParaRPr lang="en-US" sz="1046" dirty="0"/>
          </a:p>
        </p:txBody>
      </p:sp>
      <p:sp>
        <p:nvSpPr>
          <p:cNvPr id="7" name="Text 3"/>
          <p:cNvSpPr/>
          <p:nvPr/>
        </p:nvSpPr>
        <p:spPr>
          <a:xfrm>
            <a:off x="821531" y="1939528"/>
            <a:ext cx="33218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 code cell by cell, see results immediately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428625" y="2239566"/>
            <a:ext cx="285750" cy="285750"/>
          </a:xfrm>
          <a:prstGeom prst="ellipse">
            <a:avLst/>
          </a:prstGeom>
          <a:solidFill>
            <a:srgbClr val="59A14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325291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1531" y="2239566"/>
            <a:ext cx="3321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Reproducibility</a:t>
            </a:r>
            <a:endParaRPr lang="en-US" sz="1046" dirty="0"/>
          </a:p>
        </p:txBody>
      </p:sp>
      <p:sp>
        <p:nvSpPr>
          <p:cNvPr id="11" name="Text 6"/>
          <p:cNvSpPr/>
          <p:nvPr/>
        </p:nvSpPr>
        <p:spPr>
          <a:xfrm>
            <a:off x="821531" y="2489597"/>
            <a:ext cx="33218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Share executable code and narrative in one document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428625" y="2789634"/>
            <a:ext cx="285750" cy="285750"/>
          </a:xfrm>
          <a:prstGeom prst="ellipse">
            <a:avLst/>
          </a:prstGeom>
          <a:solidFill>
            <a:srgbClr val="B6992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875359"/>
            <a:ext cx="114300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1531" y="2789634"/>
            <a:ext cx="3321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Exploration</a:t>
            </a:r>
            <a:endParaRPr lang="en-US" sz="1046" dirty="0"/>
          </a:p>
        </p:txBody>
      </p:sp>
      <p:sp>
        <p:nvSpPr>
          <p:cNvPr id="15" name="Text 9"/>
          <p:cNvSpPr/>
          <p:nvPr/>
        </p:nvSpPr>
        <p:spPr>
          <a:xfrm>
            <a:off x="821531" y="3039666"/>
            <a:ext cx="33218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Visualize data and iterate on analysis quickly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28625" y="3339703"/>
            <a:ext cx="285750" cy="285750"/>
          </a:xfrm>
          <a:prstGeom prst="ellipse">
            <a:avLst/>
          </a:prstGeom>
          <a:solidFill>
            <a:srgbClr val="4E79A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38" y="3425428"/>
            <a:ext cx="85725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1531" y="3339703"/>
            <a:ext cx="3321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Documentation</a:t>
            </a:r>
            <a:endParaRPr lang="en-US" sz="1046" dirty="0"/>
          </a:p>
        </p:txBody>
      </p:sp>
      <p:sp>
        <p:nvSpPr>
          <p:cNvPr id="19" name="Text 12"/>
          <p:cNvSpPr/>
          <p:nvPr/>
        </p:nvSpPr>
        <p:spPr>
          <a:xfrm>
            <a:off x="821531" y="3589734"/>
            <a:ext cx="33218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Rich text formatting with Markdown support</a:t>
            </a:r>
            <a:endParaRPr lang="en-US" sz="942" dirty="0"/>
          </a:p>
        </p:txBody>
      </p:sp>
      <p:sp>
        <p:nvSpPr>
          <p:cNvPr id="20" name="Shape 13"/>
          <p:cNvSpPr/>
          <p:nvPr/>
        </p:nvSpPr>
        <p:spPr>
          <a:xfrm>
            <a:off x="428625" y="3889772"/>
            <a:ext cx="285750" cy="285750"/>
          </a:xfrm>
          <a:prstGeom prst="ellipse">
            <a:avLst/>
          </a:prstGeom>
          <a:solidFill>
            <a:srgbClr val="F28E2B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3" y="3975497"/>
            <a:ext cx="142875" cy="1143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21531" y="3889772"/>
            <a:ext cx="3321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Collaboration</a:t>
            </a:r>
            <a:endParaRPr lang="en-US" sz="1046" dirty="0"/>
          </a:p>
        </p:txBody>
      </p:sp>
      <p:sp>
        <p:nvSpPr>
          <p:cNvPr id="23" name="Text 15"/>
          <p:cNvSpPr/>
          <p:nvPr/>
        </p:nvSpPr>
        <p:spPr>
          <a:xfrm>
            <a:off x="821531" y="4139803"/>
            <a:ext cx="33218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Easy to share and collaborate with others</a:t>
            </a:r>
            <a:endParaRPr lang="en-US" sz="942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3" y="1381116"/>
            <a:ext cx="3571875" cy="2381241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6" name="Shape 17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18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28E2B"/>
          </a:solidFill>
          <a:ln/>
        </p:spPr>
      </p:sp>
      <p:sp>
        <p:nvSpPr>
          <p:cNvPr id="28" name="Shape 19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9" name="Shape 20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0" name="Shape 21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1" name="Shape 22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2" name="Shape 23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363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7147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28E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Anatomy of a Notebook: Cells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1414463"/>
            <a:ext cx="3714750" cy="95726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35781" y="1521619"/>
            <a:ext cx="357188" cy="357188"/>
          </a:xfrm>
          <a:prstGeom prst="rect">
            <a:avLst/>
          </a:prstGeom>
          <a:solidFill>
            <a:srgbClr val="59A14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78" y="1696641"/>
            <a:ext cx="178594" cy="71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0125" y="1521619"/>
            <a:ext cx="303609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 Cells</a:t>
            </a:r>
            <a:endParaRPr lang="en-US" sz="1238" dirty="0"/>
          </a:p>
        </p:txBody>
      </p:sp>
      <p:sp>
        <p:nvSpPr>
          <p:cNvPr id="8" name="Text 4"/>
          <p:cNvSpPr/>
          <p:nvPr/>
        </p:nvSpPr>
        <p:spPr>
          <a:xfrm>
            <a:off x="1000125" y="1793081"/>
            <a:ext cx="30360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and execute code in various languages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1000125" y="2021681"/>
            <a:ext cx="3036094" cy="2428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1000125" y="2021681"/>
            <a:ext cx="3036094" cy="242888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import pandas as pd</a:t>
            </a:r>
            <a:endParaRPr lang="en-US" sz="837" dirty="0"/>
          </a:p>
        </p:txBody>
      </p:sp>
      <p:sp>
        <p:nvSpPr>
          <p:cNvPr id="11" name="Shape 7"/>
          <p:cNvSpPr/>
          <p:nvPr/>
        </p:nvSpPr>
        <p:spPr>
          <a:xfrm>
            <a:off x="428625" y="2514600"/>
            <a:ext cx="3714750" cy="1150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35781" y="2621756"/>
            <a:ext cx="357188" cy="357188"/>
          </a:xfrm>
          <a:prstGeom prst="rect">
            <a:avLst/>
          </a:prstGeom>
          <a:solidFill>
            <a:srgbClr val="F28E2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67" y="2796778"/>
            <a:ext cx="125016" cy="71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0125" y="2621756"/>
            <a:ext cx="303609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Markdown Cells</a:t>
            </a:r>
            <a:endParaRPr lang="en-US" sz="1238" dirty="0"/>
          </a:p>
        </p:txBody>
      </p:sp>
      <p:sp>
        <p:nvSpPr>
          <p:cNvPr id="15" name="Text 10"/>
          <p:cNvSpPr/>
          <p:nvPr/>
        </p:nvSpPr>
        <p:spPr>
          <a:xfrm>
            <a:off x="1000125" y="2893219"/>
            <a:ext cx="303609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Rich text formatting with headings, lists, links, and images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1000125" y="3314700"/>
            <a:ext cx="3036094" cy="2428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1000125" y="3314700"/>
            <a:ext cx="3036094" cy="242888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 Heading\n**Bold** *Italic*</a:t>
            </a:r>
            <a:endParaRPr lang="en-US" sz="837" dirty="0"/>
          </a:p>
        </p:txBody>
      </p:sp>
      <p:sp>
        <p:nvSpPr>
          <p:cNvPr id="18" name="Shape 13"/>
          <p:cNvSpPr/>
          <p:nvPr/>
        </p:nvSpPr>
        <p:spPr>
          <a:xfrm>
            <a:off x="428625" y="3807619"/>
            <a:ext cx="3714750" cy="95726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535781" y="3914775"/>
            <a:ext cx="357188" cy="357188"/>
          </a:xfrm>
          <a:prstGeom prst="rect">
            <a:avLst/>
          </a:prstGeom>
          <a:solidFill>
            <a:srgbClr val="B6992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67" y="4089797"/>
            <a:ext cx="125016" cy="71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0125" y="3914775"/>
            <a:ext cx="303609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Raw Cells</a:t>
            </a:r>
            <a:endParaRPr lang="en-US" sz="1238" dirty="0"/>
          </a:p>
        </p:txBody>
      </p:sp>
      <p:sp>
        <p:nvSpPr>
          <p:cNvPr id="22" name="Text 16"/>
          <p:cNvSpPr/>
          <p:nvPr/>
        </p:nvSpPr>
        <p:spPr>
          <a:xfrm>
            <a:off x="1000125" y="4186238"/>
            <a:ext cx="30360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Unformatted text that passes through unmodified</a:t>
            </a:r>
            <a:endParaRPr lang="en-US" sz="942" dirty="0"/>
          </a:p>
        </p:txBody>
      </p:sp>
      <p:sp>
        <p:nvSpPr>
          <p:cNvPr id="23" name="Shape 17"/>
          <p:cNvSpPr/>
          <p:nvPr/>
        </p:nvSpPr>
        <p:spPr>
          <a:xfrm>
            <a:off x="1000125" y="4414838"/>
            <a:ext cx="3036094" cy="2428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1000125" y="4414838"/>
            <a:ext cx="3036094" cy="242888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Plain text content</a:t>
            </a:r>
            <a:endParaRPr lang="en-US" sz="837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063" y="1943798"/>
            <a:ext cx="3571875" cy="1448786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20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8" name="Shape 21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28E2B"/>
          </a:solidFill>
          <a:ln/>
        </p:spPr>
      </p:sp>
      <p:sp>
        <p:nvSpPr>
          <p:cNvPr id="30" name="Shape 23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1" name="Shape 24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2" name="Shape 25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3" name="Shape 26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10778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28E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Usage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1110853"/>
            <a:ext cx="257175" cy="257175"/>
          </a:xfrm>
          <a:prstGeom prst="ellipse">
            <a:avLst/>
          </a:prstGeom>
          <a:solidFill>
            <a:srgbClr val="F28E2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110853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1A1A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792956" y="1110853"/>
            <a:ext cx="33504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B699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Launch Jupyter Notebook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792956" y="1360884"/>
            <a:ext cx="33504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 terminal and run: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792956" y="1589484"/>
            <a:ext cx="3350419" cy="2428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92956" y="1589484"/>
            <a:ext cx="3350419" cy="242888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jupyter notebook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428625" y="1939528"/>
            <a:ext cx="257175" cy="257175"/>
          </a:xfrm>
          <a:prstGeom prst="ellipse">
            <a:avLst/>
          </a:prstGeom>
          <a:solidFill>
            <a:srgbClr val="F28E2B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193952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1A1A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792956" y="1939528"/>
            <a:ext cx="33504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B699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or Open a Notebook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792956" y="2189559"/>
            <a:ext cx="33504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 "New" &gt; "Python 3" or select an existing .ipynb file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28625" y="2489597"/>
            <a:ext cx="257175" cy="257175"/>
          </a:xfrm>
          <a:prstGeom prst="ellipse">
            <a:avLst/>
          </a:prstGeom>
          <a:solidFill>
            <a:srgbClr val="F28E2B"/>
          </a:solidFill>
          <a:ln/>
        </p:spPr>
      </p:sp>
      <p:sp>
        <p:nvSpPr>
          <p:cNvPr id="15" name="Text 12"/>
          <p:cNvSpPr/>
          <p:nvPr/>
        </p:nvSpPr>
        <p:spPr>
          <a:xfrm>
            <a:off x="428625" y="2489597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1A1A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792956" y="2489597"/>
            <a:ext cx="33504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B6992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 Cells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792956" y="2739628"/>
            <a:ext cx="33504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a cell and press: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792956" y="2968228"/>
            <a:ext cx="3350419" cy="2428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92956" y="2968228"/>
            <a:ext cx="3350419" cy="242888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Shift+Enter (run &amp; move to next cell)</a:t>
            </a:r>
            <a:endParaRPr lang="en-US" sz="837" dirty="0"/>
          </a:p>
        </p:txBody>
      </p:sp>
      <p:sp>
        <p:nvSpPr>
          <p:cNvPr id="20" name="Shape 17"/>
          <p:cNvSpPr/>
          <p:nvPr/>
        </p:nvSpPr>
        <p:spPr>
          <a:xfrm>
            <a:off x="792956" y="3246834"/>
            <a:ext cx="3350419" cy="2428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92956" y="3246834"/>
            <a:ext cx="3350419" cy="242888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Ctrl+Enter (run &amp; stay in same cell)</a:t>
            </a:r>
            <a:endParaRPr lang="en-US" sz="837" dirty="0"/>
          </a:p>
        </p:txBody>
      </p:sp>
      <p:sp>
        <p:nvSpPr>
          <p:cNvPr id="22" name="Shape 19"/>
          <p:cNvSpPr/>
          <p:nvPr/>
        </p:nvSpPr>
        <p:spPr>
          <a:xfrm>
            <a:off x="464344" y="3739753"/>
            <a:ext cx="1785938" cy="821531"/>
          </a:xfrm>
          <a:prstGeom prst="rect">
            <a:avLst/>
          </a:prstGeom>
          <a:solidFill>
            <a:srgbClr val="4E79A7">
              <a:alpha val="30000"/>
            </a:srgbClr>
          </a:solidFill>
          <a:ln w="99">
            <a:solidFill>
              <a:srgbClr val="4E79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1500" y="3846909"/>
            <a:ext cx="15644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Command Mode (Blue)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571500" y="4104084"/>
            <a:ext cx="3177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Press 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889257" y="4104084"/>
            <a:ext cx="1795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Esc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1068828" y="4104084"/>
            <a:ext cx="4578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enter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571500" y="4268391"/>
            <a:ext cx="15644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Navigate between cells</a:t>
            </a:r>
            <a:endParaRPr lang="en-US" sz="837" dirty="0"/>
          </a:p>
        </p:txBody>
      </p:sp>
      <p:sp>
        <p:nvSpPr>
          <p:cNvPr id="28" name="Shape 25"/>
          <p:cNvSpPr/>
          <p:nvPr/>
        </p:nvSpPr>
        <p:spPr>
          <a:xfrm>
            <a:off x="2314575" y="3739753"/>
            <a:ext cx="1793081" cy="821531"/>
          </a:xfrm>
          <a:prstGeom prst="rect">
            <a:avLst/>
          </a:prstGeom>
          <a:solidFill>
            <a:srgbClr val="F28E2B">
              <a:alpha val="30000"/>
            </a:srgbClr>
          </a:solidFill>
          <a:ln w="99">
            <a:solidFill>
              <a:srgbClr val="F28E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428875" y="3854053"/>
            <a:ext cx="1571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Edit Mode (Green)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2428875" y="4111228"/>
            <a:ext cx="3177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Press </a:t>
            </a:r>
            <a:endParaRPr lang="en-US" sz="837" dirty="0"/>
          </a:p>
        </p:txBody>
      </p:sp>
      <p:sp>
        <p:nvSpPr>
          <p:cNvPr id="31" name="Text 28"/>
          <p:cNvSpPr/>
          <p:nvPr/>
        </p:nvSpPr>
        <p:spPr>
          <a:xfrm>
            <a:off x="2746632" y="4111228"/>
            <a:ext cx="3081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</a:t>
            </a:r>
            <a:endParaRPr lang="en-US" sz="837" dirty="0"/>
          </a:p>
        </p:txBody>
      </p:sp>
      <p:sp>
        <p:nvSpPr>
          <p:cNvPr id="32" name="Text 29"/>
          <p:cNvSpPr/>
          <p:nvPr/>
        </p:nvSpPr>
        <p:spPr>
          <a:xfrm>
            <a:off x="3054790" y="4111228"/>
            <a:ext cx="4578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enter</a:t>
            </a:r>
            <a:endParaRPr lang="en-US" sz="837" dirty="0"/>
          </a:p>
        </p:txBody>
      </p:sp>
      <p:sp>
        <p:nvSpPr>
          <p:cNvPr id="33" name="Text 30"/>
          <p:cNvSpPr/>
          <p:nvPr/>
        </p:nvSpPr>
        <p:spPr>
          <a:xfrm>
            <a:off x="2428875" y="4275534"/>
            <a:ext cx="1571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Edit cell content</a:t>
            </a:r>
            <a:endParaRPr lang="en-US" sz="837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3" y="1564509"/>
            <a:ext cx="3571875" cy="2014454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7" name="Shape 33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8" name="Shape 34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28E2B"/>
          </a:solidFill>
          <a:ln/>
        </p:spPr>
      </p:sp>
      <p:sp>
        <p:nvSpPr>
          <p:cNvPr id="40" name="Shape 36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85775"/>
            <a:ext cx="37147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28E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Essential Keyboard Shortcuts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1471613"/>
            <a:ext cx="3714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B699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 Mode (Press Esc to enter)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28625" y="1835944"/>
            <a:ext cx="714375" cy="242888"/>
          </a:xfrm>
          <a:prstGeom prst="rect">
            <a:avLst/>
          </a:prstGeom>
          <a:solidFill>
            <a:srgbClr val="4E79A7">
              <a:alpha val="30000"/>
            </a:srgbClr>
          </a:solidFill>
          <a:ln w="99">
            <a:solidFill>
              <a:srgbClr val="4E79A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28625" y="1835944"/>
            <a:ext cx="714375" cy="24288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1214438" y="1871663"/>
            <a:ext cx="878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Insert cell above</a:t>
            </a:r>
            <a:endParaRPr lang="en-US" sz="837" dirty="0"/>
          </a:p>
        </p:txBody>
      </p:sp>
      <p:sp>
        <p:nvSpPr>
          <p:cNvPr id="8" name="Shape 5"/>
          <p:cNvSpPr/>
          <p:nvPr/>
        </p:nvSpPr>
        <p:spPr>
          <a:xfrm>
            <a:off x="2328863" y="1835944"/>
            <a:ext cx="714375" cy="242888"/>
          </a:xfrm>
          <a:prstGeom prst="rect">
            <a:avLst/>
          </a:prstGeom>
          <a:solidFill>
            <a:srgbClr val="4E79A7">
              <a:alpha val="30000"/>
            </a:srgbClr>
          </a:solidFill>
          <a:ln w="99">
            <a:solidFill>
              <a:srgbClr val="4E7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28863" y="1835944"/>
            <a:ext cx="714375" cy="24288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3114675" y="1871663"/>
            <a:ext cx="8757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Insert cell below</a:t>
            </a:r>
            <a:endParaRPr lang="en-US" sz="837" dirty="0"/>
          </a:p>
        </p:txBody>
      </p:sp>
      <p:sp>
        <p:nvSpPr>
          <p:cNvPr id="11" name="Shape 8"/>
          <p:cNvSpPr/>
          <p:nvPr/>
        </p:nvSpPr>
        <p:spPr>
          <a:xfrm>
            <a:off x="428625" y="2207419"/>
            <a:ext cx="714375" cy="242888"/>
          </a:xfrm>
          <a:prstGeom prst="rect">
            <a:avLst/>
          </a:prstGeom>
          <a:solidFill>
            <a:srgbClr val="4E79A7">
              <a:alpha val="30000"/>
            </a:srgbClr>
          </a:solidFill>
          <a:ln w="99">
            <a:solidFill>
              <a:srgbClr val="4E7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8625" y="2207419"/>
            <a:ext cx="714375" cy="24288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D, D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1214438" y="2157413"/>
            <a:ext cx="1028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Delete selected cell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2328863" y="2207419"/>
            <a:ext cx="714375" cy="242888"/>
          </a:xfrm>
          <a:prstGeom prst="rect">
            <a:avLst/>
          </a:prstGeom>
          <a:solidFill>
            <a:srgbClr val="4E79A7">
              <a:alpha val="30000"/>
            </a:srgbClr>
          </a:solidFill>
          <a:ln w="99">
            <a:solidFill>
              <a:srgbClr val="4E79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28863" y="2207419"/>
            <a:ext cx="714375" cy="24288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3114675" y="2157413"/>
            <a:ext cx="1028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Change to Markdown</a:t>
            </a:r>
            <a:endParaRPr lang="en-US" sz="837" dirty="0"/>
          </a:p>
        </p:txBody>
      </p:sp>
      <p:sp>
        <p:nvSpPr>
          <p:cNvPr id="17" name="Shape 14"/>
          <p:cNvSpPr/>
          <p:nvPr/>
        </p:nvSpPr>
        <p:spPr>
          <a:xfrm>
            <a:off x="428625" y="2586038"/>
            <a:ext cx="714375" cy="242888"/>
          </a:xfrm>
          <a:prstGeom prst="rect">
            <a:avLst/>
          </a:prstGeom>
          <a:solidFill>
            <a:srgbClr val="4E79A7">
              <a:alpha val="30000"/>
            </a:srgbClr>
          </a:solidFill>
          <a:ln w="99">
            <a:solidFill>
              <a:srgbClr val="4E7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8625" y="2586038"/>
            <a:ext cx="714375" cy="24288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1214438" y="2621756"/>
            <a:ext cx="8583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Change to Code</a:t>
            </a:r>
            <a:endParaRPr lang="en-US" sz="837" dirty="0"/>
          </a:p>
        </p:txBody>
      </p:sp>
      <p:sp>
        <p:nvSpPr>
          <p:cNvPr id="20" name="Shape 17"/>
          <p:cNvSpPr/>
          <p:nvPr/>
        </p:nvSpPr>
        <p:spPr>
          <a:xfrm>
            <a:off x="2328863" y="2586038"/>
            <a:ext cx="714375" cy="242888"/>
          </a:xfrm>
          <a:prstGeom prst="rect">
            <a:avLst/>
          </a:prstGeom>
          <a:solidFill>
            <a:srgbClr val="4E79A7">
              <a:alpha val="30000"/>
            </a:srgbClr>
          </a:solidFill>
          <a:ln w="99">
            <a:solidFill>
              <a:srgbClr val="4E79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28863" y="2586038"/>
            <a:ext cx="714375" cy="24288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3114675" y="2621756"/>
            <a:ext cx="9706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Undo cell deletion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428625" y="3000375"/>
            <a:ext cx="3714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B699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 Mode (Press Enter to enter)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8625" y="3414713"/>
            <a:ext cx="714375" cy="242888"/>
          </a:xfrm>
          <a:prstGeom prst="rect">
            <a:avLst/>
          </a:prstGeom>
          <a:solidFill>
            <a:srgbClr val="4E79A7">
              <a:alpha val="30000"/>
            </a:srgbClr>
          </a:solidFill>
          <a:ln w="99">
            <a:solidFill>
              <a:srgbClr val="4E79A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8625" y="3414713"/>
            <a:ext cx="714375" cy="24288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Shift+Enter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1214438" y="3364706"/>
            <a:ext cx="1028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 cell, select below</a:t>
            </a:r>
            <a:endParaRPr lang="en-US" sz="837" dirty="0"/>
          </a:p>
        </p:txBody>
      </p:sp>
      <p:sp>
        <p:nvSpPr>
          <p:cNvPr id="27" name="Shape 24"/>
          <p:cNvSpPr/>
          <p:nvPr/>
        </p:nvSpPr>
        <p:spPr>
          <a:xfrm>
            <a:off x="2328863" y="3414713"/>
            <a:ext cx="714375" cy="242888"/>
          </a:xfrm>
          <a:prstGeom prst="rect">
            <a:avLst/>
          </a:prstGeom>
          <a:solidFill>
            <a:srgbClr val="4E79A7">
              <a:alpha val="30000"/>
            </a:srgbClr>
          </a:solidFill>
          <a:ln w="99">
            <a:solidFill>
              <a:srgbClr val="4E79A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328863" y="3414713"/>
            <a:ext cx="714375" cy="24288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Ctrl+Enter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3114675" y="3450431"/>
            <a:ext cx="4204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 cell</a:t>
            </a:r>
            <a:endParaRPr lang="en-US" sz="837" dirty="0"/>
          </a:p>
        </p:txBody>
      </p:sp>
      <p:sp>
        <p:nvSpPr>
          <p:cNvPr id="30" name="Shape 27"/>
          <p:cNvSpPr/>
          <p:nvPr/>
        </p:nvSpPr>
        <p:spPr>
          <a:xfrm>
            <a:off x="428625" y="3843338"/>
            <a:ext cx="714375" cy="242888"/>
          </a:xfrm>
          <a:prstGeom prst="rect">
            <a:avLst/>
          </a:prstGeom>
          <a:solidFill>
            <a:srgbClr val="4E79A7">
              <a:alpha val="30000"/>
            </a:srgbClr>
          </a:solidFill>
          <a:ln w="99">
            <a:solidFill>
              <a:srgbClr val="4E79A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8625" y="3843338"/>
            <a:ext cx="714375" cy="24288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Alt+Enter</a:t>
            </a:r>
            <a:endParaRPr lang="en-US" sz="837" dirty="0"/>
          </a:p>
        </p:txBody>
      </p:sp>
      <p:sp>
        <p:nvSpPr>
          <p:cNvPr id="32" name="Text 29"/>
          <p:cNvSpPr/>
          <p:nvPr/>
        </p:nvSpPr>
        <p:spPr>
          <a:xfrm>
            <a:off x="1214438" y="3793331"/>
            <a:ext cx="1028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 cell, insert below</a:t>
            </a:r>
            <a:endParaRPr lang="en-US" sz="837" dirty="0"/>
          </a:p>
        </p:txBody>
      </p:sp>
      <p:sp>
        <p:nvSpPr>
          <p:cNvPr id="33" name="Shape 30"/>
          <p:cNvSpPr/>
          <p:nvPr/>
        </p:nvSpPr>
        <p:spPr>
          <a:xfrm>
            <a:off x="2328863" y="3843338"/>
            <a:ext cx="714375" cy="242888"/>
          </a:xfrm>
          <a:prstGeom prst="rect">
            <a:avLst/>
          </a:prstGeom>
          <a:solidFill>
            <a:srgbClr val="4E79A7">
              <a:alpha val="30000"/>
            </a:srgbClr>
          </a:solidFill>
          <a:ln w="99">
            <a:solidFill>
              <a:srgbClr val="4E79A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328863" y="3843338"/>
            <a:ext cx="714375" cy="24288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Tab</a:t>
            </a:r>
            <a:endParaRPr lang="en-US" sz="837" dirty="0"/>
          </a:p>
        </p:txBody>
      </p:sp>
      <p:sp>
        <p:nvSpPr>
          <p:cNvPr id="35" name="Text 32"/>
          <p:cNvSpPr/>
          <p:nvPr/>
        </p:nvSpPr>
        <p:spPr>
          <a:xfrm>
            <a:off x="3114675" y="3879056"/>
            <a:ext cx="9115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 completion</a:t>
            </a:r>
            <a:endParaRPr lang="en-US" sz="837" dirty="0"/>
          </a:p>
        </p:txBody>
      </p:sp>
      <p:sp>
        <p:nvSpPr>
          <p:cNvPr id="36" name="Shape 33"/>
          <p:cNvSpPr/>
          <p:nvPr/>
        </p:nvSpPr>
        <p:spPr>
          <a:xfrm>
            <a:off x="428625" y="4221956"/>
            <a:ext cx="714375" cy="242888"/>
          </a:xfrm>
          <a:prstGeom prst="rect">
            <a:avLst/>
          </a:prstGeom>
          <a:solidFill>
            <a:srgbClr val="4E79A7">
              <a:alpha val="30000"/>
            </a:srgbClr>
          </a:solidFill>
          <a:ln w="99">
            <a:solidFill>
              <a:srgbClr val="4E79A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8625" y="4221956"/>
            <a:ext cx="714375" cy="24288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Shift+Tab</a:t>
            </a:r>
            <a:endParaRPr lang="en-US" sz="837" dirty="0"/>
          </a:p>
        </p:txBody>
      </p:sp>
      <p:sp>
        <p:nvSpPr>
          <p:cNvPr id="38" name="Text 35"/>
          <p:cNvSpPr/>
          <p:nvPr/>
        </p:nvSpPr>
        <p:spPr>
          <a:xfrm>
            <a:off x="1214438" y="4257675"/>
            <a:ext cx="6699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Show tooltip</a:t>
            </a:r>
            <a:endParaRPr lang="en-US" sz="837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3" y="1381116"/>
            <a:ext cx="3571875" cy="2381241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3" name="Shape 39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5" name="Shape 41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28E2B"/>
          </a:solidFill>
          <a:ln/>
        </p:spPr>
      </p:sp>
      <p:sp>
        <p:nvSpPr>
          <p:cNvPr id="46" name="Shape 42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7" name="Shape 43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60797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28E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Tips for Effective Use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28625" y="1260872"/>
            <a:ext cx="285750" cy="285750"/>
          </a:xfrm>
          <a:prstGeom prst="ellipse">
            <a:avLst/>
          </a:prstGeom>
          <a:solidFill>
            <a:srgbClr val="F28E2B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" y="1346597"/>
            <a:ext cx="128588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1531" y="1260872"/>
            <a:ext cx="3321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Organize with Markdown</a:t>
            </a:r>
            <a:endParaRPr lang="en-US" sz="1046" dirty="0"/>
          </a:p>
        </p:txBody>
      </p:sp>
      <p:sp>
        <p:nvSpPr>
          <p:cNvPr id="7" name="Text 3"/>
          <p:cNvSpPr/>
          <p:nvPr/>
        </p:nvSpPr>
        <p:spPr>
          <a:xfrm>
            <a:off x="821531" y="1510903"/>
            <a:ext cx="33218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headings to structure your notebook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428625" y="1810941"/>
            <a:ext cx="285750" cy="285750"/>
          </a:xfrm>
          <a:prstGeom prst="ellipse">
            <a:avLst/>
          </a:prstGeom>
          <a:solidFill>
            <a:srgbClr val="59A14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896666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1531" y="1810941"/>
            <a:ext cx="3321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 Your Code</a:t>
            </a:r>
            <a:endParaRPr lang="en-US" sz="1046" dirty="0"/>
          </a:p>
        </p:txBody>
      </p:sp>
      <p:sp>
        <p:nvSpPr>
          <p:cNvPr id="11" name="Text 6"/>
          <p:cNvSpPr/>
          <p:nvPr/>
        </p:nvSpPr>
        <p:spPr>
          <a:xfrm>
            <a:off x="821531" y="2060972"/>
            <a:ext cx="33218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comments and docstrings for clarity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428625" y="2361009"/>
            <a:ext cx="285750" cy="285750"/>
          </a:xfrm>
          <a:prstGeom prst="ellipse">
            <a:avLst/>
          </a:prstGeom>
          <a:solidFill>
            <a:srgbClr val="B6992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446734"/>
            <a:ext cx="114300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1531" y="2361009"/>
            <a:ext cx="3321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Visualize Frequently</a:t>
            </a:r>
            <a:endParaRPr lang="en-US" sz="1046" dirty="0"/>
          </a:p>
        </p:txBody>
      </p:sp>
      <p:sp>
        <p:nvSpPr>
          <p:cNvPr id="15" name="Text 9"/>
          <p:cNvSpPr/>
          <p:nvPr/>
        </p:nvSpPr>
        <p:spPr>
          <a:xfrm>
            <a:off x="821531" y="2611041"/>
            <a:ext cx="33218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plots to understand your data better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28625" y="2911078"/>
            <a:ext cx="285750" cy="285750"/>
          </a:xfrm>
          <a:prstGeom prst="ellipse">
            <a:avLst/>
          </a:prstGeom>
          <a:solidFill>
            <a:srgbClr val="4E79A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996803"/>
            <a:ext cx="114300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1531" y="2911078"/>
            <a:ext cx="3321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Magic Commands</a:t>
            </a:r>
            <a:endParaRPr lang="en-US" sz="1046" dirty="0"/>
          </a:p>
        </p:txBody>
      </p:sp>
      <p:sp>
        <p:nvSpPr>
          <p:cNvPr id="19" name="Text 12"/>
          <p:cNvSpPr/>
          <p:nvPr/>
        </p:nvSpPr>
        <p:spPr>
          <a:xfrm>
            <a:off x="821531" y="3161109"/>
            <a:ext cx="3321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Leverage special commands for enhanced functionality</a:t>
            </a:r>
            <a:endParaRPr lang="en-US" sz="942" dirty="0"/>
          </a:p>
        </p:txBody>
      </p:sp>
      <p:sp>
        <p:nvSpPr>
          <p:cNvPr id="20" name="Shape 13"/>
          <p:cNvSpPr/>
          <p:nvPr/>
        </p:nvSpPr>
        <p:spPr>
          <a:xfrm>
            <a:off x="821531" y="3582591"/>
            <a:ext cx="3321844" cy="2428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821531" y="3582591"/>
            <a:ext cx="3321844" cy="242888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%matplotlib inline, %timeit, %who</a:t>
            </a:r>
            <a:endParaRPr lang="en-US" sz="837" dirty="0"/>
          </a:p>
        </p:txBody>
      </p:sp>
      <p:sp>
        <p:nvSpPr>
          <p:cNvPr id="22" name="Shape 15"/>
          <p:cNvSpPr/>
          <p:nvPr/>
        </p:nvSpPr>
        <p:spPr>
          <a:xfrm>
            <a:off x="428625" y="3932634"/>
            <a:ext cx="285750" cy="285750"/>
          </a:xfrm>
          <a:prstGeom prst="ellipse">
            <a:avLst/>
          </a:prstGeom>
          <a:solidFill>
            <a:srgbClr val="F28E2B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3" y="4018359"/>
            <a:ext cx="142875" cy="1143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21531" y="3932634"/>
            <a:ext cx="3321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Clean Up Output</a:t>
            </a:r>
            <a:endParaRPr lang="en-US" sz="1046" dirty="0"/>
          </a:p>
        </p:txBody>
      </p:sp>
      <p:sp>
        <p:nvSpPr>
          <p:cNvPr id="25" name="Text 17"/>
          <p:cNvSpPr/>
          <p:nvPr/>
        </p:nvSpPr>
        <p:spPr>
          <a:xfrm>
            <a:off x="821531" y="4182666"/>
            <a:ext cx="33218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Clear unnecessary outputs to improve readability</a:t>
            </a:r>
            <a:endParaRPr lang="en-US" sz="942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3" y="1143000"/>
            <a:ext cx="3571875" cy="285750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8" name="Shape 19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9" name="Shape 20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0" name="Shape 21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1" name="Shape 22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2" name="Shape 23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3" name="Shape 24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28E2B"/>
          </a:solidFill>
          <a:ln/>
        </p:spPr>
      </p:sp>
      <p:sp>
        <p:nvSpPr>
          <p:cNvPr id="34" name="Shape 25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721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37147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F28E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 &amp; Next Steps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428625" y="1028700"/>
            <a:ext cx="371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Jupyter Notebook provides a powerful environment for interactive computing, data exploration, and sharing your work.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428625" y="1928813"/>
            <a:ext cx="285750" cy="285750"/>
          </a:xfrm>
          <a:prstGeom prst="ellipse">
            <a:avLst/>
          </a:prstGeom>
          <a:solidFill>
            <a:srgbClr val="59A14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2014538"/>
            <a:ext cx="114300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1531" y="1857375"/>
            <a:ext cx="33218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Interactive code execution with immediate feedback </a:t>
            </a:r>
            <a:endParaRPr lang="en-US" sz="1046" dirty="0"/>
          </a:p>
        </p:txBody>
      </p:sp>
      <p:sp>
        <p:nvSpPr>
          <p:cNvPr id="8" name="Shape 4"/>
          <p:cNvSpPr/>
          <p:nvPr/>
        </p:nvSpPr>
        <p:spPr>
          <a:xfrm>
            <a:off x="428625" y="2393156"/>
            <a:ext cx="285750" cy="285750"/>
          </a:xfrm>
          <a:prstGeom prst="ellipse">
            <a:avLst/>
          </a:prstGeom>
          <a:solidFill>
            <a:srgbClr val="59A14F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478881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1531" y="2428875"/>
            <a:ext cx="299538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Rich documentation with Markdown support </a:t>
            </a:r>
            <a:endParaRPr lang="en-US" sz="1046" dirty="0"/>
          </a:p>
        </p:txBody>
      </p:sp>
      <p:sp>
        <p:nvSpPr>
          <p:cNvPr id="11" name="Shape 6"/>
          <p:cNvSpPr/>
          <p:nvPr/>
        </p:nvSpPr>
        <p:spPr>
          <a:xfrm>
            <a:off x="428625" y="2857500"/>
            <a:ext cx="285750" cy="285750"/>
          </a:xfrm>
          <a:prstGeom prst="ellipse">
            <a:avLst/>
          </a:prstGeom>
          <a:solidFill>
            <a:srgbClr val="59A14F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943225"/>
            <a:ext cx="11430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1531" y="2786063"/>
            <a:ext cx="33218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Seamless integration of code, text, and visualizations </a:t>
            </a:r>
            <a:endParaRPr lang="en-US" sz="1046" dirty="0"/>
          </a:p>
        </p:txBody>
      </p:sp>
      <p:sp>
        <p:nvSpPr>
          <p:cNvPr id="14" name="Shape 8"/>
          <p:cNvSpPr/>
          <p:nvPr/>
        </p:nvSpPr>
        <p:spPr>
          <a:xfrm>
            <a:off x="428625" y="3536156"/>
            <a:ext cx="3714750" cy="1507331"/>
          </a:xfrm>
          <a:prstGeom prst="rect">
            <a:avLst/>
          </a:prstGeom>
          <a:solidFill>
            <a:srgbClr val="4E79A7">
              <a:alpha val="30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428625" y="3536156"/>
            <a:ext cx="28575" cy="1507331"/>
          </a:xfrm>
          <a:prstGeom prst="rect">
            <a:avLst/>
          </a:prstGeom>
          <a:solidFill>
            <a:srgbClr val="F28E2B"/>
          </a:solidFill>
          <a:ln/>
        </p:spPr>
      </p:sp>
      <p:sp>
        <p:nvSpPr>
          <p:cNvPr id="16" name="Text 10"/>
          <p:cNvSpPr/>
          <p:nvPr/>
        </p:nvSpPr>
        <p:spPr>
          <a:xfrm>
            <a:off x="571500" y="3679031"/>
            <a:ext cx="3429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28E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Start?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79081"/>
            <a:ext cx="125016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67953" y="4064794"/>
            <a:ext cx="7996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Jupyter: </a:t>
            </a:r>
            <a:endParaRPr lang="en-US" sz="837" dirty="0"/>
          </a:p>
        </p:txBody>
      </p:sp>
      <p:sp>
        <p:nvSpPr>
          <p:cNvPr id="19" name="Text 12"/>
          <p:cNvSpPr/>
          <p:nvPr/>
        </p:nvSpPr>
        <p:spPr>
          <a:xfrm>
            <a:off x="1567607" y="4093369"/>
            <a:ext cx="137182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pip install notebook</a:t>
            </a:r>
            <a:endParaRPr lang="en-US" sz="837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64831"/>
            <a:ext cx="125016" cy="1428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67953" y="4350544"/>
            <a:ext cx="7121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Launch with: </a:t>
            </a:r>
            <a:endParaRPr lang="en-US" sz="837" dirty="0"/>
          </a:p>
        </p:txBody>
      </p:sp>
      <p:sp>
        <p:nvSpPr>
          <p:cNvPr id="22" name="Text 14"/>
          <p:cNvSpPr/>
          <p:nvPr/>
        </p:nvSpPr>
        <p:spPr>
          <a:xfrm>
            <a:off x="1480068" y="4379119"/>
            <a:ext cx="10974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jupyter notebook</a:t>
            </a:r>
            <a:endParaRPr lang="en-US" sz="837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50581"/>
            <a:ext cx="125016" cy="14287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67953" y="4636294"/>
            <a:ext cx="27385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Explore the extensive documentation at jupyter.org</a:t>
            </a:r>
            <a:endParaRPr lang="en-US" sz="837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2063" y="950119"/>
            <a:ext cx="3571875" cy="3571875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403621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7" name="Shape 17"/>
          <p:cNvSpPr/>
          <p:nvPr/>
        </p:nvSpPr>
        <p:spPr>
          <a:xfrm>
            <a:off x="417909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8" name="Shape 18"/>
          <p:cNvSpPr/>
          <p:nvPr/>
        </p:nvSpPr>
        <p:spPr>
          <a:xfrm>
            <a:off x="432196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9" name="Shape 19"/>
          <p:cNvSpPr/>
          <p:nvPr/>
        </p:nvSpPr>
        <p:spPr>
          <a:xfrm>
            <a:off x="446484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0" name="Shape 20"/>
          <p:cNvSpPr/>
          <p:nvPr/>
        </p:nvSpPr>
        <p:spPr>
          <a:xfrm>
            <a:off x="460771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1" name="Shape 21"/>
          <p:cNvSpPr/>
          <p:nvPr/>
        </p:nvSpPr>
        <p:spPr>
          <a:xfrm>
            <a:off x="4750594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2" name="Shape 22"/>
          <p:cNvSpPr/>
          <p:nvPr/>
        </p:nvSpPr>
        <p:spPr>
          <a:xfrm>
            <a:off x="4893469" y="4929188"/>
            <a:ext cx="71438" cy="71438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3" name="Shape 23"/>
          <p:cNvSpPr/>
          <p:nvPr/>
        </p:nvSpPr>
        <p:spPr>
          <a:xfrm>
            <a:off x="5036344" y="4929188"/>
            <a:ext cx="71438" cy="71438"/>
          </a:xfrm>
          <a:prstGeom prst="ellipse">
            <a:avLst/>
          </a:prstGeom>
          <a:solidFill>
            <a:srgbClr val="F28E2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2025-09-19T18:02:08Z</dcterms:created>
  <dcterms:modified xsi:type="dcterms:W3CDTF">2025-09-19T18:02:08Z</dcterms:modified>
</cp:coreProperties>
</file>