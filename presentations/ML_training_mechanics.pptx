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 b="def" i="def"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 b="def" i="def"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
</file>

<file path=ppt/charts/_rels/chart1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.xlsx"/></Relationships>

</file>

<file path=ppt/charts/_rels/chart2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2.xlsx"/></Relationships>

</file>

<file path=ppt/charts/_rels/chart3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3.xlsx"/></Relationships>

</file>

<file path=ppt/charts/_rels/chart4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4.xlsx"/></Relationships>

</file>

<file path=ppt/charts/_rels/chart5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5.xlsx"/></Relationships>

</file>

<file path=ppt/charts/_rels/chart6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6.xlsx"/></Relationships>

</file>

<file path=ppt/charts/_rels/chart7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7.xlsx"/></Relationships>

</file>

<file path=ppt/charts/_rels/chart8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8.xlsx"/></Relationships>

</file>

<file path=ppt/charts/_rels/chart9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9.xlsx"/></Relationships>

</file>

<file path=ppt/charts/_rels/chart10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0.xlsx"/></Relationships>

</file>

<file path=ppt/charts/_rels/chart11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1.xlsx"/></Relationships>

</file>

<file path=ppt/charts/_rels/chart12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2.xlsx"/></Relationships>

</file>

<file path=ppt/charts/_rels/chart13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3.xlsx"/></Relationships>

</file>

<file path=ppt/charts/_rels/chart14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4.xlsx"/></Relationships>

</file>

<file path=ppt/charts/_rels/chart15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5.xlsx"/>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236005"/>
          <c:y val="0.0931994"/>
          <c:w val="0.741851"/>
          <c:h val="0.768093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May</c:v>
                </c:pt>
              </c:strCache>
            </c:strRef>
          </c:tx>
          <c:spPr>
            <a:solidFill>
              <a:srgbClr val="FFFFFF"/>
            </a:solidFill>
            <a:ln w="12700" cap="flat">
              <a:noFill/>
              <a:prstDash val="solid"/>
              <a:miter lim="400000"/>
            </a:ln>
            <a:effectLst/>
          </c:spPr>
          <c:marker>
            <c:symbol val="circle"/>
            <c:size val="12"/>
            <c:spPr>
              <a:solidFill>
                <a:srgbClr val="FFFFFF"/>
              </a:solidFill>
              <a:ln w="38100" cap="flat">
                <a:solidFill>
                  <a:schemeClr val="accent1">
                    <a:satOff val="-3355"/>
                    <a:lumOff val="26614"/>
                  </a:schemeClr>
                </a:solidFill>
                <a:prstDash val="solid"/>
                <a:miter lim="400000"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2600" u="none">
                    <a:solidFill>
                      <a:srgbClr val="000000"/>
                    </a:solidFill>
                    <a:effectLst>
                      <a:outerShdw sx="100000" sy="100000" kx="0" ky="0" algn="tl" rotWithShape="1" blurRad="127000" dist="25433" dir="5400000">
                        <a:srgbClr val="000000">
                          <a:alpha val="60000"/>
                        </a:srgbClr>
                      </a:outerShdw>
                    </a:effectLst>
                    <a:latin typeface="Helvetica Light"/>
                  </a:defRPr>
                </a:pPr>
              </a:p>
            </c:txPr>
            <c:dLblPos val="b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Sheet1!$B$2:$B$15</c:f>
              <c:numCache>
                <c:ptCount val="14"/>
                <c:pt idx="0">
                  <c:v>2.000000</c:v>
                </c:pt>
                <c:pt idx="1">
                  <c:v>2.000000</c:v>
                </c:pt>
                <c:pt idx="2">
                  <c:v>2.000000</c:v>
                </c:pt>
                <c:pt idx="3">
                  <c:v>3.000000</c:v>
                </c:pt>
                <c:pt idx="4">
                  <c:v>4.000000</c:v>
                </c:pt>
                <c:pt idx="5">
                  <c:v>4.000000</c:v>
                </c:pt>
                <c:pt idx="6">
                  <c:v>4.000000</c:v>
                </c:pt>
                <c:pt idx="7">
                  <c:v>4.000000</c:v>
                </c:pt>
                <c:pt idx="8">
                  <c:v>5.000000</c:v>
                </c:pt>
                <c:pt idx="9">
                  <c:v>5.000000</c:v>
                </c:pt>
                <c:pt idx="10">
                  <c:v>6.000000</c:v>
                </c:pt>
                <c:pt idx="11">
                  <c:v>6.000000</c:v>
                </c:pt>
                <c:pt idx="12">
                  <c:v>7.000000</c:v>
                </c:pt>
                <c:pt idx="13">
                  <c:v>7.000000</c:v>
                </c:pt>
              </c:numCache>
            </c:numRef>
          </c:xVal>
          <c:yVal>
            <c:numRef>
              <c:f>Sheet1!$C$2:$C$15</c:f>
              <c:numCache>
                <c:ptCount val="14"/>
                <c:pt idx="0">
                  <c:v>64.000000</c:v>
                </c:pt>
                <c:pt idx="1">
                  <c:v>71.000000</c:v>
                </c:pt>
                <c:pt idx="2">
                  <c:v>66.000000</c:v>
                </c:pt>
                <c:pt idx="3">
                  <c:v>70.000000</c:v>
                </c:pt>
                <c:pt idx="4">
                  <c:v>73.000000</c:v>
                </c:pt>
                <c:pt idx="5">
                  <c:v>78.000000</c:v>
                </c:pt>
                <c:pt idx="6">
                  <c:v>70.000000</c:v>
                </c:pt>
                <c:pt idx="7">
                  <c:v>67.000000</c:v>
                </c:pt>
                <c:pt idx="8">
                  <c:v>77.000000</c:v>
                </c:pt>
                <c:pt idx="9">
                  <c:v>85.000000</c:v>
                </c:pt>
                <c:pt idx="10">
                  <c:v>87.000000</c:v>
                </c:pt>
                <c:pt idx="11">
                  <c:v>92.000000</c:v>
                </c:pt>
                <c:pt idx="12">
                  <c:v>88.000000</c:v>
                </c:pt>
                <c:pt idx="13">
                  <c:v>95.000000</c:v>
                </c:pt>
              </c:numCache>
            </c:numRef>
          </c:yVal>
          <c:smooth val="0"/>
        </c:ser>
        <c:axId val="2094734552"/>
        <c:axId val="2094734553"/>
      </c:scatterChart>
      <c:val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b="0" i="0" strike="noStrike" sz="2000" u="none">
                <a:solidFill>
                  <a:srgbClr val="000000"/>
                </a:solidFill>
                <a:latin typeface="Helvetica Light"/>
              </a:defRPr>
            </a:pPr>
          </a:p>
        </c:txPr>
        <c:crossAx val="2094734553"/>
        <c:crosses val="autoZero"/>
        <c:crossBetween val="between"/>
        <c:majorUnit val="1.75"/>
        <c:minorUnit val="0.875"/>
      </c:valAx>
      <c:valAx>
        <c:axId val="2094734553"/>
        <c:scaling>
          <c:orientation val="minMax"/>
          <c:max val="100"/>
          <c:min val="50"/>
        </c:scaling>
        <c:delete val="0"/>
        <c:axPos val="l"/>
        <c:majorGridlines>
          <c:spPr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c:spPr>
        </c:majorGridlines>
        <c:title>
          <c:tx>
            <c:rich>
              <a:bodyPr rot="-5400000"/>
              <a:lstStyle/>
              <a:p>
                <a:pPr>
                  <a:defRPr b="0" i="0" strike="noStrike" sz="2400" u="none">
                    <a:solidFill>
                      <a:srgbClr val="000000"/>
                    </a:solidFill>
                    <a:latin typeface="Helvetica Light"/>
                  </a:defRPr>
                </a:pPr>
                <a:r>
                  <a:rPr b="0" i="0" strike="noStrike" sz="2400" u="none">
                    <a:solidFill>
                      <a:srgbClr val="000000"/>
                    </a:solidFill>
                    <a:latin typeface="Helvetica Light"/>
                  </a:rPr>
                  <a:t>Test Performance</a:t>
                </a:r>
              </a:p>
            </c:rich>
          </c:tx>
          <c:layout/>
          <c:overlay val="1"/>
        </c:title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 b="0" i="0" strike="noStrike" sz="2000" u="none">
                <a:solidFill>
                  <a:srgbClr val="000000"/>
                </a:solidFill>
                <a:latin typeface="Helvetica Light"/>
              </a:defRPr>
            </a:pPr>
          </a:p>
        </c:txPr>
        <c:crossAx val="2094734552"/>
        <c:crosses val="autoZero"/>
        <c:crossBetween val="between"/>
        <c:majorUnit val="12.5"/>
        <c:minorUnit val="6.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236005"/>
          <c:y val="0.0931994"/>
          <c:w val="0.741851"/>
          <c:h val="0.768093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May</c:v>
                </c:pt>
              </c:strCache>
            </c:strRef>
          </c:tx>
          <c:spPr>
            <a:solidFill>
              <a:srgbClr val="FFFFFF"/>
            </a:solidFill>
            <a:ln w="12700" cap="flat">
              <a:noFill/>
              <a:prstDash val="solid"/>
              <a:miter lim="400000"/>
            </a:ln>
            <a:effectLst/>
          </c:spPr>
          <c:marker>
            <c:symbol val="circle"/>
            <c:size val="12"/>
            <c:spPr>
              <a:solidFill>
                <a:srgbClr val="FFFFFF"/>
              </a:solidFill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2600" u="none">
                    <a:solidFill>
                      <a:srgbClr val="000000"/>
                    </a:solidFill>
                    <a:effectLst>
                      <a:outerShdw sx="100000" sy="100000" kx="0" ky="0" algn="tl" rotWithShape="1" blurRad="127000" dist="25433" dir="5400000">
                        <a:srgbClr val="000000">
                          <a:alpha val="60000"/>
                        </a:srgbClr>
                      </a:outerShdw>
                    </a:effectLst>
                    <a:latin typeface="Helvetica Light"/>
                  </a:defRPr>
                </a:pPr>
              </a:p>
            </c:txPr>
            <c:dLblPos val="b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Sheet1!$B$2:$B$15</c:f>
              <c:numCache>
                <c:ptCount val="7"/>
                <c:pt idx="0">
                  <c:v>2.000000</c:v>
                </c:pt>
                <c:pt idx="2">
                  <c:v>2.000000</c:v>
                </c:pt>
                <c:pt idx="4">
                  <c:v>4.000000</c:v>
                </c:pt>
                <c:pt idx="6">
                  <c:v>4.000000</c:v>
                </c:pt>
                <c:pt idx="8">
                  <c:v>5.000000</c:v>
                </c:pt>
                <c:pt idx="10">
                  <c:v>6.000000</c:v>
                </c:pt>
                <c:pt idx="12">
                  <c:v>7.000000</c:v>
                </c:pt>
              </c:numCache>
            </c:numRef>
          </c:xVal>
          <c:yVal>
            <c:numRef>
              <c:f>Sheet1!$C$2:$C$15</c:f>
              <c:numCache>
                <c:ptCount val="7"/>
                <c:pt idx="0">
                  <c:v>64.000000</c:v>
                </c:pt>
                <c:pt idx="2">
                  <c:v>66.000000</c:v>
                </c:pt>
                <c:pt idx="4">
                  <c:v>73.000000</c:v>
                </c:pt>
                <c:pt idx="6">
                  <c:v>70.000000</c:v>
                </c:pt>
                <c:pt idx="8">
                  <c:v>77.000000</c:v>
                </c:pt>
                <c:pt idx="10">
                  <c:v>87.000000</c:v>
                </c:pt>
                <c:pt idx="12">
                  <c:v>88.000000</c:v>
                </c:pt>
              </c:numCache>
            </c:numRef>
          </c:yVal>
          <c:smooth val="0"/>
        </c:ser>
        <c:axId val="2094734552"/>
        <c:axId val="2094734553"/>
      </c:scatterChart>
      <c:val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b="0" i="0" strike="noStrike" sz="2000" u="none">
                <a:solidFill>
                  <a:srgbClr val="000000"/>
                </a:solidFill>
                <a:latin typeface="Helvetica Light"/>
              </a:defRPr>
            </a:pPr>
          </a:p>
        </c:txPr>
        <c:crossAx val="2094734553"/>
        <c:crosses val="autoZero"/>
        <c:crossBetween val="between"/>
        <c:majorUnit val="1.75"/>
        <c:minorUnit val="0.875"/>
      </c:valAx>
      <c:valAx>
        <c:axId val="2094734553"/>
        <c:scaling>
          <c:orientation val="minMax"/>
          <c:max val="100"/>
          <c:min val="50"/>
        </c:scaling>
        <c:delete val="0"/>
        <c:axPos val="l"/>
        <c:majorGridlines>
          <c:spPr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c:spPr>
        </c:majorGridlines>
        <c:title>
          <c:tx>
            <c:rich>
              <a:bodyPr rot="-5400000"/>
              <a:lstStyle/>
              <a:p>
                <a:pPr>
                  <a:defRPr b="0" i="0" strike="noStrike" sz="2400" u="none">
                    <a:solidFill>
                      <a:srgbClr val="000000"/>
                    </a:solidFill>
                    <a:latin typeface="Helvetica Light"/>
                  </a:defRPr>
                </a:pPr>
                <a:r>
                  <a:rPr b="0" i="0" strike="noStrike" sz="2400" u="none">
                    <a:solidFill>
                      <a:srgbClr val="000000"/>
                    </a:solidFill>
                    <a:latin typeface="Helvetica Light"/>
                  </a:rPr>
                  <a:t>Test Performance</a:t>
                </a:r>
              </a:p>
            </c:rich>
          </c:tx>
          <c:layout/>
          <c:overlay val="1"/>
        </c:title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 b="0" i="0" strike="noStrike" sz="2000" u="none">
                <a:solidFill>
                  <a:srgbClr val="000000"/>
                </a:solidFill>
                <a:latin typeface="Helvetica Light"/>
              </a:defRPr>
            </a:pPr>
          </a:p>
        </c:txPr>
        <c:crossAx val="2094734552"/>
        <c:crosses val="autoZero"/>
        <c:crossBetween val="between"/>
        <c:majorUnit val="12.5"/>
        <c:minorUnit val="6.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236005"/>
          <c:y val="0.0931994"/>
          <c:w val="0.741851"/>
          <c:h val="0.768093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May</c:v>
                </c:pt>
              </c:strCache>
            </c:strRef>
          </c:tx>
          <c:spPr>
            <a:solidFill>
              <a:srgbClr val="FFFFFF"/>
            </a:solidFill>
            <a:ln w="12700" cap="flat">
              <a:noFill/>
              <a:prstDash val="solid"/>
              <a:miter lim="400000"/>
            </a:ln>
            <a:effectLst/>
          </c:spPr>
          <c:marker>
            <c:symbol val="triangle"/>
            <c:size val="12"/>
            <c:spPr>
              <a:solidFill>
                <a:srgbClr val="FFFFFF"/>
              </a:solidFill>
              <a:ln w="38100" cap="flat">
                <a:solidFill>
                  <a:schemeClr val="accent2"/>
                </a:solidFill>
                <a:prstDash val="solid"/>
                <a:miter lim="400000"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2600" u="none">
                    <a:solidFill>
                      <a:srgbClr val="000000"/>
                    </a:solidFill>
                    <a:effectLst>
                      <a:outerShdw sx="100000" sy="100000" kx="0" ky="0" algn="tl" rotWithShape="1" blurRad="127000" dist="25433" dir="5400000">
                        <a:srgbClr val="000000">
                          <a:alpha val="60000"/>
                        </a:srgbClr>
                      </a:outerShdw>
                    </a:effectLst>
                    <a:latin typeface="Helvetica Light"/>
                  </a:defRPr>
                </a:pPr>
              </a:p>
            </c:txPr>
            <c:dLblPos val="b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Sheet1!$B$2:$B$15</c:f>
              <c:numCache>
                <c:ptCount val="7"/>
                <c:pt idx="1">
                  <c:v>2.000000</c:v>
                </c:pt>
                <c:pt idx="3">
                  <c:v>3.000000</c:v>
                </c:pt>
                <c:pt idx="5">
                  <c:v>4.000000</c:v>
                </c:pt>
                <c:pt idx="7">
                  <c:v>4.000000</c:v>
                </c:pt>
                <c:pt idx="9">
                  <c:v>5.000000</c:v>
                </c:pt>
                <c:pt idx="11">
                  <c:v>6.000000</c:v>
                </c:pt>
                <c:pt idx="13">
                  <c:v>7.000000</c:v>
                </c:pt>
              </c:numCache>
            </c:numRef>
          </c:xVal>
          <c:yVal>
            <c:numRef>
              <c:f>Sheet1!$C$2:$C$15</c:f>
              <c:numCache>
                <c:ptCount val="8"/>
                <c:pt idx="1">
                  <c:v>71.000000</c:v>
                </c:pt>
                <c:pt idx="2">
                  <c:v>1.000000</c:v>
                </c:pt>
                <c:pt idx="3">
                  <c:v>70.000000</c:v>
                </c:pt>
                <c:pt idx="5">
                  <c:v>78.000000</c:v>
                </c:pt>
                <c:pt idx="7">
                  <c:v>67.000000</c:v>
                </c:pt>
                <c:pt idx="9">
                  <c:v>85.000000</c:v>
                </c:pt>
                <c:pt idx="11">
                  <c:v>92.000000</c:v>
                </c:pt>
                <c:pt idx="13">
                  <c:v>95.000000</c:v>
                </c:pt>
              </c:numCache>
            </c:numRef>
          </c:yVal>
          <c:smooth val="0"/>
        </c:ser>
        <c:axId val="2094734552"/>
        <c:axId val="2094734553"/>
      </c:scatterChart>
      <c:val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b="0" i="0" strike="noStrike" sz="2000" u="none">
                <a:solidFill>
                  <a:srgbClr val="000000"/>
                </a:solidFill>
                <a:latin typeface="Helvetica Light"/>
              </a:defRPr>
            </a:pPr>
          </a:p>
        </c:txPr>
        <c:crossAx val="2094734553"/>
        <c:crosses val="autoZero"/>
        <c:crossBetween val="between"/>
        <c:majorUnit val="1.75"/>
        <c:minorUnit val="0.875"/>
      </c:valAx>
      <c:valAx>
        <c:axId val="2094734553"/>
        <c:scaling>
          <c:orientation val="minMax"/>
          <c:max val="100"/>
          <c:min val="50"/>
        </c:scaling>
        <c:delete val="0"/>
        <c:axPos val="l"/>
        <c:majorGridlines>
          <c:spPr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c:spPr>
        </c:majorGridlines>
        <c:title>
          <c:tx>
            <c:rich>
              <a:bodyPr rot="-5400000"/>
              <a:lstStyle/>
              <a:p>
                <a:pPr>
                  <a:defRPr b="0" i="0" strike="noStrike" sz="2400" u="none">
                    <a:solidFill>
                      <a:srgbClr val="000000"/>
                    </a:solidFill>
                    <a:latin typeface="Helvetica Light"/>
                  </a:defRPr>
                </a:pPr>
                <a:r>
                  <a:rPr b="0" i="0" strike="noStrike" sz="2400" u="none">
                    <a:solidFill>
                      <a:srgbClr val="000000"/>
                    </a:solidFill>
                    <a:latin typeface="Helvetica Light"/>
                  </a:rPr>
                  <a:t>Test Performance</a:t>
                </a:r>
              </a:p>
            </c:rich>
          </c:tx>
          <c:layout/>
          <c:overlay val="1"/>
        </c:title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 b="0" i="0" strike="noStrike" sz="2000" u="none">
                <a:solidFill>
                  <a:srgbClr val="000000"/>
                </a:solidFill>
                <a:latin typeface="Helvetica Light"/>
              </a:defRPr>
            </a:pPr>
          </a:p>
        </c:txPr>
        <c:crossAx val="2094734552"/>
        <c:crosses val="autoZero"/>
        <c:crossBetween val="between"/>
        <c:majorUnit val="12.5"/>
        <c:minorUnit val="6.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236005"/>
          <c:y val="0.0931994"/>
          <c:w val="0.741851"/>
          <c:h val="0.768093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May</c:v>
                </c:pt>
              </c:strCache>
            </c:strRef>
          </c:tx>
          <c:spPr>
            <a:solidFill>
              <a:srgbClr val="FFFFFF"/>
            </a:solidFill>
            <a:ln w="12700" cap="flat">
              <a:noFill/>
              <a:prstDash val="solid"/>
              <a:miter lim="400000"/>
            </a:ln>
            <a:effectLst/>
          </c:spPr>
          <c:marker>
            <c:symbol val="circle"/>
            <c:size val="12"/>
            <c:spPr>
              <a:solidFill>
                <a:srgbClr val="FFFFFF"/>
              </a:solidFill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2600" u="none">
                    <a:solidFill>
                      <a:srgbClr val="000000"/>
                    </a:solidFill>
                    <a:effectLst>
                      <a:outerShdw sx="100000" sy="100000" kx="0" ky="0" algn="tl" rotWithShape="1" blurRad="127000" dist="25433" dir="5400000">
                        <a:srgbClr val="000000">
                          <a:alpha val="60000"/>
                        </a:srgbClr>
                      </a:outerShdw>
                    </a:effectLst>
                    <a:latin typeface="Helvetica Light"/>
                  </a:defRPr>
                </a:pPr>
              </a:p>
            </c:txPr>
            <c:dLblPos val="b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Sheet1!$B$2:$B$15</c:f>
              <c:numCache>
                <c:ptCount val="7"/>
                <c:pt idx="0">
                  <c:v>2.000000</c:v>
                </c:pt>
                <c:pt idx="2">
                  <c:v>2.000000</c:v>
                </c:pt>
                <c:pt idx="4">
                  <c:v>4.000000</c:v>
                </c:pt>
                <c:pt idx="6">
                  <c:v>4.000000</c:v>
                </c:pt>
                <c:pt idx="8">
                  <c:v>5.000000</c:v>
                </c:pt>
                <c:pt idx="10">
                  <c:v>6.000000</c:v>
                </c:pt>
                <c:pt idx="12">
                  <c:v>7.000000</c:v>
                </c:pt>
              </c:numCache>
            </c:numRef>
          </c:xVal>
          <c:yVal>
            <c:numRef>
              <c:f>Sheet1!$C$2:$C$15</c:f>
              <c:numCache>
                <c:ptCount val="7"/>
                <c:pt idx="0">
                  <c:v>64.000000</c:v>
                </c:pt>
                <c:pt idx="2">
                  <c:v>66.000000</c:v>
                </c:pt>
                <c:pt idx="4">
                  <c:v>73.000000</c:v>
                </c:pt>
                <c:pt idx="6">
                  <c:v>70.000000</c:v>
                </c:pt>
                <c:pt idx="8">
                  <c:v>77.000000</c:v>
                </c:pt>
                <c:pt idx="10">
                  <c:v>87.000000</c:v>
                </c:pt>
                <c:pt idx="12">
                  <c:v>88.000000</c:v>
                </c:pt>
              </c:numCache>
            </c:numRef>
          </c:yVal>
          <c:smooth val="0"/>
        </c:ser>
        <c:axId val="2094734552"/>
        <c:axId val="2094734553"/>
      </c:scatterChart>
      <c:val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b="0" i="0" strike="noStrike" sz="2000" u="none">
                <a:solidFill>
                  <a:srgbClr val="000000"/>
                </a:solidFill>
                <a:latin typeface="Helvetica Light"/>
              </a:defRPr>
            </a:pPr>
          </a:p>
        </c:txPr>
        <c:crossAx val="2094734553"/>
        <c:crosses val="autoZero"/>
        <c:crossBetween val="between"/>
        <c:majorUnit val="1.75"/>
        <c:minorUnit val="0.875"/>
      </c:valAx>
      <c:valAx>
        <c:axId val="2094734553"/>
        <c:scaling>
          <c:orientation val="minMax"/>
          <c:max val="100"/>
          <c:min val="50"/>
        </c:scaling>
        <c:delete val="0"/>
        <c:axPos val="l"/>
        <c:majorGridlines>
          <c:spPr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c:spPr>
        </c:majorGridlines>
        <c:title>
          <c:tx>
            <c:rich>
              <a:bodyPr rot="-5400000"/>
              <a:lstStyle/>
              <a:p>
                <a:pPr>
                  <a:defRPr b="0" i="0" strike="noStrike" sz="2400" u="none">
                    <a:solidFill>
                      <a:srgbClr val="000000"/>
                    </a:solidFill>
                    <a:latin typeface="Helvetica Light"/>
                  </a:defRPr>
                </a:pPr>
                <a:r>
                  <a:rPr b="0" i="0" strike="noStrike" sz="2400" u="none">
                    <a:solidFill>
                      <a:srgbClr val="000000"/>
                    </a:solidFill>
                    <a:latin typeface="Helvetica Light"/>
                  </a:rPr>
                  <a:t>Test Performance</a:t>
                </a:r>
              </a:p>
            </c:rich>
          </c:tx>
          <c:layout/>
          <c:overlay val="1"/>
        </c:title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 b="0" i="0" strike="noStrike" sz="2000" u="none">
                <a:solidFill>
                  <a:srgbClr val="000000"/>
                </a:solidFill>
                <a:latin typeface="Helvetica Light"/>
              </a:defRPr>
            </a:pPr>
          </a:p>
        </c:txPr>
        <c:crossAx val="2094734552"/>
        <c:crosses val="autoZero"/>
        <c:crossBetween val="between"/>
        <c:majorUnit val="12.5"/>
        <c:minorUnit val="6.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236005"/>
          <c:y val="0.0931994"/>
          <c:w val="0.741851"/>
          <c:h val="0.768093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May</c:v>
                </c:pt>
              </c:strCache>
            </c:strRef>
          </c:tx>
          <c:spPr>
            <a:solidFill>
              <a:srgbClr val="FFFFFF"/>
            </a:solidFill>
            <a:ln w="12700" cap="flat">
              <a:noFill/>
              <a:prstDash val="solid"/>
              <a:miter lim="400000"/>
            </a:ln>
            <a:effectLst/>
          </c:spPr>
          <c:marker>
            <c:symbol val="triangle"/>
            <c:size val="12"/>
            <c:spPr>
              <a:solidFill>
                <a:srgbClr val="FFFFFF"/>
              </a:solidFill>
              <a:ln w="38100" cap="flat">
                <a:solidFill>
                  <a:schemeClr val="accent2"/>
                </a:solidFill>
                <a:prstDash val="solid"/>
                <a:miter lim="400000"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2600" u="none">
                    <a:solidFill>
                      <a:srgbClr val="000000"/>
                    </a:solidFill>
                    <a:effectLst>
                      <a:outerShdw sx="100000" sy="100000" kx="0" ky="0" algn="tl" rotWithShape="1" blurRad="127000" dist="25433" dir="5400000">
                        <a:srgbClr val="000000">
                          <a:alpha val="60000"/>
                        </a:srgbClr>
                      </a:outerShdw>
                    </a:effectLst>
                    <a:latin typeface="Helvetica Light"/>
                  </a:defRPr>
                </a:pPr>
              </a:p>
            </c:txPr>
            <c:dLblPos val="b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Sheet1!$B$2:$B$15</c:f>
              <c:numCache>
                <c:ptCount val="7"/>
                <c:pt idx="1">
                  <c:v>2.000000</c:v>
                </c:pt>
                <c:pt idx="3">
                  <c:v>3.000000</c:v>
                </c:pt>
                <c:pt idx="5">
                  <c:v>4.000000</c:v>
                </c:pt>
                <c:pt idx="7">
                  <c:v>4.000000</c:v>
                </c:pt>
                <c:pt idx="9">
                  <c:v>5.000000</c:v>
                </c:pt>
                <c:pt idx="11">
                  <c:v>6.000000</c:v>
                </c:pt>
                <c:pt idx="13">
                  <c:v>7.000000</c:v>
                </c:pt>
              </c:numCache>
            </c:numRef>
          </c:xVal>
          <c:yVal>
            <c:numRef>
              <c:f>Sheet1!$C$2:$C$15</c:f>
              <c:numCache>
                <c:ptCount val="8"/>
                <c:pt idx="1">
                  <c:v>71.000000</c:v>
                </c:pt>
                <c:pt idx="2">
                  <c:v>1.000000</c:v>
                </c:pt>
                <c:pt idx="3">
                  <c:v>70.000000</c:v>
                </c:pt>
                <c:pt idx="5">
                  <c:v>78.000000</c:v>
                </c:pt>
                <c:pt idx="7">
                  <c:v>67.000000</c:v>
                </c:pt>
                <c:pt idx="9">
                  <c:v>85.000000</c:v>
                </c:pt>
                <c:pt idx="11">
                  <c:v>92.000000</c:v>
                </c:pt>
                <c:pt idx="13">
                  <c:v>95.000000</c:v>
                </c:pt>
              </c:numCache>
            </c:numRef>
          </c:yVal>
          <c:smooth val="0"/>
        </c:ser>
        <c:axId val="2094734552"/>
        <c:axId val="2094734553"/>
      </c:scatterChart>
      <c:val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b="0" i="0" strike="noStrike" sz="2000" u="none">
                <a:solidFill>
                  <a:srgbClr val="000000"/>
                </a:solidFill>
                <a:latin typeface="Helvetica Light"/>
              </a:defRPr>
            </a:pPr>
          </a:p>
        </c:txPr>
        <c:crossAx val="2094734553"/>
        <c:crosses val="autoZero"/>
        <c:crossBetween val="between"/>
        <c:majorUnit val="1.75"/>
        <c:minorUnit val="0.875"/>
      </c:valAx>
      <c:valAx>
        <c:axId val="2094734553"/>
        <c:scaling>
          <c:orientation val="minMax"/>
          <c:max val="100"/>
          <c:min val="50"/>
        </c:scaling>
        <c:delete val="0"/>
        <c:axPos val="l"/>
        <c:majorGridlines>
          <c:spPr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c:spPr>
        </c:majorGridlines>
        <c:title>
          <c:tx>
            <c:rich>
              <a:bodyPr rot="-5400000"/>
              <a:lstStyle/>
              <a:p>
                <a:pPr>
                  <a:defRPr b="0" i="0" strike="noStrike" sz="2400" u="none">
                    <a:solidFill>
                      <a:srgbClr val="000000"/>
                    </a:solidFill>
                    <a:latin typeface="Helvetica Light"/>
                  </a:defRPr>
                </a:pPr>
                <a:r>
                  <a:rPr b="0" i="0" strike="noStrike" sz="2400" u="none">
                    <a:solidFill>
                      <a:srgbClr val="000000"/>
                    </a:solidFill>
                    <a:latin typeface="Helvetica Light"/>
                  </a:rPr>
                  <a:t>Test Performance</a:t>
                </a:r>
              </a:p>
            </c:rich>
          </c:tx>
          <c:layout/>
          <c:overlay val="1"/>
        </c:title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 b="0" i="0" strike="noStrike" sz="2000" u="none">
                <a:solidFill>
                  <a:srgbClr val="000000"/>
                </a:solidFill>
                <a:latin typeface="Helvetica Light"/>
              </a:defRPr>
            </a:pPr>
          </a:p>
        </c:txPr>
        <c:crossAx val="2094734552"/>
        <c:crosses val="autoZero"/>
        <c:crossBetween val="between"/>
        <c:majorUnit val="12.5"/>
        <c:minorUnit val="6.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150288"/>
          <c:y val="0.0931994"/>
          <c:w val="0.825084"/>
          <c:h val="0.768093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May</c:v>
                </c:pt>
              </c:strCache>
            </c:strRef>
          </c:tx>
          <c:spPr>
            <a:solidFill>
              <a:srgbClr val="FFFFFF"/>
            </a:solidFill>
            <a:ln w="12700" cap="flat">
              <a:noFill/>
              <a:prstDash val="solid"/>
              <a:miter lim="400000"/>
            </a:ln>
            <a:effectLst/>
          </c:spPr>
          <c:marker>
            <c:symbol val="circle"/>
            <c:size val="12"/>
            <c:spPr>
              <a:solidFill>
                <a:srgbClr val="FFFFFF"/>
              </a:solidFill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2600" u="none">
                    <a:solidFill>
                      <a:srgbClr val="000000"/>
                    </a:solidFill>
                    <a:effectLst>
                      <a:outerShdw sx="100000" sy="100000" kx="0" ky="0" algn="tl" rotWithShape="1" blurRad="127000" dist="25433" dir="5400000">
                        <a:srgbClr val="000000">
                          <a:alpha val="60000"/>
                        </a:srgbClr>
                      </a:outerShdw>
                    </a:effectLst>
                    <a:latin typeface="Helvetica Light"/>
                  </a:defRPr>
                </a:pPr>
              </a:p>
            </c:txPr>
            <c:dLblPos val="b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Sheet1!$B$2:$B$15</c:f>
              <c:numCache>
                <c:ptCount val="7"/>
                <c:pt idx="0">
                  <c:v>2.000000</c:v>
                </c:pt>
                <c:pt idx="2">
                  <c:v>2.000000</c:v>
                </c:pt>
                <c:pt idx="4">
                  <c:v>4.000000</c:v>
                </c:pt>
                <c:pt idx="6">
                  <c:v>4.000000</c:v>
                </c:pt>
                <c:pt idx="8">
                  <c:v>5.000000</c:v>
                </c:pt>
                <c:pt idx="10">
                  <c:v>6.000000</c:v>
                </c:pt>
                <c:pt idx="12">
                  <c:v>7.000000</c:v>
                </c:pt>
              </c:numCache>
            </c:numRef>
          </c:xVal>
          <c:yVal>
            <c:numRef>
              <c:f>Sheet1!$C$2:$C$15</c:f>
              <c:numCache>
                <c:ptCount val="7"/>
                <c:pt idx="0">
                  <c:v>64.000000</c:v>
                </c:pt>
                <c:pt idx="2">
                  <c:v>66.000000</c:v>
                </c:pt>
                <c:pt idx="4">
                  <c:v>73.000000</c:v>
                </c:pt>
                <c:pt idx="6">
                  <c:v>70.000000</c:v>
                </c:pt>
                <c:pt idx="8">
                  <c:v>77.000000</c:v>
                </c:pt>
                <c:pt idx="10">
                  <c:v>87.000000</c:v>
                </c:pt>
                <c:pt idx="12">
                  <c:v>88.000000</c:v>
                </c:pt>
              </c:numCache>
            </c:numRef>
          </c:yVal>
          <c:smooth val="0"/>
        </c:ser>
        <c:axId val="2094734552"/>
        <c:axId val="2094734553"/>
      </c:scatterChart>
      <c:val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b="0" i="0" strike="noStrike" sz="2000" u="none">
                <a:solidFill>
                  <a:srgbClr val="000000"/>
                </a:solidFill>
                <a:latin typeface="Helvetica Light"/>
              </a:defRPr>
            </a:pPr>
          </a:p>
        </c:txPr>
        <c:crossAx val="2094734553"/>
        <c:crosses val="autoZero"/>
        <c:crossBetween val="between"/>
        <c:majorUnit val="1.75"/>
        <c:minorUnit val="0.875"/>
      </c:valAx>
      <c:valAx>
        <c:axId val="2094734553"/>
        <c:scaling>
          <c:orientation val="minMax"/>
          <c:max val="100"/>
          <c:min val="50"/>
        </c:scaling>
        <c:delete val="0"/>
        <c:axPos val="l"/>
        <c:majorGridlines>
          <c:spPr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 b="0" i="0" strike="noStrike" sz="2000" u="none">
                <a:solidFill>
                  <a:srgbClr val="000000"/>
                </a:solidFill>
                <a:latin typeface="Helvetica Light"/>
              </a:defRPr>
            </a:pPr>
          </a:p>
        </c:txPr>
        <c:crossAx val="2094734552"/>
        <c:crosses val="autoZero"/>
        <c:crossBetween val="between"/>
        <c:majorUnit val="12.5"/>
        <c:minorUnit val="6.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150288"/>
          <c:y val="0.0931994"/>
          <c:w val="0.825084"/>
          <c:h val="0.768093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May</c:v>
                </c:pt>
              </c:strCache>
            </c:strRef>
          </c:tx>
          <c:spPr>
            <a:solidFill>
              <a:srgbClr val="FFFFFF"/>
            </a:solidFill>
            <a:ln w="12700" cap="flat">
              <a:noFill/>
              <a:prstDash val="solid"/>
              <a:miter lim="400000"/>
            </a:ln>
            <a:effectLst/>
          </c:spPr>
          <c:marker>
            <c:symbol val="circle"/>
            <c:size val="12"/>
            <c:spPr>
              <a:solidFill>
                <a:srgbClr val="FFFFFF"/>
              </a:solidFill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2600" u="none">
                    <a:solidFill>
                      <a:srgbClr val="000000"/>
                    </a:solidFill>
                    <a:effectLst>
                      <a:outerShdw sx="100000" sy="100000" kx="0" ky="0" algn="tl" rotWithShape="1" blurRad="127000" dist="25433" dir="5400000">
                        <a:srgbClr val="000000">
                          <a:alpha val="60000"/>
                        </a:srgbClr>
                      </a:outerShdw>
                    </a:effectLst>
                    <a:latin typeface="Helvetica Light"/>
                  </a:defRPr>
                </a:pPr>
              </a:p>
            </c:txPr>
            <c:dLblPos val="b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Sheet1!$B$2:$B$15</c:f>
              <c:numCache>
                <c:ptCount val="7"/>
                <c:pt idx="0">
                  <c:v>2.000000</c:v>
                </c:pt>
                <c:pt idx="2">
                  <c:v>2.000000</c:v>
                </c:pt>
                <c:pt idx="4">
                  <c:v>4.000000</c:v>
                </c:pt>
                <c:pt idx="6">
                  <c:v>4.000000</c:v>
                </c:pt>
                <c:pt idx="8">
                  <c:v>5.000000</c:v>
                </c:pt>
                <c:pt idx="10">
                  <c:v>6.000000</c:v>
                </c:pt>
                <c:pt idx="12">
                  <c:v>7.000000</c:v>
                </c:pt>
              </c:numCache>
            </c:numRef>
          </c:xVal>
          <c:yVal>
            <c:numRef>
              <c:f>Sheet1!$C$2:$C$15</c:f>
              <c:numCache>
                <c:ptCount val="7"/>
                <c:pt idx="0">
                  <c:v>64.000000</c:v>
                </c:pt>
                <c:pt idx="2">
                  <c:v>66.000000</c:v>
                </c:pt>
                <c:pt idx="4">
                  <c:v>73.000000</c:v>
                </c:pt>
                <c:pt idx="6">
                  <c:v>70.000000</c:v>
                </c:pt>
                <c:pt idx="8">
                  <c:v>77.000000</c:v>
                </c:pt>
                <c:pt idx="10">
                  <c:v>87.000000</c:v>
                </c:pt>
                <c:pt idx="12">
                  <c:v>88.000000</c:v>
                </c:pt>
              </c:numCache>
            </c:numRef>
          </c:yVal>
          <c:smooth val="0"/>
        </c:ser>
        <c:axId val="2094734552"/>
        <c:axId val="2094734553"/>
      </c:scatterChart>
      <c:val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b="0" i="0" strike="noStrike" sz="2000" u="none">
                <a:solidFill>
                  <a:srgbClr val="000000"/>
                </a:solidFill>
                <a:latin typeface="Helvetica Light"/>
              </a:defRPr>
            </a:pPr>
          </a:p>
        </c:txPr>
        <c:crossAx val="2094734553"/>
        <c:crosses val="autoZero"/>
        <c:crossBetween val="between"/>
        <c:majorUnit val="1.75"/>
        <c:minorUnit val="0.875"/>
      </c:valAx>
      <c:valAx>
        <c:axId val="2094734553"/>
        <c:scaling>
          <c:orientation val="minMax"/>
          <c:max val="100"/>
          <c:min val="50"/>
        </c:scaling>
        <c:delete val="0"/>
        <c:axPos val="l"/>
        <c:majorGridlines>
          <c:spPr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 b="0" i="0" strike="noStrike" sz="2000" u="none">
                <a:solidFill>
                  <a:srgbClr val="000000"/>
                </a:solidFill>
                <a:latin typeface="Helvetica Light"/>
              </a:defRPr>
            </a:pPr>
          </a:p>
        </c:txPr>
        <c:crossAx val="2094734552"/>
        <c:crosses val="autoZero"/>
        <c:crossBetween val="between"/>
        <c:majorUnit val="12.5"/>
        <c:minorUnit val="6.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150288"/>
          <c:y val="0.0931994"/>
          <c:w val="0.825084"/>
          <c:h val="0.768093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May</c:v>
                </c:pt>
              </c:strCache>
            </c:strRef>
          </c:tx>
          <c:spPr>
            <a:solidFill>
              <a:srgbClr val="FFFFFF"/>
            </a:solidFill>
            <a:ln w="12700" cap="flat">
              <a:noFill/>
              <a:prstDash val="solid"/>
              <a:miter lim="400000"/>
            </a:ln>
            <a:effectLst/>
          </c:spPr>
          <c:marker>
            <c:symbol val="triangle"/>
            <c:size val="12"/>
            <c:spPr>
              <a:solidFill>
                <a:srgbClr val="FFFFFF"/>
              </a:solidFill>
              <a:ln w="38100" cap="flat">
                <a:solidFill>
                  <a:schemeClr val="accent2"/>
                </a:solidFill>
                <a:prstDash val="solid"/>
                <a:miter lim="400000"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2600" u="none">
                    <a:solidFill>
                      <a:srgbClr val="000000"/>
                    </a:solidFill>
                    <a:effectLst>
                      <a:outerShdw sx="100000" sy="100000" kx="0" ky="0" algn="tl" rotWithShape="1" blurRad="127000" dist="25433" dir="5400000">
                        <a:srgbClr val="000000">
                          <a:alpha val="60000"/>
                        </a:srgbClr>
                      </a:outerShdw>
                    </a:effectLst>
                    <a:latin typeface="Helvetica Light"/>
                  </a:defRPr>
                </a:pPr>
              </a:p>
            </c:txPr>
            <c:dLblPos val="b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Sheet1!$B$2:$B$15</c:f>
              <c:numCache>
                <c:ptCount val="7"/>
                <c:pt idx="1">
                  <c:v>2.000000</c:v>
                </c:pt>
                <c:pt idx="3">
                  <c:v>3.000000</c:v>
                </c:pt>
                <c:pt idx="5">
                  <c:v>4.000000</c:v>
                </c:pt>
                <c:pt idx="7">
                  <c:v>4.000000</c:v>
                </c:pt>
                <c:pt idx="9">
                  <c:v>5.000000</c:v>
                </c:pt>
                <c:pt idx="11">
                  <c:v>6.000000</c:v>
                </c:pt>
                <c:pt idx="13">
                  <c:v>7.000000</c:v>
                </c:pt>
              </c:numCache>
            </c:numRef>
          </c:xVal>
          <c:yVal>
            <c:numRef>
              <c:f>Sheet1!$C$2:$C$15</c:f>
              <c:numCache>
                <c:ptCount val="7"/>
                <c:pt idx="1">
                  <c:v>71.000000</c:v>
                </c:pt>
                <c:pt idx="3">
                  <c:v>70.000000</c:v>
                </c:pt>
                <c:pt idx="5">
                  <c:v>78.000000</c:v>
                </c:pt>
                <c:pt idx="7">
                  <c:v>67.000000</c:v>
                </c:pt>
                <c:pt idx="9">
                  <c:v>85.000000</c:v>
                </c:pt>
                <c:pt idx="11">
                  <c:v>92.000000</c:v>
                </c:pt>
                <c:pt idx="13">
                  <c:v>95.000000</c:v>
                </c:pt>
              </c:numCache>
            </c:numRef>
          </c:yVal>
          <c:smooth val="0"/>
        </c:ser>
        <c:axId val="2094734552"/>
        <c:axId val="2094734553"/>
      </c:scatterChart>
      <c:val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b="0" i="0" strike="noStrike" sz="2000" u="none">
                <a:solidFill>
                  <a:srgbClr val="000000"/>
                </a:solidFill>
                <a:latin typeface="Helvetica Light"/>
              </a:defRPr>
            </a:pPr>
          </a:p>
        </c:txPr>
        <c:crossAx val="2094734553"/>
        <c:crosses val="autoZero"/>
        <c:crossBetween val="between"/>
        <c:majorUnit val="1.75"/>
        <c:minorUnit val="0.875"/>
      </c:valAx>
      <c:valAx>
        <c:axId val="2094734553"/>
        <c:scaling>
          <c:orientation val="minMax"/>
          <c:max val="100"/>
          <c:min val="50"/>
        </c:scaling>
        <c:delete val="0"/>
        <c:axPos val="l"/>
        <c:majorGridlines>
          <c:spPr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 b="0" i="0" strike="noStrike" sz="2000" u="none">
                <a:solidFill>
                  <a:srgbClr val="000000"/>
                </a:solidFill>
                <a:latin typeface="Helvetica Light"/>
              </a:defRPr>
            </a:pPr>
          </a:p>
        </c:txPr>
        <c:crossAx val="2094734552"/>
        <c:crosses val="autoZero"/>
        <c:crossBetween val="between"/>
        <c:majorUnit val="12.5"/>
        <c:minorUnit val="6.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336296"/>
          <c:y val="0.121161"/>
          <c:w val="0.639475"/>
          <c:h val="0.702266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May</c:v>
                </c:pt>
              </c:strCache>
            </c:strRef>
          </c:tx>
          <c:spPr>
            <a:solidFill>
              <a:srgbClr val="FFFFFF"/>
            </a:solidFill>
            <a:ln w="12700" cap="flat">
              <a:noFill/>
              <a:prstDash val="solid"/>
              <a:miter lim="400000"/>
            </a:ln>
            <a:effectLst/>
          </c:spPr>
          <c:marker>
            <c:symbol val="circle"/>
            <c:size val="12"/>
            <c:spPr>
              <a:solidFill>
                <a:srgbClr val="FFFFFF"/>
              </a:solidFill>
              <a:ln w="38100" cap="flat">
                <a:solidFill>
                  <a:schemeClr val="accent1">
                    <a:satOff val="-3355"/>
                    <a:lumOff val="26614"/>
                  </a:schemeClr>
                </a:solidFill>
                <a:prstDash val="solid"/>
                <a:miter lim="400000"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2600" u="none">
                    <a:solidFill>
                      <a:srgbClr val="000000"/>
                    </a:solidFill>
                    <a:effectLst>
                      <a:outerShdw sx="100000" sy="100000" kx="0" ky="0" algn="tl" rotWithShape="1" blurRad="127000" dist="25433" dir="5400000">
                        <a:srgbClr val="000000">
                          <a:alpha val="60000"/>
                        </a:srgbClr>
                      </a:outerShdw>
                    </a:effectLst>
                    <a:latin typeface="Helvetica Light"/>
                  </a:defRPr>
                </a:pPr>
              </a:p>
            </c:txPr>
            <c:dLblPos val="b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Sheet1!$B$2:$B$15</c:f>
              <c:numCache>
                <c:ptCount val="14"/>
                <c:pt idx="0">
                  <c:v>2.000000</c:v>
                </c:pt>
                <c:pt idx="1">
                  <c:v>2.000000</c:v>
                </c:pt>
                <c:pt idx="2">
                  <c:v>2.000000</c:v>
                </c:pt>
                <c:pt idx="3">
                  <c:v>3.000000</c:v>
                </c:pt>
                <c:pt idx="4">
                  <c:v>4.000000</c:v>
                </c:pt>
                <c:pt idx="5">
                  <c:v>4.000000</c:v>
                </c:pt>
                <c:pt idx="6">
                  <c:v>4.000000</c:v>
                </c:pt>
                <c:pt idx="7">
                  <c:v>4.000000</c:v>
                </c:pt>
                <c:pt idx="8">
                  <c:v>5.000000</c:v>
                </c:pt>
                <c:pt idx="9">
                  <c:v>5.000000</c:v>
                </c:pt>
                <c:pt idx="10">
                  <c:v>6.000000</c:v>
                </c:pt>
                <c:pt idx="11">
                  <c:v>6.000000</c:v>
                </c:pt>
                <c:pt idx="12">
                  <c:v>7.000000</c:v>
                </c:pt>
                <c:pt idx="13">
                  <c:v>7.000000</c:v>
                </c:pt>
              </c:numCache>
            </c:numRef>
          </c:xVal>
          <c:yVal>
            <c:numRef>
              <c:f>Sheet1!$C$2:$C$15</c:f>
              <c:numCache>
                <c:ptCount val="14"/>
                <c:pt idx="0">
                  <c:v>64.000000</c:v>
                </c:pt>
                <c:pt idx="1">
                  <c:v>71.000000</c:v>
                </c:pt>
                <c:pt idx="2">
                  <c:v>66.000000</c:v>
                </c:pt>
                <c:pt idx="3">
                  <c:v>70.000000</c:v>
                </c:pt>
                <c:pt idx="4">
                  <c:v>73.000000</c:v>
                </c:pt>
                <c:pt idx="5">
                  <c:v>78.000000</c:v>
                </c:pt>
                <c:pt idx="6">
                  <c:v>70.000000</c:v>
                </c:pt>
                <c:pt idx="7">
                  <c:v>67.000000</c:v>
                </c:pt>
                <c:pt idx="8">
                  <c:v>77.000000</c:v>
                </c:pt>
                <c:pt idx="9">
                  <c:v>85.000000</c:v>
                </c:pt>
                <c:pt idx="10">
                  <c:v>87.000000</c:v>
                </c:pt>
                <c:pt idx="11">
                  <c:v>92.000000</c:v>
                </c:pt>
                <c:pt idx="12">
                  <c:v>88.000000</c:v>
                </c:pt>
                <c:pt idx="13">
                  <c:v>95.000000</c:v>
                </c:pt>
              </c:numCache>
            </c:numRef>
          </c:yVal>
          <c:smooth val="0"/>
        </c:ser>
        <c:axId val="2094734552"/>
        <c:axId val="2094734553"/>
      </c:scatterChart>
      <c:val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b="0" i="0" strike="noStrike" sz="2000" u="none">
                <a:solidFill>
                  <a:srgbClr val="000000"/>
                </a:solidFill>
                <a:latin typeface="Helvetica Light"/>
              </a:defRPr>
            </a:pPr>
          </a:p>
        </c:txPr>
        <c:crossAx val="2094734553"/>
        <c:crosses val="autoZero"/>
        <c:crossBetween val="between"/>
        <c:majorUnit val="1.75"/>
        <c:minorUnit val="0.875"/>
      </c:valAx>
      <c:valAx>
        <c:axId val="2094734553"/>
        <c:scaling>
          <c:orientation val="minMax"/>
          <c:max val="100"/>
          <c:min val="50"/>
        </c:scaling>
        <c:delete val="0"/>
        <c:axPos val="l"/>
        <c:majorGridlines>
          <c:spPr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c:spPr>
        </c:majorGridlines>
        <c:title>
          <c:tx>
            <c:rich>
              <a:bodyPr rot="-5400000"/>
              <a:lstStyle/>
              <a:p>
                <a:pPr>
                  <a:defRPr b="0" i="0" strike="noStrike" sz="2400" u="none">
                    <a:solidFill>
                      <a:srgbClr val="000000"/>
                    </a:solidFill>
                    <a:latin typeface="Helvetica Light"/>
                  </a:defRPr>
                </a:pPr>
                <a:r>
                  <a:rPr b="0" i="0" strike="noStrike" sz="2400" u="none">
                    <a:solidFill>
                      <a:srgbClr val="000000"/>
                    </a:solidFill>
                    <a:latin typeface="Helvetica Light"/>
                  </a:rPr>
                  <a:t>Test Performance</a:t>
                </a:r>
              </a:p>
            </c:rich>
          </c:tx>
          <c:layout/>
          <c:overlay val="1"/>
        </c:title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 b="0" i="0" strike="noStrike" sz="2000" u="none">
                <a:solidFill>
                  <a:srgbClr val="000000"/>
                </a:solidFill>
                <a:latin typeface="Helvetica Light"/>
              </a:defRPr>
            </a:pPr>
          </a:p>
        </c:txPr>
        <c:crossAx val="2094734552"/>
        <c:crosses val="autoZero"/>
        <c:crossBetween val="between"/>
        <c:majorUnit val="12.5"/>
        <c:minorUnit val="6.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236005"/>
          <c:y val="0.0931994"/>
          <c:w val="0.741851"/>
          <c:h val="0.768093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May</c:v>
                </c:pt>
              </c:strCache>
            </c:strRef>
          </c:tx>
          <c:spPr>
            <a:solidFill>
              <a:srgbClr val="FFFFFF"/>
            </a:solidFill>
            <a:ln w="12700" cap="flat">
              <a:noFill/>
              <a:prstDash val="solid"/>
              <a:miter lim="400000"/>
            </a:ln>
            <a:effectLst/>
          </c:spPr>
          <c:marker>
            <c:symbol val="circle"/>
            <c:size val="12"/>
            <c:spPr>
              <a:solidFill>
                <a:srgbClr val="FFFFFF"/>
              </a:solidFill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2600" u="none">
                    <a:solidFill>
                      <a:srgbClr val="000000"/>
                    </a:solidFill>
                    <a:effectLst>
                      <a:outerShdw sx="100000" sy="100000" kx="0" ky="0" algn="tl" rotWithShape="1" blurRad="127000" dist="25433" dir="5400000">
                        <a:srgbClr val="000000">
                          <a:alpha val="60000"/>
                        </a:srgbClr>
                      </a:outerShdw>
                    </a:effectLst>
                    <a:latin typeface="Helvetica Light"/>
                  </a:defRPr>
                </a:pPr>
              </a:p>
            </c:txPr>
            <c:dLblPos val="b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Sheet1!$B$2:$B$15</c:f>
              <c:numCache>
                <c:ptCount val="7"/>
                <c:pt idx="0">
                  <c:v>2.000000</c:v>
                </c:pt>
                <c:pt idx="2">
                  <c:v>2.000000</c:v>
                </c:pt>
                <c:pt idx="4">
                  <c:v>4.000000</c:v>
                </c:pt>
                <c:pt idx="6">
                  <c:v>4.000000</c:v>
                </c:pt>
                <c:pt idx="8">
                  <c:v>5.000000</c:v>
                </c:pt>
                <c:pt idx="10">
                  <c:v>6.000000</c:v>
                </c:pt>
                <c:pt idx="12">
                  <c:v>7.000000</c:v>
                </c:pt>
              </c:numCache>
            </c:numRef>
          </c:xVal>
          <c:yVal>
            <c:numRef>
              <c:f>Sheet1!$C$2:$C$15</c:f>
              <c:numCache>
                <c:ptCount val="7"/>
                <c:pt idx="0">
                  <c:v>64.000000</c:v>
                </c:pt>
                <c:pt idx="2">
                  <c:v>66.000000</c:v>
                </c:pt>
                <c:pt idx="4">
                  <c:v>73.000000</c:v>
                </c:pt>
                <c:pt idx="6">
                  <c:v>70.000000</c:v>
                </c:pt>
                <c:pt idx="8">
                  <c:v>77.000000</c:v>
                </c:pt>
                <c:pt idx="10">
                  <c:v>87.000000</c:v>
                </c:pt>
                <c:pt idx="12">
                  <c:v>88.000000</c:v>
                </c:pt>
              </c:numCache>
            </c:numRef>
          </c:yVal>
          <c:smooth val="0"/>
        </c:ser>
        <c:axId val="2094734552"/>
        <c:axId val="2094734553"/>
      </c:scatterChart>
      <c:val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b="0" i="0" strike="noStrike" sz="2000" u="none">
                <a:solidFill>
                  <a:srgbClr val="000000"/>
                </a:solidFill>
                <a:latin typeface="Helvetica Light"/>
              </a:defRPr>
            </a:pPr>
          </a:p>
        </c:txPr>
        <c:crossAx val="2094734553"/>
        <c:crosses val="autoZero"/>
        <c:crossBetween val="between"/>
        <c:majorUnit val="1.75"/>
        <c:minorUnit val="0.875"/>
      </c:valAx>
      <c:valAx>
        <c:axId val="2094734553"/>
        <c:scaling>
          <c:orientation val="minMax"/>
          <c:max val="100"/>
          <c:min val="50"/>
        </c:scaling>
        <c:delete val="0"/>
        <c:axPos val="l"/>
        <c:majorGridlines>
          <c:spPr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c:spPr>
        </c:majorGridlines>
        <c:title>
          <c:tx>
            <c:rich>
              <a:bodyPr rot="-5400000"/>
              <a:lstStyle/>
              <a:p>
                <a:pPr>
                  <a:defRPr b="0" i="0" strike="noStrike" sz="2400" u="none">
                    <a:solidFill>
                      <a:srgbClr val="000000"/>
                    </a:solidFill>
                    <a:latin typeface="Helvetica Light"/>
                  </a:defRPr>
                </a:pPr>
                <a:r>
                  <a:rPr b="0" i="0" strike="noStrike" sz="2400" u="none">
                    <a:solidFill>
                      <a:srgbClr val="000000"/>
                    </a:solidFill>
                    <a:latin typeface="Helvetica Light"/>
                  </a:rPr>
                  <a:t>Test Performance</a:t>
                </a:r>
              </a:p>
            </c:rich>
          </c:tx>
          <c:layout/>
          <c:overlay val="1"/>
        </c:title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 b="0" i="0" strike="noStrike" sz="2000" u="none">
                <a:solidFill>
                  <a:srgbClr val="000000"/>
                </a:solidFill>
                <a:latin typeface="Helvetica Light"/>
              </a:defRPr>
            </a:pPr>
          </a:p>
        </c:txPr>
        <c:crossAx val="2094734552"/>
        <c:crosses val="autoZero"/>
        <c:crossBetween val="between"/>
        <c:majorUnit val="12.5"/>
        <c:minorUnit val="6.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236005"/>
          <c:y val="0.0931994"/>
          <c:w val="0.741851"/>
          <c:h val="0.768093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May</c:v>
                </c:pt>
              </c:strCache>
            </c:strRef>
          </c:tx>
          <c:spPr>
            <a:solidFill>
              <a:srgbClr val="FFFFFF"/>
            </a:solidFill>
            <a:ln w="12700" cap="flat">
              <a:noFill/>
              <a:prstDash val="solid"/>
              <a:miter lim="400000"/>
            </a:ln>
            <a:effectLst/>
          </c:spPr>
          <c:marker>
            <c:symbol val="triangle"/>
            <c:size val="12"/>
            <c:spPr>
              <a:solidFill>
                <a:srgbClr val="FFFFFF"/>
              </a:solidFill>
              <a:ln w="38100" cap="flat">
                <a:solidFill>
                  <a:schemeClr val="accent2"/>
                </a:solidFill>
                <a:prstDash val="solid"/>
                <a:miter lim="400000"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2600" u="none">
                    <a:solidFill>
                      <a:srgbClr val="000000"/>
                    </a:solidFill>
                    <a:effectLst>
                      <a:outerShdw sx="100000" sy="100000" kx="0" ky="0" algn="tl" rotWithShape="1" blurRad="127000" dist="25433" dir="5400000">
                        <a:srgbClr val="000000">
                          <a:alpha val="60000"/>
                        </a:srgbClr>
                      </a:outerShdw>
                    </a:effectLst>
                    <a:latin typeface="Helvetica Light"/>
                  </a:defRPr>
                </a:pPr>
              </a:p>
            </c:txPr>
            <c:dLblPos val="b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Sheet1!$B$2:$B$15</c:f>
              <c:numCache>
                <c:ptCount val="7"/>
                <c:pt idx="1">
                  <c:v>2.000000</c:v>
                </c:pt>
                <c:pt idx="3">
                  <c:v>3.000000</c:v>
                </c:pt>
                <c:pt idx="5">
                  <c:v>4.000000</c:v>
                </c:pt>
                <c:pt idx="7">
                  <c:v>4.000000</c:v>
                </c:pt>
                <c:pt idx="9">
                  <c:v>5.000000</c:v>
                </c:pt>
                <c:pt idx="11">
                  <c:v>6.000000</c:v>
                </c:pt>
                <c:pt idx="13">
                  <c:v>7.000000</c:v>
                </c:pt>
              </c:numCache>
            </c:numRef>
          </c:xVal>
          <c:yVal>
            <c:numRef>
              <c:f>Sheet1!$C$2:$C$15</c:f>
              <c:numCache>
                <c:ptCount val="8"/>
                <c:pt idx="1">
                  <c:v>71.000000</c:v>
                </c:pt>
                <c:pt idx="2">
                  <c:v>1.000000</c:v>
                </c:pt>
                <c:pt idx="3">
                  <c:v>70.000000</c:v>
                </c:pt>
                <c:pt idx="5">
                  <c:v>78.000000</c:v>
                </c:pt>
                <c:pt idx="7">
                  <c:v>67.000000</c:v>
                </c:pt>
                <c:pt idx="9">
                  <c:v>85.000000</c:v>
                </c:pt>
                <c:pt idx="11">
                  <c:v>92.000000</c:v>
                </c:pt>
                <c:pt idx="13">
                  <c:v>95.000000</c:v>
                </c:pt>
              </c:numCache>
            </c:numRef>
          </c:yVal>
          <c:smooth val="0"/>
        </c:ser>
        <c:axId val="2094734552"/>
        <c:axId val="2094734553"/>
      </c:scatterChart>
      <c:val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b="0" i="0" strike="noStrike" sz="2000" u="none">
                <a:solidFill>
                  <a:srgbClr val="000000"/>
                </a:solidFill>
                <a:latin typeface="Helvetica Light"/>
              </a:defRPr>
            </a:pPr>
          </a:p>
        </c:txPr>
        <c:crossAx val="2094734553"/>
        <c:crosses val="autoZero"/>
        <c:crossBetween val="between"/>
        <c:majorUnit val="1.75"/>
        <c:minorUnit val="0.875"/>
      </c:valAx>
      <c:valAx>
        <c:axId val="2094734553"/>
        <c:scaling>
          <c:orientation val="minMax"/>
          <c:max val="100"/>
          <c:min val="50"/>
        </c:scaling>
        <c:delete val="0"/>
        <c:axPos val="l"/>
        <c:majorGridlines>
          <c:spPr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c:spPr>
        </c:majorGridlines>
        <c:title>
          <c:tx>
            <c:rich>
              <a:bodyPr rot="-5400000"/>
              <a:lstStyle/>
              <a:p>
                <a:pPr>
                  <a:defRPr b="0" i="0" strike="noStrike" sz="2400" u="none">
                    <a:solidFill>
                      <a:srgbClr val="000000"/>
                    </a:solidFill>
                    <a:latin typeface="Helvetica Light"/>
                  </a:defRPr>
                </a:pPr>
                <a:r>
                  <a:rPr b="0" i="0" strike="noStrike" sz="2400" u="none">
                    <a:solidFill>
                      <a:srgbClr val="000000"/>
                    </a:solidFill>
                    <a:latin typeface="Helvetica Light"/>
                  </a:rPr>
                  <a:t>Test Performance</a:t>
                </a:r>
              </a:p>
            </c:rich>
          </c:tx>
          <c:layout/>
          <c:overlay val="1"/>
        </c:title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 b="0" i="0" strike="noStrike" sz="2000" u="none">
                <a:solidFill>
                  <a:srgbClr val="000000"/>
                </a:solidFill>
                <a:latin typeface="Helvetica Light"/>
              </a:defRPr>
            </a:pPr>
          </a:p>
        </c:txPr>
        <c:crossAx val="2094734552"/>
        <c:crosses val="autoZero"/>
        <c:crossBetween val="between"/>
        <c:majorUnit val="12.5"/>
        <c:minorUnit val="6.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358438"/>
          <c:y val="0.120262"/>
          <c:w val="0.615738"/>
          <c:h val="0.70438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May</c:v>
                </c:pt>
              </c:strCache>
            </c:strRef>
          </c:tx>
          <c:spPr>
            <a:solidFill>
              <a:srgbClr val="FFFFFF"/>
            </a:solidFill>
            <a:ln w="12700" cap="flat">
              <a:noFill/>
              <a:prstDash val="solid"/>
              <a:miter lim="400000"/>
            </a:ln>
            <a:effectLst/>
          </c:spPr>
          <c:marker>
            <c:symbol val="circle"/>
            <c:size val="12"/>
            <c:spPr>
              <a:solidFill>
                <a:srgbClr val="FFFFFF"/>
              </a:solidFill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2600" u="none">
                    <a:solidFill>
                      <a:srgbClr val="000000"/>
                    </a:solidFill>
                    <a:effectLst>
                      <a:outerShdw sx="100000" sy="100000" kx="0" ky="0" algn="tl" rotWithShape="1" blurRad="127000" dist="25433" dir="5400000">
                        <a:srgbClr val="000000">
                          <a:alpha val="60000"/>
                        </a:srgbClr>
                      </a:outerShdw>
                    </a:effectLst>
                    <a:latin typeface="Helvetica Light"/>
                  </a:defRPr>
                </a:pPr>
              </a:p>
            </c:txPr>
            <c:dLblPos val="b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Sheet1!$B$2:$B$15</c:f>
              <c:numCache>
                <c:ptCount val="7"/>
                <c:pt idx="0">
                  <c:v>2.000000</c:v>
                </c:pt>
                <c:pt idx="2">
                  <c:v>2.000000</c:v>
                </c:pt>
                <c:pt idx="4">
                  <c:v>4.000000</c:v>
                </c:pt>
                <c:pt idx="6">
                  <c:v>4.000000</c:v>
                </c:pt>
                <c:pt idx="8">
                  <c:v>5.000000</c:v>
                </c:pt>
                <c:pt idx="10">
                  <c:v>6.000000</c:v>
                </c:pt>
                <c:pt idx="12">
                  <c:v>7.000000</c:v>
                </c:pt>
              </c:numCache>
            </c:numRef>
          </c:xVal>
          <c:yVal>
            <c:numRef>
              <c:f>Sheet1!$C$2:$C$15</c:f>
              <c:numCache>
                <c:ptCount val="7"/>
                <c:pt idx="0">
                  <c:v>64.000000</c:v>
                </c:pt>
                <c:pt idx="2">
                  <c:v>66.000000</c:v>
                </c:pt>
                <c:pt idx="4">
                  <c:v>73.000000</c:v>
                </c:pt>
                <c:pt idx="6">
                  <c:v>70.000000</c:v>
                </c:pt>
                <c:pt idx="8">
                  <c:v>77.000000</c:v>
                </c:pt>
                <c:pt idx="10">
                  <c:v>87.000000</c:v>
                </c:pt>
                <c:pt idx="12">
                  <c:v>88.000000</c:v>
                </c:pt>
              </c:numCache>
            </c:numRef>
          </c:yVal>
          <c:smooth val="0"/>
        </c:ser>
        <c:axId val="2094734552"/>
        <c:axId val="2094734553"/>
      </c:scatterChart>
      <c:val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b="0" i="0" strike="noStrike" sz="2000" u="none">
                <a:solidFill>
                  <a:srgbClr val="000000"/>
                </a:solidFill>
                <a:latin typeface="Helvetica Light"/>
              </a:defRPr>
            </a:pPr>
          </a:p>
        </c:txPr>
        <c:crossAx val="2094734553"/>
        <c:crosses val="autoZero"/>
        <c:crossBetween val="between"/>
        <c:majorUnit val="1.75"/>
        <c:minorUnit val="0.875"/>
      </c:valAx>
      <c:valAx>
        <c:axId val="2094734553"/>
        <c:scaling>
          <c:orientation val="minMax"/>
          <c:max val="100"/>
          <c:min val="50"/>
        </c:scaling>
        <c:delete val="0"/>
        <c:axPos val="l"/>
        <c:majorGridlines>
          <c:spPr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c:spPr>
        </c:majorGridlines>
        <c:title>
          <c:tx>
            <c:rich>
              <a:bodyPr rot="-5400000"/>
              <a:lstStyle/>
              <a:p>
                <a:pPr>
                  <a:defRPr b="0" i="0" strike="noStrike" sz="2400" u="none">
                    <a:solidFill>
                      <a:srgbClr val="000000"/>
                    </a:solidFill>
                    <a:latin typeface="Helvetica Light"/>
                  </a:defRPr>
                </a:pPr>
                <a:r>
                  <a:rPr b="0" i="0" strike="noStrike" sz="2400" u="none">
                    <a:solidFill>
                      <a:srgbClr val="000000"/>
                    </a:solidFill>
                    <a:latin typeface="Helvetica Light"/>
                  </a:rPr>
                  <a:t>Test Performance</a:t>
                </a:r>
              </a:p>
            </c:rich>
          </c:tx>
          <c:layout/>
          <c:overlay val="1"/>
        </c:title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 b="0" i="0" strike="noStrike" sz="2000" u="none">
                <a:solidFill>
                  <a:srgbClr val="000000"/>
                </a:solidFill>
                <a:latin typeface="Helvetica Light"/>
              </a:defRPr>
            </a:pPr>
          </a:p>
        </c:txPr>
        <c:crossAx val="2094734552"/>
        <c:crosses val="autoZero"/>
        <c:crossBetween val="between"/>
        <c:majorUnit val="12.5"/>
        <c:minorUnit val="6.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358438"/>
          <c:y val="0.120262"/>
          <c:w val="0.615738"/>
          <c:h val="0.70438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May</c:v>
                </c:pt>
              </c:strCache>
            </c:strRef>
          </c:tx>
          <c:spPr>
            <a:solidFill>
              <a:srgbClr val="FFFFFF"/>
            </a:solidFill>
            <a:ln w="12700" cap="flat">
              <a:noFill/>
              <a:prstDash val="solid"/>
              <a:miter lim="400000"/>
            </a:ln>
            <a:effectLst/>
          </c:spPr>
          <c:marker>
            <c:symbol val="triangle"/>
            <c:size val="12"/>
            <c:spPr>
              <a:solidFill>
                <a:srgbClr val="FFFFFF"/>
              </a:solidFill>
              <a:ln w="38100" cap="flat">
                <a:solidFill>
                  <a:schemeClr val="accent2"/>
                </a:solidFill>
                <a:prstDash val="solid"/>
                <a:miter lim="400000"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2600" u="none">
                    <a:solidFill>
                      <a:srgbClr val="000000"/>
                    </a:solidFill>
                    <a:effectLst>
                      <a:outerShdw sx="100000" sy="100000" kx="0" ky="0" algn="tl" rotWithShape="1" blurRad="127000" dist="25433" dir="5400000">
                        <a:srgbClr val="000000">
                          <a:alpha val="60000"/>
                        </a:srgbClr>
                      </a:outerShdw>
                    </a:effectLst>
                    <a:latin typeface="Helvetica Light"/>
                  </a:defRPr>
                </a:pPr>
              </a:p>
            </c:txPr>
            <c:dLblPos val="b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Sheet1!$B$2:$B$15</c:f>
              <c:numCache>
                <c:ptCount val="7"/>
                <c:pt idx="1">
                  <c:v>2.000000</c:v>
                </c:pt>
                <c:pt idx="3">
                  <c:v>3.000000</c:v>
                </c:pt>
                <c:pt idx="5">
                  <c:v>4.000000</c:v>
                </c:pt>
                <c:pt idx="7">
                  <c:v>4.000000</c:v>
                </c:pt>
                <c:pt idx="9">
                  <c:v>5.000000</c:v>
                </c:pt>
                <c:pt idx="11">
                  <c:v>6.000000</c:v>
                </c:pt>
                <c:pt idx="13">
                  <c:v>7.000000</c:v>
                </c:pt>
              </c:numCache>
            </c:numRef>
          </c:xVal>
          <c:yVal>
            <c:numRef>
              <c:f>Sheet1!$C$2:$C$15</c:f>
              <c:numCache>
                <c:ptCount val="8"/>
                <c:pt idx="1">
                  <c:v>71.000000</c:v>
                </c:pt>
                <c:pt idx="2">
                  <c:v>1.000000</c:v>
                </c:pt>
                <c:pt idx="3">
                  <c:v>70.000000</c:v>
                </c:pt>
                <c:pt idx="5">
                  <c:v>78.000000</c:v>
                </c:pt>
                <c:pt idx="7">
                  <c:v>67.000000</c:v>
                </c:pt>
                <c:pt idx="9">
                  <c:v>85.000000</c:v>
                </c:pt>
                <c:pt idx="11">
                  <c:v>92.000000</c:v>
                </c:pt>
                <c:pt idx="13">
                  <c:v>95.000000</c:v>
                </c:pt>
              </c:numCache>
            </c:numRef>
          </c:yVal>
          <c:smooth val="0"/>
        </c:ser>
        <c:axId val="2094734552"/>
        <c:axId val="2094734553"/>
      </c:scatterChart>
      <c:val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b="0" i="0" strike="noStrike" sz="2000" u="none">
                <a:solidFill>
                  <a:srgbClr val="000000"/>
                </a:solidFill>
                <a:latin typeface="Helvetica Light"/>
              </a:defRPr>
            </a:pPr>
          </a:p>
        </c:txPr>
        <c:crossAx val="2094734553"/>
        <c:crosses val="autoZero"/>
        <c:crossBetween val="between"/>
        <c:majorUnit val="1.75"/>
        <c:minorUnit val="0.875"/>
      </c:valAx>
      <c:valAx>
        <c:axId val="2094734553"/>
        <c:scaling>
          <c:orientation val="minMax"/>
          <c:max val="100"/>
          <c:min val="50"/>
        </c:scaling>
        <c:delete val="0"/>
        <c:axPos val="l"/>
        <c:majorGridlines>
          <c:spPr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c:spPr>
        </c:majorGridlines>
        <c:title>
          <c:tx>
            <c:rich>
              <a:bodyPr rot="-5400000"/>
              <a:lstStyle/>
              <a:p>
                <a:pPr>
                  <a:defRPr b="0" i="0" strike="noStrike" sz="2400" u="none">
                    <a:solidFill>
                      <a:srgbClr val="000000"/>
                    </a:solidFill>
                    <a:latin typeface="Helvetica Light"/>
                  </a:defRPr>
                </a:pPr>
                <a:r>
                  <a:rPr b="0" i="0" strike="noStrike" sz="2400" u="none">
                    <a:solidFill>
                      <a:srgbClr val="000000"/>
                    </a:solidFill>
                    <a:latin typeface="Helvetica Light"/>
                  </a:rPr>
                  <a:t>Test Performance</a:t>
                </a:r>
              </a:p>
            </c:rich>
          </c:tx>
          <c:layout/>
          <c:overlay val="1"/>
        </c:title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 b="0" i="0" strike="noStrike" sz="2000" u="none">
                <a:solidFill>
                  <a:srgbClr val="000000"/>
                </a:solidFill>
                <a:latin typeface="Helvetica Light"/>
              </a:defRPr>
            </a:pPr>
          </a:p>
        </c:txPr>
        <c:crossAx val="2094734552"/>
        <c:crosses val="autoZero"/>
        <c:crossBetween val="between"/>
        <c:majorUnit val="12.5"/>
        <c:minorUnit val="6.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339485"/>
          <c:y val="0.120262"/>
          <c:w val="0.633928"/>
          <c:h val="0.70438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May</c:v>
                </c:pt>
              </c:strCache>
            </c:strRef>
          </c:tx>
          <c:spPr>
            <a:solidFill>
              <a:srgbClr val="FFFFFF"/>
            </a:solidFill>
            <a:ln w="12700" cap="flat">
              <a:noFill/>
              <a:prstDash val="solid"/>
              <a:miter lim="400000"/>
            </a:ln>
            <a:effectLst/>
          </c:spPr>
          <c:marker>
            <c:symbol val="circle"/>
            <c:size val="12"/>
            <c:spPr>
              <a:solidFill>
                <a:srgbClr val="FFFFFF"/>
              </a:solidFill>
              <a:ln w="38100" cap="flat">
                <a:solidFill>
                  <a:srgbClr val="12AB42">
                    <a:alpha val="90000"/>
                  </a:srgbClr>
                </a:solidFill>
                <a:prstDash val="solid"/>
                <a:miter lim="400000"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2600" u="none">
                    <a:solidFill>
                      <a:srgbClr val="000000"/>
                    </a:solidFill>
                    <a:effectLst>
                      <a:outerShdw sx="100000" sy="100000" kx="0" ky="0" algn="tl" rotWithShape="1" blurRad="127000" dist="45484" dir="5400000">
                        <a:srgbClr val="000000">
                          <a:alpha val="60000"/>
                        </a:srgbClr>
                      </a:outerShdw>
                    </a:effectLst>
                    <a:latin typeface="Helvetica Light"/>
                  </a:defRPr>
                </a:pPr>
              </a:p>
            </c:txPr>
            <c:dLblPos val="b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Sheet1!$B$2:$B$15</c:f>
              <c:numCache>
                <c:ptCount val="7"/>
                <c:pt idx="0">
                  <c:v>2.000000</c:v>
                </c:pt>
                <c:pt idx="2">
                  <c:v>2.000000</c:v>
                </c:pt>
                <c:pt idx="4">
                  <c:v>4.000000</c:v>
                </c:pt>
                <c:pt idx="6">
                  <c:v>4.000000</c:v>
                </c:pt>
                <c:pt idx="8">
                  <c:v>5.000000</c:v>
                </c:pt>
                <c:pt idx="10">
                  <c:v>6.000000</c:v>
                </c:pt>
                <c:pt idx="12">
                  <c:v>7.000000</c:v>
                </c:pt>
              </c:numCache>
            </c:numRef>
          </c:xVal>
          <c:yVal>
            <c:numRef>
              <c:f>Sheet1!$C$2:$C$15</c:f>
              <c:numCache>
                <c:ptCount val="7"/>
                <c:pt idx="0">
                  <c:v>64.000000</c:v>
                </c:pt>
                <c:pt idx="2">
                  <c:v>66.000000</c:v>
                </c:pt>
                <c:pt idx="4">
                  <c:v>73.000000</c:v>
                </c:pt>
                <c:pt idx="6">
                  <c:v>70.000000</c:v>
                </c:pt>
                <c:pt idx="8">
                  <c:v>77.000000</c:v>
                </c:pt>
                <c:pt idx="10">
                  <c:v>87.000000</c:v>
                </c:pt>
                <c:pt idx="12">
                  <c:v>88.000000</c:v>
                </c:pt>
              </c:numCache>
            </c:numRef>
          </c:yVal>
          <c:smooth val="0"/>
        </c:ser>
        <c:axId val="2094734552"/>
        <c:axId val="2094734553"/>
      </c:scatterChart>
      <c:val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b="0" i="0" strike="noStrike" sz="2000" u="none">
                <a:solidFill>
                  <a:srgbClr val="000000"/>
                </a:solidFill>
                <a:latin typeface="Helvetica Light"/>
              </a:defRPr>
            </a:pPr>
          </a:p>
        </c:txPr>
        <c:crossAx val="2094734553"/>
        <c:crosses val="autoZero"/>
        <c:crossBetween val="between"/>
        <c:majorUnit val="1.75"/>
        <c:minorUnit val="0.875"/>
      </c:valAx>
      <c:valAx>
        <c:axId val="2094734553"/>
        <c:scaling>
          <c:orientation val="minMax"/>
          <c:max val="100"/>
          <c:min val="50"/>
        </c:scaling>
        <c:delete val="0"/>
        <c:axPos val="l"/>
        <c:majorGridlines>
          <c:spPr>
            <a:ln w="12700" cap="flat">
              <a:solidFill>
                <a:srgbClr val="B8B8B8"/>
              </a:solidFill>
              <a:prstDash val="solid"/>
              <a:miter lim="400000"/>
            </a:ln>
          </c:spPr>
        </c:majorGridlines>
        <c:title>
          <c:tx>
            <c:rich>
              <a:bodyPr rot="-5400000"/>
              <a:lstStyle/>
              <a:p>
                <a:pPr>
                  <a:defRPr b="0" i="0" strike="noStrike" sz="2000" u="none">
                    <a:solidFill>
                      <a:srgbClr val="000000"/>
                    </a:solidFill>
                    <a:latin typeface="Helvetica Light"/>
                  </a:defRPr>
                </a:pPr>
                <a:r>
                  <a:rPr b="0" i="0" strike="noStrike" sz="2000" u="none">
                    <a:solidFill>
                      <a:srgbClr val="000000"/>
                    </a:solidFill>
                    <a:latin typeface="Helvetica Light"/>
                  </a:rPr>
                  <a:t>Test Performance</a:t>
                </a:r>
              </a:p>
            </c:rich>
          </c:tx>
          <c:layout/>
          <c:overlay val="1"/>
        </c:title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 b="0" i="0" strike="noStrike" sz="2000" u="none">
                <a:solidFill>
                  <a:srgbClr val="000000"/>
                </a:solidFill>
                <a:latin typeface="Helvetica Light"/>
              </a:defRPr>
            </a:pPr>
          </a:p>
        </c:txPr>
        <c:crossAx val="2094734552"/>
        <c:crosses val="autoZero"/>
        <c:crossBetween val="between"/>
        <c:majorUnit val="12.5"/>
        <c:minorUnit val="6.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358438"/>
          <c:y val="0.120262"/>
          <c:w val="0.615738"/>
          <c:h val="0.70438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May</c:v>
                </c:pt>
              </c:strCache>
            </c:strRef>
          </c:tx>
          <c:spPr>
            <a:solidFill>
              <a:srgbClr val="FFFFFF"/>
            </a:solidFill>
            <a:ln w="12700" cap="flat">
              <a:noFill/>
              <a:prstDash val="solid"/>
              <a:miter lim="400000"/>
            </a:ln>
            <a:effectLst/>
          </c:spPr>
          <c:marker>
            <c:symbol val="triangle"/>
            <c:size val="12"/>
            <c:spPr>
              <a:solidFill>
                <a:srgbClr val="FFFFFF"/>
              </a:solidFill>
              <a:ln w="38100" cap="flat">
                <a:solidFill>
                  <a:schemeClr val="accent2"/>
                </a:solidFill>
                <a:prstDash val="solid"/>
                <a:miter lim="400000"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2600" u="none">
                    <a:solidFill>
                      <a:srgbClr val="000000"/>
                    </a:solidFill>
                    <a:effectLst>
                      <a:outerShdw sx="100000" sy="100000" kx="0" ky="0" algn="tl" rotWithShape="1" blurRad="127000" dist="25433" dir="5400000">
                        <a:srgbClr val="000000">
                          <a:alpha val="60000"/>
                        </a:srgbClr>
                      </a:outerShdw>
                    </a:effectLst>
                    <a:latin typeface="Helvetica Light"/>
                  </a:defRPr>
                </a:pPr>
              </a:p>
            </c:txPr>
            <c:dLblPos val="b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Sheet1!$B$2:$B$15</c:f>
              <c:numCache>
                <c:ptCount val="7"/>
                <c:pt idx="1">
                  <c:v>2.000000</c:v>
                </c:pt>
                <c:pt idx="3">
                  <c:v>3.000000</c:v>
                </c:pt>
                <c:pt idx="5">
                  <c:v>4.000000</c:v>
                </c:pt>
                <c:pt idx="7">
                  <c:v>4.000000</c:v>
                </c:pt>
                <c:pt idx="9">
                  <c:v>5.000000</c:v>
                </c:pt>
                <c:pt idx="11">
                  <c:v>6.000000</c:v>
                </c:pt>
                <c:pt idx="13">
                  <c:v>7.000000</c:v>
                </c:pt>
              </c:numCache>
            </c:numRef>
          </c:xVal>
          <c:yVal>
            <c:numRef>
              <c:f>Sheet1!$C$2:$C$15</c:f>
              <c:numCache>
                <c:ptCount val="8"/>
                <c:pt idx="1">
                  <c:v>71.000000</c:v>
                </c:pt>
                <c:pt idx="2">
                  <c:v>1.000000</c:v>
                </c:pt>
                <c:pt idx="3">
                  <c:v>70.000000</c:v>
                </c:pt>
                <c:pt idx="5">
                  <c:v>78.000000</c:v>
                </c:pt>
                <c:pt idx="7">
                  <c:v>67.000000</c:v>
                </c:pt>
                <c:pt idx="9">
                  <c:v>85.000000</c:v>
                </c:pt>
                <c:pt idx="11">
                  <c:v>92.000000</c:v>
                </c:pt>
                <c:pt idx="13">
                  <c:v>95.000000</c:v>
                </c:pt>
              </c:numCache>
            </c:numRef>
          </c:yVal>
          <c:smooth val="0"/>
        </c:ser>
        <c:axId val="2094734552"/>
        <c:axId val="2094734553"/>
      </c:scatterChart>
      <c:val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b="0" i="0" strike="noStrike" sz="2000" u="none">
                <a:solidFill>
                  <a:srgbClr val="000000"/>
                </a:solidFill>
                <a:latin typeface="Helvetica Light"/>
              </a:defRPr>
            </a:pPr>
          </a:p>
        </c:txPr>
        <c:crossAx val="2094734553"/>
        <c:crosses val="autoZero"/>
        <c:crossBetween val="between"/>
        <c:majorUnit val="1.75"/>
        <c:minorUnit val="0.875"/>
      </c:valAx>
      <c:valAx>
        <c:axId val="2094734553"/>
        <c:scaling>
          <c:orientation val="minMax"/>
          <c:max val="100"/>
          <c:min val="50"/>
        </c:scaling>
        <c:delete val="0"/>
        <c:axPos val="l"/>
        <c:majorGridlines>
          <c:spPr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c:spPr>
        </c:majorGridlines>
        <c:title>
          <c:tx>
            <c:rich>
              <a:bodyPr rot="-5400000"/>
              <a:lstStyle/>
              <a:p>
                <a:pPr>
                  <a:defRPr b="0" i="0" strike="noStrike" sz="2400" u="none">
                    <a:solidFill>
                      <a:srgbClr val="000000"/>
                    </a:solidFill>
                    <a:latin typeface="Helvetica Light"/>
                  </a:defRPr>
                </a:pPr>
                <a:r>
                  <a:rPr b="0" i="0" strike="noStrike" sz="2400" u="none">
                    <a:solidFill>
                      <a:srgbClr val="000000"/>
                    </a:solidFill>
                    <a:latin typeface="Helvetica Light"/>
                  </a:rPr>
                  <a:t>Test Performance</a:t>
                </a:r>
              </a:p>
            </c:rich>
          </c:tx>
          <c:layout/>
          <c:overlay val="1"/>
        </c:title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 b="0" i="0" strike="noStrike" sz="2000" u="none">
                <a:solidFill>
                  <a:srgbClr val="000000"/>
                </a:solidFill>
                <a:latin typeface="Helvetica Light"/>
              </a:defRPr>
            </a:pPr>
          </a:p>
        </c:txPr>
        <c:crossAx val="2094734552"/>
        <c:crosses val="autoZero"/>
        <c:crossBetween val="between"/>
        <c:majorUnit val="12.5"/>
        <c:minorUnit val="6.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1" name="Shape 91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tif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Text"/>
          <p:cNvSpPr txBox="1"/>
          <p:nvPr>
            <p:ph type="title"/>
          </p:nvPr>
        </p:nvSpPr>
        <p:spPr>
          <a:xfrm>
            <a:off x="-38100" y="-38100"/>
            <a:ext cx="13081000" cy="4952455"/>
          </a:xfrm>
          <a:prstGeom prst="rect">
            <a:avLst/>
          </a:prstGeom>
          <a:solidFill>
            <a:schemeClr val="accent5">
              <a:hueOff val="-176146"/>
              <a:satOff val="3665"/>
              <a:lumOff val="-13986"/>
              <a:alpha val="90000"/>
            </a:schemeClr>
          </a:solidFill>
        </p:spPr>
        <p:txBody>
          <a:bodyPr anchor="b"/>
          <a:lstStyle>
            <a:lvl1pPr algn="ctr">
              <a:defRPr sz="8000"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3" name="Adam Pah"/>
          <p:cNvSpPr txBox="1"/>
          <p:nvPr/>
        </p:nvSpPr>
        <p:spPr>
          <a:xfrm>
            <a:off x="137388" y="8756650"/>
            <a:ext cx="2248511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Adam Pah</a:t>
            </a:r>
          </a:p>
        </p:txBody>
      </p:sp>
      <p:pic>
        <p:nvPicPr>
          <p:cNvPr id="14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509202" y="-2034"/>
            <a:ext cx="508001" cy="5080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Image"/>
          <p:cNvSpPr/>
          <p:nvPr>
            <p:ph type="pic" idx="21"/>
          </p:nvPr>
        </p:nvSpPr>
        <p:spPr>
          <a:xfrm>
            <a:off x="1606550" y="635000"/>
            <a:ext cx="9779000" cy="652272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3" name="Title Text"/>
          <p:cNvSpPr txBox="1"/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4" name="Body Level One…"/>
          <p:cNvSpPr txBox="1"/>
          <p:nvPr>
            <p:ph type="body" sz="quarter" idx="1"/>
          </p:nvPr>
        </p:nvSpPr>
        <p:spPr>
          <a:xfrm>
            <a:off x="1270000" y="81915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Text"/>
          <p:cNvSpPr txBox="1"/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Image"/>
          <p:cNvSpPr/>
          <p:nvPr>
            <p:ph type="pic" idx="21"/>
          </p:nvPr>
        </p:nvSpPr>
        <p:spPr>
          <a:xfrm>
            <a:off x="2717800" y="635000"/>
            <a:ext cx="12357100" cy="823806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41" name="Title Text"/>
          <p:cNvSpPr txBox="1"/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"/>
          <p:cNvSpPr/>
          <p:nvPr/>
        </p:nvSpPr>
        <p:spPr>
          <a:xfrm>
            <a:off x="0" y="0"/>
            <a:ext cx="13004800" cy="17018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57" name="Title Text"/>
          <p:cNvSpPr txBox="1"/>
          <p:nvPr>
            <p:ph type="title"/>
          </p:nvPr>
        </p:nvSpPr>
        <p:spPr>
          <a:xfrm>
            <a:off x="6146403" y="151507"/>
            <a:ext cx="6680597" cy="1398786"/>
          </a:xfrm>
          <a:prstGeom prst="rect">
            <a:avLst/>
          </a:prstGeom>
        </p:spPr>
        <p:txBody>
          <a:bodyPr/>
          <a:lstStyle>
            <a:lvl1pPr algn="r">
              <a:defRPr b="1" sz="42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8" name="Body Level One…"/>
          <p:cNvSpPr txBox="1"/>
          <p:nvPr>
            <p:ph type="body" idx="1"/>
          </p:nvPr>
        </p:nvSpPr>
        <p:spPr>
          <a:xfrm>
            <a:off x="952500" y="2616200"/>
            <a:ext cx="11099800" cy="62738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Image"/>
          <p:cNvSpPr/>
          <p:nvPr>
            <p:ph type="pic" idx="21"/>
          </p:nvPr>
        </p:nvSpPr>
        <p:spPr>
          <a:xfrm>
            <a:off x="4533900" y="2603500"/>
            <a:ext cx="9429750" cy="6286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7" name="Body Level One…"/>
          <p:cNvSpPr txBox="1"/>
          <p:nvPr>
            <p:ph type="body" sz="half" idx="1"/>
          </p:nvPr>
        </p:nvSpPr>
        <p:spPr>
          <a:xfrm>
            <a:off x="952500" y="26035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–Johnny Appleseed"/>
          <p:cNvSpPr/>
          <p:nvPr>
            <p:ph type="body" sz="quarter" idx="21"/>
          </p:nvPr>
        </p:nvSpPr>
        <p:spPr>
          <a:xfrm>
            <a:off x="1270000" y="6362700"/>
            <a:ext cx="10464800" cy="4699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4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–Johnny Appleseed</a:t>
            </a:r>
          </a:p>
        </p:txBody>
      </p:sp>
      <p:sp>
        <p:nvSpPr>
          <p:cNvPr id="76" name="“Type a quote here.”"/>
          <p:cNvSpPr/>
          <p:nvPr>
            <p:ph type="body" sz="quarter" idx="22"/>
          </p:nvPr>
        </p:nvSpPr>
        <p:spPr>
          <a:xfrm>
            <a:off x="1270000" y="4267200"/>
            <a:ext cx="10464800" cy="6858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800"/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7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/>
        </p:nvSpPr>
        <p:spPr>
          <a:xfrm>
            <a:off x="6146403" y="151507"/>
            <a:ext cx="6680597" cy="13987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algn="r">
              <a:defRPr b="1" sz="42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" name="Slide Number"/>
          <p:cNvSpPr txBox="1"/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800"/>
            </a:lvl1pPr>
          </a:lstStyle>
          <a:p>
            <a:pPr/>
            <a:fld id="{86CB4B4D-7CA3-9044-876B-883B54F8677D}" type="slidenum"/>
          </a:p>
        </p:txBody>
      </p:sp>
      <p:sp>
        <p:nvSpPr>
          <p:cNvPr id="4" name="Title Text"/>
          <p:cNvSpPr txBox="1"/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5" name="Body Level One…"/>
          <p:cNvSpPr txBox="1"/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2.tif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hyperlink" Target="http://scott.fortmann-roe.com/docs/BiasVariance.html" TargetMode="Externa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2.xml"/><Relationship Id="rId3" Type="http://schemas.openxmlformats.org/officeDocument/2006/relationships/chart" Target="../charts/chart13.xml"/><Relationship Id="rId4" Type="http://schemas.openxmlformats.org/officeDocument/2006/relationships/chart" Target="../charts/chart14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5.xml"/><Relationship Id="rId3" Type="http://schemas.openxmlformats.org/officeDocument/2006/relationships/image" Target="../media/image3.tif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e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Mechanics of Model Training"/>
          <p:cNvSpPr txBox="1"/>
          <p:nvPr/>
        </p:nvSpPr>
        <p:spPr>
          <a:xfrm>
            <a:off x="1383448" y="4356100"/>
            <a:ext cx="10237903" cy="104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200"/>
            </a:lvl1pPr>
          </a:lstStyle>
          <a:p>
            <a:pPr/>
            <a:r>
              <a:t>Mechanics of Model Training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Model fitting is algorithm teaching"/>
          <p:cNvSpPr txBox="1"/>
          <p:nvPr/>
        </p:nvSpPr>
        <p:spPr>
          <a:xfrm>
            <a:off x="-108938" y="282310"/>
            <a:ext cx="13222675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/>
            </a:lvl1pPr>
          </a:lstStyle>
          <a:p>
            <a:pPr/>
            <a:r>
              <a:t>Model fitting is algorithm teaching</a:t>
            </a:r>
          </a:p>
        </p:txBody>
      </p:sp>
      <p:pic>
        <p:nvPicPr>
          <p:cNvPr id="96" name="Screen Shot 2017-10-09 at 11.49.07 AM.png" descr="Screen Shot 2017-10-09 at 11.49.07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378200" y="2425700"/>
            <a:ext cx="6248400" cy="4902200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US Population"/>
          <p:cNvSpPr txBox="1"/>
          <p:nvPr/>
        </p:nvSpPr>
        <p:spPr>
          <a:xfrm>
            <a:off x="234411" y="4552950"/>
            <a:ext cx="3010663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US Population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Screen Shot 2017-10-09 at 11.49.07 AM.png" descr="Screen Shot 2017-10-09 at 11.49.07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378200" y="2425700"/>
            <a:ext cx="6248400" cy="4902200"/>
          </a:xfrm>
          <a:prstGeom prst="rect">
            <a:avLst/>
          </a:prstGeom>
          <a:ln w="12700">
            <a:miter lim="400000"/>
          </a:ln>
        </p:spPr>
      </p:pic>
      <p:sp>
        <p:nvSpPr>
          <p:cNvPr id="100" name="US Population"/>
          <p:cNvSpPr txBox="1"/>
          <p:nvPr/>
        </p:nvSpPr>
        <p:spPr>
          <a:xfrm>
            <a:off x="234411" y="4552950"/>
            <a:ext cx="3010663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US Population</a:t>
            </a:r>
          </a:p>
        </p:txBody>
      </p:sp>
      <p:sp>
        <p:nvSpPr>
          <p:cNvPr id="101" name="Line"/>
          <p:cNvSpPr/>
          <p:nvPr/>
        </p:nvSpPr>
        <p:spPr>
          <a:xfrm flipV="1">
            <a:off x="5344858" y="3175302"/>
            <a:ext cx="3774959" cy="3774959"/>
          </a:xfrm>
          <a:prstGeom prst="line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102" name="y=ax + b"/>
          <p:cNvSpPr txBox="1"/>
          <p:nvPr/>
        </p:nvSpPr>
        <p:spPr>
          <a:xfrm>
            <a:off x="5495347" y="1200146"/>
            <a:ext cx="2014106" cy="647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rPr b="1">
                <a:latin typeface="Helvetica"/>
                <a:ea typeface="Helvetica"/>
                <a:cs typeface="Helvetica"/>
                <a:sym typeface="Helvetica"/>
              </a:rPr>
              <a:t>y</a:t>
            </a:r>
            <a:r>
              <a:t>=a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x</a:t>
            </a:r>
            <a:r>
              <a:t> + b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Screen Shot 2017-10-09 at 11.49.07 AM.png" descr="Screen Shot 2017-10-09 at 11.49.07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378200" y="2425700"/>
            <a:ext cx="6248400" cy="4902200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US Population"/>
          <p:cNvSpPr txBox="1"/>
          <p:nvPr/>
        </p:nvSpPr>
        <p:spPr>
          <a:xfrm>
            <a:off x="234411" y="4552950"/>
            <a:ext cx="3010663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US Population</a:t>
            </a:r>
          </a:p>
        </p:txBody>
      </p:sp>
      <p:sp>
        <p:nvSpPr>
          <p:cNvPr id="106" name="y=ax + bx2 + cx3 + dx4 + ex5 + fx6 + g"/>
          <p:cNvSpPr txBox="1"/>
          <p:nvPr/>
        </p:nvSpPr>
        <p:spPr>
          <a:xfrm>
            <a:off x="2442999" y="1193800"/>
            <a:ext cx="8118801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rPr b="1">
                <a:latin typeface="Helvetica"/>
                <a:ea typeface="Helvetica"/>
                <a:cs typeface="Helvetica"/>
                <a:sym typeface="Helvetica"/>
              </a:rPr>
              <a:t>y</a:t>
            </a:r>
            <a:r>
              <a:t>=a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x</a:t>
            </a:r>
            <a:r>
              <a:t> + b</a:t>
            </a:r>
            <a:r>
              <a:rPr b="1" sz="3700">
                <a:latin typeface="Helvetica"/>
                <a:ea typeface="Helvetica"/>
                <a:cs typeface="Helvetica"/>
                <a:sym typeface="Helvetica"/>
              </a:rPr>
              <a:t>x</a:t>
            </a:r>
            <a:r>
              <a:rPr b="1" baseline="31999" sz="3700">
                <a:latin typeface="Helvetica"/>
                <a:ea typeface="Helvetica"/>
                <a:cs typeface="Helvetica"/>
                <a:sym typeface="Helvetica"/>
              </a:rPr>
              <a:t>2</a:t>
            </a:r>
            <a:r>
              <a:t> + c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x</a:t>
            </a:r>
            <a:r>
              <a:rPr b="1" baseline="31999">
                <a:latin typeface="Helvetica"/>
                <a:ea typeface="Helvetica"/>
                <a:cs typeface="Helvetica"/>
                <a:sym typeface="Helvetica"/>
              </a:rPr>
              <a:t>3</a:t>
            </a:r>
            <a:r>
              <a:t> + d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x</a:t>
            </a:r>
            <a:r>
              <a:rPr b="1" baseline="31999">
                <a:latin typeface="Helvetica"/>
                <a:ea typeface="Helvetica"/>
                <a:cs typeface="Helvetica"/>
                <a:sym typeface="Helvetica"/>
              </a:rPr>
              <a:t>4</a:t>
            </a:r>
            <a:r>
              <a:t> + e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x</a:t>
            </a:r>
            <a:r>
              <a:rPr b="1" baseline="31999">
                <a:latin typeface="Helvetica"/>
                <a:ea typeface="Helvetica"/>
                <a:cs typeface="Helvetica"/>
                <a:sym typeface="Helvetica"/>
              </a:rPr>
              <a:t>5</a:t>
            </a:r>
            <a:r>
              <a:t> + f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x</a:t>
            </a:r>
            <a:r>
              <a:rPr b="1" baseline="31999">
                <a:latin typeface="Helvetica"/>
                <a:ea typeface="Helvetica"/>
                <a:cs typeface="Helvetica"/>
                <a:sym typeface="Helvetica"/>
              </a:rPr>
              <a:t>6</a:t>
            </a:r>
            <a:r>
              <a:t> + g</a:t>
            </a:r>
          </a:p>
        </p:txBody>
      </p:sp>
      <p:pic>
        <p:nvPicPr>
          <p:cNvPr id="107" name="Screen Shot 2017-10-09 at 11.57.50 AM.png" descr="Screen Shot 2017-10-09 at 11.57.50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435350" y="2476500"/>
            <a:ext cx="6134100" cy="4800600"/>
          </a:xfrm>
          <a:prstGeom prst="rect">
            <a:avLst/>
          </a:prstGeom>
          <a:ln w="12700">
            <a:miter lim="400000"/>
          </a:ln>
        </p:spPr>
      </p:pic>
      <p:sp>
        <p:nvSpPr>
          <p:cNvPr id="108" name="Much better fit to the data!"/>
          <p:cNvSpPr txBox="1"/>
          <p:nvPr/>
        </p:nvSpPr>
        <p:spPr>
          <a:xfrm>
            <a:off x="3738854" y="8051800"/>
            <a:ext cx="5527092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Much better fit to the data!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08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Screen Shot 2017-10-09 at 11.49.07 AM.png" descr="Screen Shot 2017-10-09 at 11.49.07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378200" y="2425700"/>
            <a:ext cx="6248400" cy="4902200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US Population"/>
          <p:cNvSpPr txBox="1"/>
          <p:nvPr/>
        </p:nvSpPr>
        <p:spPr>
          <a:xfrm>
            <a:off x="234411" y="4552950"/>
            <a:ext cx="3010663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US Population</a:t>
            </a:r>
          </a:p>
        </p:txBody>
      </p:sp>
      <p:sp>
        <p:nvSpPr>
          <p:cNvPr id="112" name="y=ax + bx2 + cx3 + dx4 + ex5 + fx6 + g"/>
          <p:cNvSpPr txBox="1"/>
          <p:nvPr/>
        </p:nvSpPr>
        <p:spPr>
          <a:xfrm>
            <a:off x="2442999" y="1193800"/>
            <a:ext cx="8118801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rPr b="1">
                <a:latin typeface="Helvetica"/>
                <a:ea typeface="Helvetica"/>
                <a:cs typeface="Helvetica"/>
                <a:sym typeface="Helvetica"/>
              </a:rPr>
              <a:t>y</a:t>
            </a:r>
            <a:r>
              <a:t>=a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x</a:t>
            </a:r>
            <a:r>
              <a:t> + b</a:t>
            </a:r>
            <a:r>
              <a:rPr b="1" sz="3700">
                <a:latin typeface="Helvetica"/>
                <a:ea typeface="Helvetica"/>
                <a:cs typeface="Helvetica"/>
                <a:sym typeface="Helvetica"/>
              </a:rPr>
              <a:t>x</a:t>
            </a:r>
            <a:r>
              <a:rPr b="1" baseline="31999" sz="3700">
                <a:latin typeface="Helvetica"/>
                <a:ea typeface="Helvetica"/>
                <a:cs typeface="Helvetica"/>
                <a:sym typeface="Helvetica"/>
              </a:rPr>
              <a:t>2</a:t>
            </a:r>
            <a:r>
              <a:t> + c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x</a:t>
            </a:r>
            <a:r>
              <a:rPr b="1" baseline="31999">
                <a:latin typeface="Helvetica"/>
                <a:ea typeface="Helvetica"/>
                <a:cs typeface="Helvetica"/>
                <a:sym typeface="Helvetica"/>
              </a:rPr>
              <a:t>3</a:t>
            </a:r>
            <a:r>
              <a:t> + d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x</a:t>
            </a:r>
            <a:r>
              <a:rPr b="1" baseline="31999">
                <a:latin typeface="Helvetica"/>
                <a:ea typeface="Helvetica"/>
                <a:cs typeface="Helvetica"/>
                <a:sym typeface="Helvetica"/>
              </a:rPr>
              <a:t>4</a:t>
            </a:r>
            <a:r>
              <a:t> + e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x</a:t>
            </a:r>
            <a:r>
              <a:rPr b="1" baseline="31999">
                <a:latin typeface="Helvetica"/>
                <a:ea typeface="Helvetica"/>
                <a:cs typeface="Helvetica"/>
                <a:sym typeface="Helvetica"/>
              </a:rPr>
              <a:t>5</a:t>
            </a:r>
            <a:r>
              <a:t> + f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x</a:t>
            </a:r>
            <a:r>
              <a:rPr b="1" baseline="31999">
                <a:latin typeface="Helvetica"/>
                <a:ea typeface="Helvetica"/>
                <a:cs typeface="Helvetica"/>
                <a:sym typeface="Helvetica"/>
              </a:rPr>
              <a:t>6</a:t>
            </a:r>
            <a:r>
              <a:t> + g</a:t>
            </a:r>
          </a:p>
        </p:txBody>
      </p:sp>
      <p:pic>
        <p:nvPicPr>
          <p:cNvPr id="113" name="Screen Shot 2017-10-09 at 11.57.50 AM.png" descr="Screen Shot 2017-10-09 at 11.57.50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435350" y="2476500"/>
            <a:ext cx="6134100" cy="4800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" name="Screen Shot 2017-10-09 at 12.00.01 PM.png" descr="Screen Shot 2017-10-09 at 12.00.01 P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403600" y="2514600"/>
            <a:ext cx="6197600" cy="4813300"/>
          </a:xfrm>
          <a:prstGeom prst="rect">
            <a:avLst/>
          </a:prstGeom>
          <a:ln w="12700">
            <a:miter lim="400000"/>
          </a:ln>
        </p:spPr>
      </p:pic>
      <p:sp>
        <p:nvSpPr>
          <p:cNvPr id="115" name="Whoops! Guess there is an apocalypse"/>
          <p:cNvSpPr txBox="1"/>
          <p:nvPr/>
        </p:nvSpPr>
        <p:spPr>
          <a:xfrm>
            <a:off x="2635406" y="8140696"/>
            <a:ext cx="8286919" cy="647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rPr b="1">
                <a:latin typeface="Helvetica"/>
                <a:ea typeface="Helvetica"/>
                <a:cs typeface="Helvetica"/>
                <a:sym typeface="Helvetica"/>
              </a:rPr>
              <a:t>Whoops!</a:t>
            </a:r>
            <a:r>
              <a:t> Guess there is an apocalypse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eneralization to new data is the only part that matters with AI"/>
          <p:cNvSpPr txBox="1"/>
          <p:nvPr>
            <p:ph type="title"/>
          </p:nvPr>
        </p:nvSpPr>
        <p:spPr>
          <a:xfrm>
            <a:off x="752393" y="2204956"/>
            <a:ext cx="11500014" cy="1398787"/>
          </a:xfrm>
          <a:prstGeom prst="rect">
            <a:avLst/>
          </a:prstGeom>
        </p:spPr>
        <p:txBody>
          <a:bodyPr/>
          <a:lstStyle/>
          <a:p>
            <a:pPr algn="l"/>
            <a:r>
              <a:t>Generalization</a:t>
            </a:r>
            <a:r>
              <a:rPr b="0">
                <a:latin typeface="+mn-lt"/>
                <a:ea typeface="+mn-ea"/>
                <a:cs typeface="+mn-cs"/>
                <a:sym typeface="Helvetica Light"/>
              </a:rPr>
              <a:t> to new data is the only part that matters with AI</a:t>
            </a:r>
          </a:p>
        </p:txBody>
      </p:sp>
      <p:sp>
        <p:nvSpPr>
          <p:cNvPr id="118" name="How you develop the model is as important and there are standards in the field"/>
          <p:cNvSpPr txBox="1"/>
          <p:nvPr/>
        </p:nvSpPr>
        <p:spPr>
          <a:xfrm>
            <a:off x="752393" y="5741955"/>
            <a:ext cx="11500014" cy="13987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 algn="l">
              <a:defRPr b="1" sz="4200">
                <a:latin typeface="Helvetica"/>
                <a:ea typeface="Helvetica"/>
                <a:cs typeface="Helvetica"/>
                <a:sym typeface="Helvetica"/>
              </a:defRPr>
            </a:pPr>
            <a:r>
              <a:t>How</a:t>
            </a:r>
            <a:r>
              <a:rPr b="0">
                <a:latin typeface="+mn-lt"/>
                <a:ea typeface="+mn-ea"/>
                <a:cs typeface="+mn-cs"/>
                <a:sym typeface="Helvetica Light"/>
              </a:rPr>
              <a:t> you develop the model is as important and there are standards in the field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redictive performance is evaluated in test data"/>
          <p:cNvSpPr txBox="1"/>
          <p:nvPr/>
        </p:nvSpPr>
        <p:spPr>
          <a:xfrm>
            <a:off x="-108938" y="282310"/>
            <a:ext cx="13222675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/>
            </a:lvl1pPr>
          </a:lstStyle>
          <a:p>
            <a:pPr/>
            <a:r>
              <a:t>Predictive performance is evaluated in test data</a:t>
            </a:r>
          </a:p>
        </p:txBody>
      </p:sp>
      <p:graphicFrame>
        <p:nvGraphicFramePr>
          <p:cNvPr id="121" name="Scatter Chart"/>
          <p:cNvGraphicFramePr/>
          <p:nvPr/>
        </p:nvGraphicFramePr>
        <p:xfrm>
          <a:off x="3369613" y="1113312"/>
          <a:ext cx="5161690" cy="327040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127" name="Group"/>
          <p:cNvGrpSpPr/>
          <p:nvPr/>
        </p:nvGrpSpPr>
        <p:grpSpPr>
          <a:xfrm>
            <a:off x="-28486" y="2370692"/>
            <a:ext cx="12792728" cy="6866866"/>
            <a:chOff x="-1218184" y="0"/>
            <a:chExt cx="12792726" cy="6866865"/>
          </a:xfrm>
        </p:grpSpPr>
        <p:graphicFrame>
          <p:nvGraphicFramePr>
            <p:cNvPr id="122" name="Scatter Chart"/>
            <p:cNvGraphicFramePr/>
            <p:nvPr/>
          </p:nvGraphicFramePr>
          <p:xfrm>
            <a:off x="-1218184" y="3596457"/>
            <a:ext cx="5161690" cy="3270409"/>
          </p:xfrm>
          <a:graphic xmlns:a="http://schemas.openxmlformats.org/drawingml/2006/main">
            <a:graphicData uri="http://schemas.openxmlformats.org/drawingml/2006/chart">
              <c:chart xmlns:c="http://schemas.openxmlformats.org/drawingml/2006/chart" r:id="rId3"/>
            </a:graphicData>
          </a:graphic>
        </p:graphicFrame>
        <p:graphicFrame>
          <p:nvGraphicFramePr>
            <p:cNvPr id="123" name="Scatter Chart"/>
            <p:cNvGraphicFramePr/>
            <p:nvPr/>
          </p:nvGraphicFramePr>
          <p:xfrm>
            <a:off x="6412853" y="3596457"/>
            <a:ext cx="5161690" cy="3270409"/>
          </p:xfrm>
          <a:graphic xmlns:a="http://schemas.openxmlformats.org/drawingml/2006/main">
            <a:graphicData uri="http://schemas.openxmlformats.org/drawingml/2006/chart">
              <c:chart xmlns:c="http://schemas.openxmlformats.org/drawingml/2006/chart" r:id="rId4"/>
            </a:graphicData>
          </a:graphic>
        </p:graphicFrame>
        <p:sp>
          <p:nvSpPr>
            <p:cNvPr id="124" name="Line"/>
            <p:cNvSpPr/>
            <p:nvPr/>
          </p:nvSpPr>
          <p:spPr>
            <a:xfrm flipH="1">
              <a:off x="3108864" y="2286129"/>
              <a:ext cx="963660" cy="963660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125" name="Line"/>
            <p:cNvSpPr/>
            <p:nvPr/>
          </p:nvSpPr>
          <p:spPr>
            <a:xfrm>
              <a:off x="6516936" y="2286129"/>
              <a:ext cx="963660" cy="963660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126" name="Split the data"/>
            <p:cNvSpPr txBox="1"/>
            <p:nvPr/>
          </p:nvSpPr>
          <p:spPr>
            <a:xfrm>
              <a:off x="8141807" y="0"/>
              <a:ext cx="2807667" cy="647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Split the data</a:t>
              </a:r>
            </a:p>
          </p:txBody>
        </p:sp>
      </p:grpSp>
      <p:grpSp>
        <p:nvGrpSpPr>
          <p:cNvPr id="130" name="Group"/>
          <p:cNvGrpSpPr/>
          <p:nvPr/>
        </p:nvGrpSpPr>
        <p:grpSpPr>
          <a:xfrm>
            <a:off x="1982103" y="5273899"/>
            <a:ext cx="9327475" cy="647701"/>
            <a:chOff x="0" y="0"/>
            <a:chExt cx="9327475" cy="647700"/>
          </a:xfrm>
        </p:grpSpPr>
        <p:sp>
          <p:nvSpPr>
            <p:cNvPr id="128" name="Testing"/>
            <p:cNvSpPr txBox="1"/>
            <p:nvPr/>
          </p:nvSpPr>
          <p:spPr>
            <a:xfrm>
              <a:off x="7764765" y="0"/>
              <a:ext cx="1562711" cy="647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Testing</a:t>
              </a:r>
            </a:p>
          </p:txBody>
        </p:sp>
        <p:sp>
          <p:nvSpPr>
            <p:cNvPr id="129" name="Training"/>
            <p:cNvSpPr txBox="1"/>
            <p:nvPr/>
          </p:nvSpPr>
          <p:spPr>
            <a:xfrm>
              <a:off x="-1" y="0"/>
              <a:ext cx="1723645" cy="647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Training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27" grpId="2"/>
      <p:bldP build="whole" bldLvl="1" animBg="1" rev="0" advAuto="0" spid="130" grpId="3"/>
      <p:bldP build="whole" bldLvl="1" animBg="1" rev="0" advAuto="0" spid="121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2" name="Scatter Chart"/>
          <p:cNvGraphicFramePr/>
          <p:nvPr/>
        </p:nvGraphicFramePr>
        <p:xfrm>
          <a:off x="-28486" y="5967149"/>
          <a:ext cx="5161691" cy="327040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33" name="Scatter Chart"/>
          <p:cNvGraphicFramePr/>
          <p:nvPr/>
        </p:nvGraphicFramePr>
        <p:xfrm>
          <a:off x="7602552" y="5967149"/>
          <a:ext cx="5161690" cy="327040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pSp>
        <p:nvGrpSpPr>
          <p:cNvPr id="136" name="Group"/>
          <p:cNvGrpSpPr/>
          <p:nvPr/>
        </p:nvGrpSpPr>
        <p:grpSpPr>
          <a:xfrm>
            <a:off x="1982103" y="5273899"/>
            <a:ext cx="9327475" cy="647701"/>
            <a:chOff x="0" y="0"/>
            <a:chExt cx="9327475" cy="647700"/>
          </a:xfrm>
        </p:grpSpPr>
        <p:sp>
          <p:nvSpPr>
            <p:cNvPr id="134" name="Testing"/>
            <p:cNvSpPr txBox="1"/>
            <p:nvPr/>
          </p:nvSpPr>
          <p:spPr>
            <a:xfrm>
              <a:off x="7764765" y="0"/>
              <a:ext cx="1562711" cy="647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Testing</a:t>
              </a:r>
            </a:p>
          </p:txBody>
        </p:sp>
        <p:sp>
          <p:nvSpPr>
            <p:cNvPr id="135" name="Training"/>
            <p:cNvSpPr txBox="1"/>
            <p:nvPr/>
          </p:nvSpPr>
          <p:spPr>
            <a:xfrm>
              <a:off x="-1" y="0"/>
              <a:ext cx="1723645" cy="647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Training</a:t>
              </a:r>
            </a:p>
          </p:txBody>
        </p:sp>
      </p:grpSp>
      <p:grpSp>
        <p:nvGrpSpPr>
          <p:cNvPr id="143" name="Group"/>
          <p:cNvGrpSpPr/>
          <p:nvPr/>
        </p:nvGrpSpPr>
        <p:grpSpPr>
          <a:xfrm>
            <a:off x="255197" y="1542866"/>
            <a:ext cx="8242695" cy="3648339"/>
            <a:chOff x="0" y="-299610"/>
            <a:chExt cx="8242693" cy="3648337"/>
          </a:xfrm>
        </p:grpSpPr>
        <p:sp>
          <p:nvSpPr>
            <p:cNvPr id="148" name="Connection Line"/>
            <p:cNvSpPr/>
            <p:nvPr/>
          </p:nvSpPr>
          <p:spPr>
            <a:xfrm>
              <a:off x="2015853" y="1710460"/>
              <a:ext cx="1498247" cy="1638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45" h="21600" fill="norm" stroke="1" extrusionOk="0">
                  <a:moveTo>
                    <a:pt x="108" y="21600"/>
                  </a:moveTo>
                  <a:cubicBezTo>
                    <a:pt x="-955" y="8763"/>
                    <a:pt x="5891" y="1563"/>
                    <a:pt x="20645" y="0"/>
                  </a:cubicBezTo>
                </a:path>
              </a:pathLst>
            </a:custGeom>
            <a:noFill/>
            <a:ln w="508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/>
            <a:lstStyle/>
            <a:p>
              <a:pPr/>
            </a:p>
          </p:txBody>
        </p:sp>
        <p:grpSp>
          <p:nvGrpSpPr>
            <p:cNvPr id="141" name="Group"/>
            <p:cNvGrpSpPr/>
            <p:nvPr/>
          </p:nvGrpSpPr>
          <p:grpSpPr>
            <a:xfrm>
              <a:off x="3601704" y="-299611"/>
              <a:ext cx="4640990" cy="3270409"/>
              <a:chOff x="-697484" y="-299610"/>
              <a:chExt cx="4640989" cy="3270408"/>
            </a:xfrm>
          </p:grpSpPr>
          <p:graphicFrame>
            <p:nvGraphicFramePr>
              <p:cNvPr id="138" name="Scatter Chart"/>
              <p:cNvGraphicFramePr/>
              <p:nvPr/>
            </p:nvGraphicFramePr>
            <p:xfrm>
              <a:off x="-697484" y="-299611"/>
              <a:ext cx="4640990" cy="3270409"/>
            </p:xfrm>
            <a:graphic xmlns:a="http://schemas.openxmlformats.org/drawingml/2006/main">
              <a:graphicData uri="http://schemas.openxmlformats.org/drawingml/2006/chart">
                <c:chart xmlns:c="http://schemas.openxmlformats.org/drawingml/2006/chart" r:id="rId4"/>
              </a:graphicData>
            </a:graphic>
          </p:graphicFrame>
          <p:sp>
            <p:nvSpPr>
              <p:cNvPr id="139" name="Line"/>
              <p:cNvSpPr/>
              <p:nvPr/>
            </p:nvSpPr>
            <p:spPr>
              <a:xfrm flipV="1">
                <a:off x="881316" y="538522"/>
                <a:ext cx="3014712" cy="1409993"/>
              </a:xfrm>
              <a:prstGeom prst="line">
                <a:avLst/>
              </a:prstGeom>
              <a:noFill/>
              <a:ln w="50800" cap="flat">
                <a:solidFill>
                  <a:srgbClr val="000000"/>
                </a:solidFill>
                <a:prstDash val="sysDot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  <p:sp>
            <p:nvSpPr>
              <p:cNvPr id="140" name="y = mx + b"/>
              <p:cNvSpPr txBox="1"/>
              <p:nvPr/>
            </p:nvSpPr>
            <p:spPr>
              <a:xfrm>
                <a:off x="463126" y="0"/>
                <a:ext cx="2394954" cy="64770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/>
                <a:r>
                  <a:rPr b="1">
                    <a:latin typeface="Helvetica"/>
                    <a:ea typeface="Helvetica"/>
                    <a:cs typeface="Helvetica"/>
                    <a:sym typeface="Helvetica"/>
                  </a:rPr>
                  <a:t>y</a:t>
                </a:r>
                <a:r>
                  <a:t> = </a:t>
                </a:r>
                <a:r>
                  <a:rPr i="1">
                    <a:latin typeface="Helvetica"/>
                    <a:ea typeface="Helvetica"/>
                    <a:cs typeface="Helvetica"/>
                    <a:sym typeface="Helvetica"/>
                  </a:rPr>
                  <a:t>m</a:t>
                </a:r>
                <a:r>
                  <a:rPr b="1">
                    <a:latin typeface="Helvetica"/>
                    <a:ea typeface="Helvetica"/>
                    <a:cs typeface="Helvetica"/>
                    <a:sym typeface="Helvetica"/>
                  </a:rPr>
                  <a:t>x</a:t>
                </a:r>
                <a:r>
                  <a:t> + </a:t>
                </a:r>
                <a:r>
                  <a:rPr i="1">
                    <a:latin typeface="Helvetica"/>
                    <a:ea typeface="Helvetica"/>
                    <a:cs typeface="Helvetica"/>
                    <a:sym typeface="Helvetica"/>
                  </a:rPr>
                  <a:t>b</a:t>
                </a:r>
              </a:p>
            </p:txBody>
          </p:sp>
        </p:grpSp>
        <p:sp>
          <p:nvSpPr>
            <p:cNvPr id="142" name="Learn m and b"/>
            <p:cNvSpPr txBox="1"/>
            <p:nvPr/>
          </p:nvSpPr>
          <p:spPr>
            <a:xfrm>
              <a:off x="0" y="767663"/>
              <a:ext cx="3120848" cy="647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Learn </a:t>
              </a:r>
              <a:r>
                <a:rPr i="1">
                  <a:latin typeface="Helvetica"/>
                  <a:ea typeface="Helvetica"/>
                  <a:cs typeface="Helvetica"/>
                  <a:sym typeface="Helvetica"/>
                </a:rPr>
                <a:t>m </a:t>
              </a:r>
              <a:r>
                <a:t>and </a:t>
              </a:r>
              <a:r>
                <a:rPr i="1">
                  <a:latin typeface="Helvetica"/>
                  <a:ea typeface="Helvetica"/>
                  <a:cs typeface="Helvetica"/>
                  <a:sym typeface="Helvetica"/>
                </a:rPr>
                <a:t>b</a:t>
              </a:r>
            </a:p>
          </p:txBody>
        </p:sp>
      </p:grpSp>
      <p:grpSp>
        <p:nvGrpSpPr>
          <p:cNvPr id="147" name="Group"/>
          <p:cNvGrpSpPr/>
          <p:nvPr/>
        </p:nvGrpSpPr>
        <p:grpSpPr>
          <a:xfrm>
            <a:off x="8614802" y="2797650"/>
            <a:ext cx="4062857" cy="5430325"/>
            <a:chOff x="0" y="0"/>
            <a:chExt cx="4062856" cy="5430323"/>
          </a:xfrm>
        </p:grpSpPr>
        <p:sp>
          <p:nvSpPr>
            <p:cNvPr id="144" name="Line"/>
            <p:cNvSpPr/>
            <p:nvPr/>
          </p:nvSpPr>
          <p:spPr>
            <a:xfrm flipV="1">
              <a:off x="1048145" y="4020332"/>
              <a:ext cx="3014712" cy="1409992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ysDot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145" name="Test m and b"/>
            <p:cNvSpPr txBox="1"/>
            <p:nvPr/>
          </p:nvSpPr>
          <p:spPr>
            <a:xfrm>
              <a:off x="1013953" y="0"/>
              <a:ext cx="2756917" cy="647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Test </a:t>
              </a:r>
              <a:r>
                <a:rPr i="1">
                  <a:latin typeface="Helvetica"/>
                  <a:ea typeface="Helvetica"/>
                  <a:cs typeface="Helvetica"/>
                  <a:sym typeface="Helvetica"/>
                </a:rPr>
                <a:t>m </a:t>
              </a:r>
              <a:r>
                <a:t>and </a:t>
              </a:r>
              <a:r>
                <a:rPr i="1">
                  <a:latin typeface="Helvetica"/>
                  <a:ea typeface="Helvetica"/>
                  <a:cs typeface="Helvetica"/>
                  <a:sym typeface="Helvetica"/>
                </a:rPr>
                <a:t>b</a:t>
              </a:r>
            </a:p>
          </p:txBody>
        </p:sp>
        <p:sp>
          <p:nvSpPr>
            <p:cNvPr id="149" name="Connection Line"/>
            <p:cNvSpPr/>
            <p:nvPr/>
          </p:nvSpPr>
          <p:spPr>
            <a:xfrm>
              <a:off x="0" y="697917"/>
              <a:ext cx="1573408" cy="1756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13802" y="676"/>
                    <a:pt x="21002" y="7876"/>
                    <a:pt x="21600" y="21600"/>
                  </a:cubicBezTo>
                </a:path>
              </a:pathLst>
            </a:custGeom>
            <a:noFill/>
            <a:ln w="508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/>
            <a:lstStyle/>
            <a:p>
              <a:pPr/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47" grpId="2"/>
      <p:bldP build="whole" bldLvl="1" animBg="1" rev="0" advAuto="0" spid="143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Why?"/>
          <p:cNvSpPr txBox="1"/>
          <p:nvPr/>
        </p:nvSpPr>
        <p:spPr>
          <a:xfrm>
            <a:off x="-108938" y="222223"/>
            <a:ext cx="13222675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/>
            </a:lvl1pPr>
          </a:lstStyle>
          <a:p>
            <a:pPr/>
            <a:r>
              <a:t>Why?</a:t>
            </a:r>
          </a:p>
        </p:txBody>
      </p:sp>
      <p:sp>
        <p:nvSpPr>
          <p:cNvPr id="152" name="We care about the generalizability of any solution"/>
          <p:cNvSpPr txBox="1"/>
          <p:nvPr/>
        </p:nvSpPr>
        <p:spPr>
          <a:xfrm>
            <a:off x="683670" y="1504893"/>
            <a:ext cx="10364546" cy="647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/>
            <a:r>
              <a:t>We care about the 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generalizability</a:t>
            </a:r>
            <a:r>
              <a:t> of any solution</a:t>
            </a:r>
          </a:p>
        </p:txBody>
      </p:sp>
      <p:grpSp>
        <p:nvGrpSpPr>
          <p:cNvPr id="155" name="Group"/>
          <p:cNvGrpSpPr/>
          <p:nvPr/>
        </p:nvGrpSpPr>
        <p:grpSpPr>
          <a:xfrm>
            <a:off x="552121" y="3155871"/>
            <a:ext cx="4640991" cy="3270409"/>
            <a:chOff x="-697484" y="-304800"/>
            <a:chExt cx="4640989" cy="3270408"/>
          </a:xfrm>
        </p:grpSpPr>
        <p:graphicFrame>
          <p:nvGraphicFramePr>
            <p:cNvPr id="153" name="Scatter Chart"/>
            <p:cNvGraphicFramePr/>
            <p:nvPr/>
          </p:nvGraphicFramePr>
          <p:xfrm>
            <a:off x="-697484" y="-304800"/>
            <a:ext cx="4640990" cy="3270408"/>
          </p:xfrm>
          <a:graphic xmlns:a="http://schemas.openxmlformats.org/drawingml/2006/main">
            <a:graphicData uri="http://schemas.openxmlformats.org/drawingml/2006/chart">
              <c:chart xmlns:c="http://schemas.openxmlformats.org/drawingml/2006/chart" r:id="rId2"/>
            </a:graphicData>
          </a:graphic>
        </p:graphicFrame>
        <p:sp>
          <p:nvSpPr>
            <p:cNvPr id="154" name="Line"/>
            <p:cNvSpPr/>
            <p:nvPr/>
          </p:nvSpPr>
          <p:spPr>
            <a:xfrm flipV="1">
              <a:off x="881316" y="533333"/>
              <a:ext cx="3014712" cy="1409992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ysDot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</a:p>
          </p:txBody>
        </p:sp>
      </p:grpSp>
      <p:sp>
        <p:nvSpPr>
          <p:cNvPr id="156" name="Error = 1.7"/>
          <p:cNvSpPr txBox="1"/>
          <p:nvPr/>
        </p:nvSpPr>
        <p:spPr>
          <a:xfrm>
            <a:off x="2053705" y="6761614"/>
            <a:ext cx="228783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Error = 1.7</a:t>
            </a:r>
          </a:p>
        </p:txBody>
      </p:sp>
      <p:grpSp>
        <p:nvGrpSpPr>
          <p:cNvPr id="161" name="Group"/>
          <p:cNvGrpSpPr/>
          <p:nvPr/>
        </p:nvGrpSpPr>
        <p:grpSpPr>
          <a:xfrm>
            <a:off x="7782759" y="3155870"/>
            <a:ext cx="4640991" cy="4253445"/>
            <a:chOff x="-697484" y="-304800"/>
            <a:chExt cx="4640989" cy="4253443"/>
          </a:xfrm>
        </p:grpSpPr>
        <p:grpSp>
          <p:nvGrpSpPr>
            <p:cNvPr id="159" name="Group"/>
            <p:cNvGrpSpPr/>
            <p:nvPr/>
          </p:nvGrpSpPr>
          <p:grpSpPr>
            <a:xfrm>
              <a:off x="-697485" y="-304801"/>
              <a:ext cx="4640991" cy="3270410"/>
              <a:chOff x="-697484" y="-304800"/>
              <a:chExt cx="4640989" cy="3270408"/>
            </a:xfrm>
          </p:grpSpPr>
          <p:graphicFrame>
            <p:nvGraphicFramePr>
              <p:cNvPr id="157" name="Scatter Chart"/>
              <p:cNvGraphicFramePr/>
              <p:nvPr/>
            </p:nvGraphicFramePr>
            <p:xfrm>
              <a:off x="-697484" y="-304800"/>
              <a:ext cx="4640990" cy="3270408"/>
            </p:xfrm>
            <a:graphic xmlns:a="http://schemas.openxmlformats.org/drawingml/2006/main">
              <a:graphicData uri="http://schemas.openxmlformats.org/drawingml/2006/chart">
                <c:chart xmlns:c="http://schemas.openxmlformats.org/drawingml/2006/chart" r:id="rId3"/>
              </a:graphicData>
            </a:graphic>
          </p:graphicFrame>
          <p:sp>
            <p:nvSpPr>
              <p:cNvPr id="158" name="Line"/>
              <p:cNvSpPr/>
              <p:nvPr/>
            </p:nvSpPr>
            <p:spPr>
              <a:xfrm flipV="1">
                <a:off x="842211" y="546033"/>
                <a:ext cx="3014712" cy="1409992"/>
              </a:xfrm>
              <a:prstGeom prst="line">
                <a:avLst/>
              </a:prstGeom>
              <a:noFill/>
              <a:ln w="50800" cap="flat">
                <a:solidFill>
                  <a:srgbClr val="000000"/>
                </a:solidFill>
                <a:prstDash val="sysDot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/>
                </a:pPr>
              </a:p>
            </p:txBody>
          </p:sp>
        </p:grpSp>
        <p:sp>
          <p:nvSpPr>
            <p:cNvPr id="160" name="Error = 5.9"/>
            <p:cNvSpPr txBox="1"/>
            <p:nvPr/>
          </p:nvSpPr>
          <p:spPr>
            <a:xfrm>
              <a:off x="784546" y="3300943"/>
              <a:ext cx="2287830" cy="647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Error = 5.9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56" grpId="2"/>
      <p:bldP build="whole" bldLvl="1" animBg="1" rev="0" advAuto="0" spid="161" grpId="3"/>
      <p:bldP build="whole" bldLvl="1" animBg="1" rev="0" advAuto="0" spid="155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Screen Shot 2017-08-18 at 3.17.27 PM.png" descr="Screen Shot 2017-08-18 at 3.17.27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12084" y="2855978"/>
            <a:ext cx="1801644" cy="1568338"/>
          </a:xfrm>
          <a:prstGeom prst="rect">
            <a:avLst/>
          </a:prstGeom>
          <a:ln w="12700">
            <a:miter lim="400000"/>
          </a:ln>
        </p:spPr>
      </p:pic>
      <p:sp>
        <p:nvSpPr>
          <p:cNvPr id="164" name="Why?"/>
          <p:cNvSpPr txBox="1"/>
          <p:nvPr/>
        </p:nvSpPr>
        <p:spPr>
          <a:xfrm>
            <a:off x="-108938" y="222223"/>
            <a:ext cx="13222675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/>
            </a:lvl1pPr>
          </a:lstStyle>
          <a:p>
            <a:pPr/>
            <a:r>
              <a:t>Why?</a:t>
            </a:r>
          </a:p>
        </p:txBody>
      </p:sp>
      <p:sp>
        <p:nvSpPr>
          <p:cNvPr id="165" name="Algorithms can be tuned — must make sure it generalizes"/>
          <p:cNvSpPr txBox="1"/>
          <p:nvPr/>
        </p:nvSpPr>
        <p:spPr>
          <a:xfrm>
            <a:off x="491703" y="1393836"/>
            <a:ext cx="12021394" cy="647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/>
            <a:r>
              <a:t>Algorithms can be 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tuned </a:t>
            </a:r>
            <a:r>
              <a:t>— must make sure it generalizes</a:t>
            </a:r>
          </a:p>
        </p:txBody>
      </p:sp>
      <p:sp>
        <p:nvSpPr>
          <p:cNvPr id="166" name="or"/>
          <p:cNvSpPr txBox="1"/>
          <p:nvPr/>
        </p:nvSpPr>
        <p:spPr>
          <a:xfrm>
            <a:off x="6216650" y="5238750"/>
            <a:ext cx="57150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or</a:t>
            </a:r>
          </a:p>
        </p:txBody>
      </p:sp>
      <p:grpSp>
        <p:nvGrpSpPr>
          <p:cNvPr id="172" name="Group"/>
          <p:cNvGrpSpPr/>
          <p:nvPr/>
        </p:nvGrpSpPr>
        <p:grpSpPr>
          <a:xfrm>
            <a:off x="3283662" y="2523577"/>
            <a:ext cx="8634735" cy="2305797"/>
            <a:chOff x="0" y="0"/>
            <a:chExt cx="8634733" cy="2305795"/>
          </a:xfrm>
        </p:grpSpPr>
        <p:grpSp>
          <p:nvGrpSpPr>
            <p:cNvPr id="170" name="Group"/>
            <p:cNvGrpSpPr/>
            <p:nvPr/>
          </p:nvGrpSpPr>
          <p:grpSpPr>
            <a:xfrm>
              <a:off x="1702188" y="315126"/>
              <a:ext cx="6932546" cy="1990670"/>
              <a:chOff x="0" y="0"/>
              <a:chExt cx="6932544" cy="1990668"/>
            </a:xfrm>
          </p:grpSpPr>
          <p:sp>
            <p:nvSpPr>
              <p:cNvPr id="167" name="Random Forests"/>
              <p:cNvSpPr/>
              <p:nvPr/>
            </p:nvSpPr>
            <p:spPr>
              <a:xfrm>
                <a:off x="5662544" y="720668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/>
                <a:r>
                  <a:t>Random Forests</a:t>
                </a:r>
              </a:p>
            </p:txBody>
          </p:sp>
          <p:pic>
            <p:nvPicPr>
              <p:cNvPr id="168" name="Screen Shot 2017-08-18 at 3.17.27 PM.png" descr="Screen Shot 2017-08-18 at 3.17.27 PM.png"/>
              <p:cNvPicPr>
                <a:picLocks noChangeAspect="1"/>
              </p:cNvPicPr>
              <p:nvPr/>
            </p:nvPicPr>
            <p:blipFill>
              <a:blip r:embed="rId2">
                <a:extLst/>
              </a:blip>
              <a:stretch>
                <a:fillRect/>
              </a:stretch>
            </p:blipFill>
            <p:spPr>
              <a:xfrm>
                <a:off x="0" y="0"/>
                <a:ext cx="1801643" cy="156833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169" name="Screen Shot 2017-08-18 at 3.17.27 PM.png" descr="Screen Shot 2017-08-18 at 3.17.27 PM.png"/>
              <p:cNvPicPr>
                <a:picLocks noChangeAspect="1"/>
              </p:cNvPicPr>
              <p:nvPr/>
            </p:nvPicPr>
            <p:blipFill>
              <a:blip r:embed="rId2">
                <a:extLst/>
              </a:blip>
              <a:stretch>
                <a:fillRect/>
              </a:stretch>
            </p:blipFill>
            <p:spPr>
              <a:xfrm>
                <a:off x="1786466" y="0"/>
                <a:ext cx="1801644" cy="156833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171" name="Rounded Rectangle"/>
            <p:cNvSpPr/>
            <p:nvPr/>
          </p:nvSpPr>
          <p:spPr>
            <a:xfrm>
              <a:off x="0" y="0"/>
              <a:ext cx="5411068" cy="2233138"/>
            </a:xfrm>
            <a:prstGeom prst="roundRect">
              <a:avLst>
                <a:gd name="adj" fmla="val 13499"/>
              </a:avLst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173" name="Group"/>
          <p:cNvSpPr/>
          <p:nvPr/>
        </p:nvSpPr>
        <p:spPr>
          <a:xfrm>
            <a:off x="145940" y="6188006"/>
            <a:ext cx="12712920" cy="2233139"/>
          </a:xfrm>
          <a:prstGeom prst="roundRect">
            <a:avLst>
              <a:gd name="adj" fmla="val 13499"/>
            </a:avLst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74" name="Your choice"/>
          <p:cNvSpPr txBox="1"/>
          <p:nvPr/>
        </p:nvSpPr>
        <p:spPr>
          <a:xfrm>
            <a:off x="5153682" y="8913201"/>
            <a:ext cx="2697436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Your choice</a:t>
            </a:r>
          </a:p>
        </p:txBody>
      </p:sp>
      <p:pic>
        <p:nvPicPr>
          <p:cNvPr id="175" name="Screen Shot 2017-04-25 at 10.16.17 AM.png" descr="Screen Shot 2017-04-25 at 10.16.17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009989" y="16050175"/>
            <a:ext cx="1841392" cy="187218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8" name="Group"/>
          <p:cNvGrpSpPr/>
          <p:nvPr/>
        </p:nvGrpSpPr>
        <p:grpSpPr>
          <a:xfrm>
            <a:off x="709711" y="6547856"/>
            <a:ext cx="11283319" cy="1703939"/>
            <a:chOff x="0" y="0"/>
            <a:chExt cx="11283317" cy="1703937"/>
          </a:xfrm>
        </p:grpSpPr>
        <p:pic>
          <p:nvPicPr>
            <p:cNvPr id="176" name="Screen Shot 2017-08-18 at 3.19.46 PM.png" descr="Screen Shot 2017-08-18 at 3.19.46 PM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63500"/>
              <a:ext cx="5686852" cy="164043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7" name="Screen Shot 2017-08-18 at 3.19.46 PM.png" descr="Screen Shot 2017-08-18 at 3.19.46 PM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5596466" y="0"/>
              <a:ext cx="5686852" cy="164043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after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78" grpId="4"/>
      <p:bldP build="whole" bldLvl="1" animBg="1" rev="0" advAuto="0" spid="173" grpId="2"/>
      <p:bldP build="whole" bldLvl="1" animBg="1" rev="0" advAuto="0" spid="172" grpId="1"/>
      <p:bldP build="whole" bldLvl="1" animBg="1" rev="0" advAuto="0" spid="166" grpId="3"/>
      <p:bldP build="whole" bldLvl="1" animBg="1" rev="0" advAuto="0" spid="174" grpId="5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roup"/>
          <p:cNvGrpSpPr/>
          <p:nvPr/>
        </p:nvGrpSpPr>
        <p:grpSpPr>
          <a:xfrm>
            <a:off x="-1611705" y="429173"/>
            <a:ext cx="11305279" cy="2671531"/>
            <a:chOff x="0" y="0"/>
            <a:chExt cx="11305278" cy="2671529"/>
          </a:xfrm>
        </p:grpSpPr>
        <p:sp>
          <p:nvSpPr>
            <p:cNvPr id="180" name="Every ML/AI solution has one…"/>
            <p:cNvSpPr txBox="1"/>
            <p:nvPr/>
          </p:nvSpPr>
          <p:spPr>
            <a:xfrm>
              <a:off x="0" y="0"/>
              <a:ext cx="11305279" cy="12791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  <a:r>
                <a:t>Every ML/AI solution has one</a:t>
              </a:r>
            </a:p>
            <a:p>
              <a:pPr/>
              <a:r>
                <a:t>or more tunable “knobs”</a:t>
              </a:r>
            </a:p>
          </p:txBody>
        </p:sp>
        <p:pic>
          <p:nvPicPr>
            <p:cNvPr id="181" name="Screen Shot 2017-05-05 at 2.46.25 PM.png" descr="Screen Shot 2017-05-05 at 2.46.25 PM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982218" y="1310401"/>
              <a:ext cx="7340842" cy="136112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183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544311" y="4739433"/>
            <a:ext cx="7293627" cy="505517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82" grpId="1"/>
      <p:bldP build="whole" bldLvl="1" animBg="1" rev="0" advAuto="0" spid="183" grpId="2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Want to predict political party from religiousness and wealth"/>
          <p:cNvSpPr txBox="1"/>
          <p:nvPr/>
        </p:nvSpPr>
        <p:spPr>
          <a:xfrm>
            <a:off x="271891" y="203200"/>
            <a:ext cx="12461018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Want to predict political party from religiousness and wealth</a:t>
            </a:r>
          </a:p>
        </p:txBody>
      </p:sp>
      <p:pic>
        <p:nvPicPr>
          <p:cNvPr id="186" name="Screen Shot 2017-04-27 at 9.45.02 AM.png" descr="Screen Shot 2017-04-27 at 9.45.02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4484" y="1492572"/>
            <a:ext cx="7623322" cy="5042454"/>
          </a:xfrm>
          <a:prstGeom prst="rect">
            <a:avLst/>
          </a:prstGeom>
          <a:ln w="12700">
            <a:miter lim="400000"/>
          </a:ln>
        </p:spPr>
      </p:pic>
      <p:sp>
        <p:nvSpPr>
          <p:cNvPr id="187" name="Use a simple algorithm k nearest neighbors"/>
          <p:cNvSpPr txBox="1"/>
          <p:nvPr/>
        </p:nvSpPr>
        <p:spPr>
          <a:xfrm>
            <a:off x="8025093" y="3416898"/>
            <a:ext cx="5204588" cy="119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Use a simple algorithm</a:t>
            </a:r>
            <a:br/>
            <a:r>
              <a:rPr i="1">
                <a:latin typeface="Helvetica"/>
                <a:ea typeface="Helvetica"/>
                <a:cs typeface="Helvetica"/>
                <a:sym typeface="Helvetica"/>
              </a:rPr>
              <a:t>k nearest neighbors</a:t>
            </a:r>
          </a:p>
        </p:txBody>
      </p:sp>
      <p:sp>
        <p:nvSpPr>
          <p:cNvPr id="188" name="Ask closest k neighbors what they are,…"/>
          <p:cNvSpPr txBox="1"/>
          <p:nvPr/>
        </p:nvSpPr>
        <p:spPr>
          <a:xfrm>
            <a:off x="129956" y="7176697"/>
            <a:ext cx="8646513" cy="119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Ask closest </a:t>
            </a:r>
            <a:r>
              <a:rPr i="1">
                <a:latin typeface="Helvetica"/>
                <a:ea typeface="Helvetica"/>
                <a:cs typeface="Helvetica"/>
                <a:sym typeface="Helvetica"/>
              </a:rPr>
              <a:t>k</a:t>
            </a:r>
            <a:r>
              <a:t> neighbors what they are,</a:t>
            </a:r>
          </a:p>
          <a:p>
            <a:pPr/>
            <a:r>
              <a:t>you will be whatever the majority is</a:t>
            </a:r>
          </a:p>
        </p:txBody>
      </p:sp>
      <p:grpSp>
        <p:nvGrpSpPr>
          <p:cNvPr id="191" name="Group"/>
          <p:cNvGrpSpPr/>
          <p:nvPr/>
        </p:nvGrpSpPr>
        <p:grpSpPr>
          <a:xfrm>
            <a:off x="9518219" y="6105521"/>
            <a:ext cx="3164271" cy="3368707"/>
            <a:chOff x="0" y="0"/>
            <a:chExt cx="3164270" cy="3368706"/>
          </a:xfrm>
        </p:grpSpPr>
        <p:sp>
          <p:nvSpPr>
            <p:cNvPr id="189" name="k is our knob"/>
            <p:cNvSpPr txBox="1"/>
            <p:nvPr/>
          </p:nvSpPr>
          <p:spPr>
            <a:xfrm>
              <a:off x="0" y="2721006"/>
              <a:ext cx="3164271" cy="647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>
                <a:defRPr i="1"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k</a:t>
              </a:r>
              <a:r>
                <a:rPr i="0">
                  <a:latin typeface="+mn-lt"/>
                  <a:ea typeface="+mn-ea"/>
                  <a:cs typeface="+mn-cs"/>
                  <a:sym typeface="Helvetica Light"/>
                </a:rPr>
                <a:t> is our knob</a:t>
              </a:r>
            </a:p>
          </p:txBody>
        </p:sp>
        <p:pic>
          <p:nvPicPr>
            <p:cNvPr id="190" name="Screen Shot 2017-05-05 at 2.47.58 PM.png" descr="Screen Shot 2017-05-05 at 2.47.58 PM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477235" y="0"/>
              <a:ext cx="2209801" cy="26416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92" name="http://scott.fortmann-roe.com/docs/BiasVariance.html"/>
          <p:cNvSpPr txBox="1"/>
          <p:nvPr/>
        </p:nvSpPr>
        <p:spPr>
          <a:xfrm>
            <a:off x="77423" y="9336947"/>
            <a:ext cx="4333850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400" u="sng">
                <a:hlinkClick r:id="rId4" invalidUrl="" action="" tgtFrame="" tooltip="" history="1" highlightClick="0" endSnd="0"/>
              </a:defRPr>
            </a:lvl1pPr>
          </a:lstStyle>
          <a:p>
            <a:pPr>
              <a:defRPr u="none"/>
            </a:pPr>
            <a:r>
              <a:rPr u="sng">
                <a:hlinkClick r:id="rId4" invalidUrl="" action="" tgtFrame="" tooltip="" history="1" highlightClick="0" endSnd="0"/>
              </a:rPr>
              <a:t>http://scott.fortmann-roe.com/docs/BiasVariance.html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88" grpId="3"/>
      <p:bldP build="whole" bldLvl="1" animBg="1" rev="0" advAuto="0" spid="186" grpId="1"/>
      <p:bldP build="whole" bldLvl="1" animBg="1" rev="0" advAuto="0" spid="187" grpId="2"/>
      <p:bldP build="whole" bldLvl="1" animBg="1" rev="0" advAuto="0" spid="191" grpId="4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roup"/>
          <p:cNvGrpSpPr/>
          <p:nvPr/>
        </p:nvGrpSpPr>
        <p:grpSpPr>
          <a:xfrm>
            <a:off x="676546" y="4933248"/>
            <a:ext cx="5016244" cy="3964462"/>
            <a:chOff x="297486" y="596899"/>
            <a:chExt cx="5016243" cy="3964461"/>
          </a:xfrm>
        </p:grpSpPr>
        <p:pic>
          <p:nvPicPr>
            <p:cNvPr id="194" name="Screen Shot 2017-04-27 at 9.46.11 AM.png" descr="Screen Shot 2017-04-27 at 9.46.11 AM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297486" y="1200806"/>
              <a:ext cx="5016244" cy="33605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95" name="You could perfectly predict…"/>
            <p:cNvSpPr/>
            <p:nvPr/>
          </p:nvSpPr>
          <p:spPr>
            <a:xfrm>
              <a:off x="2805607" y="596899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You could perfectly predict</a:t>
              </a:r>
            </a:p>
            <a:p>
              <a:pPr/>
              <a:r>
                <a:t>what you see</a:t>
              </a:r>
            </a:p>
          </p:txBody>
        </p:sp>
      </p:grpSp>
      <p:grpSp>
        <p:nvGrpSpPr>
          <p:cNvPr id="199" name="Group"/>
          <p:cNvGrpSpPr/>
          <p:nvPr/>
        </p:nvGrpSpPr>
        <p:grpSpPr>
          <a:xfrm>
            <a:off x="7131198" y="4279900"/>
            <a:ext cx="5297121" cy="4729079"/>
            <a:chOff x="0" y="0"/>
            <a:chExt cx="5297119" cy="4729078"/>
          </a:xfrm>
        </p:grpSpPr>
        <p:sp>
          <p:nvSpPr>
            <p:cNvPr id="197" name="Or make some mistakes,…"/>
            <p:cNvSpPr txBox="1"/>
            <p:nvPr/>
          </p:nvSpPr>
          <p:spPr>
            <a:xfrm>
              <a:off x="63551" y="0"/>
              <a:ext cx="5170018" cy="1193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Or make some mistakes,</a:t>
              </a:r>
            </a:p>
            <a:p>
              <a:pPr/>
              <a:r>
                <a:t>but be more general</a:t>
              </a:r>
            </a:p>
          </p:txBody>
        </p:sp>
        <p:pic>
          <p:nvPicPr>
            <p:cNvPr id="198" name="Screen Shot 2017-04-27 at 9.46.45 AM.png" descr="Screen Shot 2017-04-27 at 9.46.45 AM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1145986"/>
              <a:ext cx="5297120" cy="35830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200" name="Screen Shot 2017-05-05 at 2.47.58 PM.png" descr="Screen Shot 2017-05-05 at 2.47.58 P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882517" y="2823273"/>
            <a:ext cx="1239766" cy="148201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roup"/>
          <p:cNvGrpSpPr/>
          <p:nvPr/>
        </p:nvGrpSpPr>
        <p:grpSpPr>
          <a:xfrm>
            <a:off x="676546" y="4876799"/>
            <a:ext cx="11751772" cy="4132180"/>
            <a:chOff x="297486" y="596899"/>
            <a:chExt cx="11751771" cy="4132178"/>
          </a:xfrm>
        </p:grpSpPr>
        <p:grpSp>
          <p:nvGrpSpPr>
            <p:cNvPr id="204" name="Group"/>
            <p:cNvGrpSpPr/>
            <p:nvPr/>
          </p:nvGrpSpPr>
          <p:grpSpPr>
            <a:xfrm>
              <a:off x="297486" y="653348"/>
              <a:ext cx="5016244" cy="3964462"/>
              <a:chOff x="297486" y="596899"/>
              <a:chExt cx="5016243" cy="3964461"/>
            </a:xfrm>
          </p:grpSpPr>
          <p:pic>
            <p:nvPicPr>
              <p:cNvPr id="202" name="Screen Shot 2017-04-27 at 9.46.11 AM.png" descr="Screen Shot 2017-04-27 at 9.46.11 AM.png"/>
              <p:cNvPicPr>
                <a:picLocks noChangeAspect="1"/>
              </p:cNvPicPr>
              <p:nvPr/>
            </p:nvPicPr>
            <p:blipFill>
              <a:blip r:embed="rId2">
                <a:extLst/>
              </a:blip>
              <a:stretch>
                <a:fillRect/>
              </a:stretch>
            </p:blipFill>
            <p:spPr>
              <a:xfrm>
                <a:off x="297486" y="1200806"/>
                <a:ext cx="5016244" cy="3360556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203" name="You could perfectly predict…"/>
              <p:cNvSpPr/>
              <p:nvPr/>
            </p:nvSpPr>
            <p:spPr>
              <a:xfrm>
                <a:off x="2805607" y="596899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/>
                <a:r>
                  <a:t>You could perfectly predict</a:t>
                </a:r>
              </a:p>
              <a:p>
                <a:pPr/>
                <a:r>
                  <a:t>what you see</a:t>
                </a:r>
              </a:p>
            </p:txBody>
          </p:sp>
        </p:grpSp>
        <p:grpSp>
          <p:nvGrpSpPr>
            <p:cNvPr id="207" name="Group"/>
            <p:cNvGrpSpPr/>
            <p:nvPr/>
          </p:nvGrpSpPr>
          <p:grpSpPr>
            <a:xfrm>
              <a:off x="6752138" y="596899"/>
              <a:ext cx="5297120" cy="4132180"/>
              <a:chOff x="0" y="596899"/>
              <a:chExt cx="5297119" cy="4132178"/>
            </a:xfrm>
          </p:grpSpPr>
          <p:sp>
            <p:nvSpPr>
              <p:cNvPr id="205" name="Or make some mistakes,…"/>
              <p:cNvSpPr/>
              <p:nvPr/>
            </p:nvSpPr>
            <p:spPr>
              <a:xfrm>
                <a:off x="2648560" y="596899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/>
                <a:r>
                  <a:t>Or make some mistakes,</a:t>
                </a:r>
              </a:p>
              <a:p>
                <a:pPr/>
                <a:r>
                  <a:t>but be more general</a:t>
                </a:r>
              </a:p>
            </p:txBody>
          </p:sp>
          <p:pic>
            <p:nvPicPr>
              <p:cNvPr id="206" name="Screen Shot 2017-04-27 at 9.46.45 AM.png" descr="Screen Shot 2017-04-27 at 9.46.45 AM.png"/>
              <p:cNvPicPr>
                <a:picLocks noChangeAspect="1"/>
              </p:cNvPicPr>
              <p:nvPr/>
            </p:nvPicPr>
            <p:blipFill>
              <a:blip r:embed="rId3">
                <a:extLst/>
              </a:blip>
              <a:stretch>
                <a:fillRect/>
              </a:stretch>
            </p:blipFill>
            <p:spPr>
              <a:xfrm>
                <a:off x="0" y="1145986"/>
                <a:ext cx="5297120" cy="3583093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</p:grpSp>
      <p:sp>
        <p:nvSpPr>
          <p:cNvPr id="209" name="high bias…"/>
          <p:cNvSpPr txBox="1"/>
          <p:nvPr/>
        </p:nvSpPr>
        <p:spPr>
          <a:xfrm>
            <a:off x="7215286" y="5505597"/>
            <a:ext cx="2680565" cy="119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/>
            <a:r>
              <a:t>high bias</a:t>
            </a:r>
          </a:p>
          <a:p>
            <a:pPr algn="l"/>
            <a:r>
              <a:t>low variance</a:t>
            </a:r>
          </a:p>
        </p:txBody>
      </p:sp>
      <p:sp>
        <p:nvSpPr>
          <p:cNvPr id="210" name="Line"/>
          <p:cNvSpPr/>
          <p:nvPr/>
        </p:nvSpPr>
        <p:spPr>
          <a:xfrm flipV="1">
            <a:off x="6535908" y="342328"/>
            <a:ext cx="1" cy="9068944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211" name="low bias…"/>
          <p:cNvSpPr txBox="1"/>
          <p:nvPr/>
        </p:nvSpPr>
        <p:spPr>
          <a:xfrm>
            <a:off x="706822" y="5505597"/>
            <a:ext cx="2884019" cy="119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/>
            <a:r>
              <a:t>low bias</a:t>
            </a:r>
          </a:p>
          <a:p>
            <a:pPr algn="l"/>
            <a:r>
              <a:t>high variance</a:t>
            </a:r>
          </a:p>
        </p:txBody>
      </p:sp>
      <p:grpSp>
        <p:nvGrpSpPr>
          <p:cNvPr id="214" name="Group"/>
          <p:cNvGrpSpPr/>
          <p:nvPr/>
        </p:nvGrpSpPr>
        <p:grpSpPr>
          <a:xfrm>
            <a:off x="691887" y="7737557"/>
            <a:ext cx="7799014" cy="1270001"/>
            <a:chOff x="0" y="596899"/>
            <a:chExt cx="7799013" cy="1270000"/>
          </a:xfrm>
        </p:grpSpPr>
        <p:sp>
          <p:nvSpPr>
            <p:cNvPr id="212" name="Over-explaining…"/>
            <p:cNvSpPr/>
            <p:nvPr/>
          </p:nvSpPr>
          <p:spPr>
            <a:xfrm>
              <a:off x="0" y="596899"/>
              <a:ext cx="1270000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l"/>
              <a:r>
                <a:t>Over-explaining</a:t>
              </a:r>
            </a:p>
            <a:p>
              <a:pPr algn="l"/>
              <a:r>
                <a:t>observed data</a:t>
              </a:r>
            </a:p>
          </p:txBody>
        </p:sp>
        <p:sp>
          <p:nvSpPr>
            <p:cNvPr id="213" name="Under-explaining…"/>
            <p:cNvSpPr/>
            <p:nvPr/>
          </p:nvSpPr>
          <p:spPr>
            <a:xfrm>
              <a:off x="6529013" y="596899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l"/>
              <a:r>
                <a:t>Under-explaining</a:t>
              </a:r>
            </a:p>
            <a:p>
              <a:pPr algn="l"/>
              <a:r>
                <a:t>observed data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path" nodeType="clickEffect" presetSubtype="0" presetID="-1" grpId="1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-0.001162 -0.426181" origin="layout" pathEditMode="relative">
                                      <p:cBhvr>
                                        <p:cTn id="6" dur="10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11" grpId="3"/>
      <p:bldP build="whole" bldLvl="1" animBg="1" rev="0" advAuto="0" spid="214" grpId="5"/>
      <p:bldP build="whole" bldLvl="1" animBg="1" rev="0" advAuto="0" spid="209" grpId="4"/>
      <p:bldP build="whole" bldLvl="1" animBg="1" rev="0" advAuto="0" spid="210" grpId="2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bias - learning the wrong thing because the machine…"/>
          <p:cNvSpPr txBox="1"/>
          <p:nvPr/>
        </p:nvSpPr>
        <p:spPr>
          <a:xfrm>
            <a:off x="763184" y="2308395"/>
            <a:ext cx="11478431" cy="1193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b="1">
                <a:latin typeface="Helvetica"/>
                <a:ea typeface="Helvetica"/>
                <a:cs typeface="Helvetica"/>
                <a:sym typeface="Helvetica"/>
              </a:defRPr>
            </a:pPr>
            <a:r>
              <a:t>bias - </a:t>
            </a:r>
            <a:r>
              <a:rPr b="0">
                <a:latin typeface="+mn-lt"/>
                <a:ea typeface="+mn-ea"/>
                <a:cs typeface="+mn-cs"/>
                <a:sym typeface="Helvetica Light"/>
              </a:rPr>
              <a:t>learning the wrong thing because the machine</a:t>
            </a:r>
            <a:endParaRPr b="0">
              <a:latin typeface="+mn-lt"/>
              <a:ea typeface="+mn-ea"/>
              <a:cs typeface="+mn-cs"/>
              <a:sym typeface="Helvetica Light"/>
            </a:endParaRPr>
          </a:p>
          <a:p>
            <a:pPr lvl="5" algn="l">
              <a:defRPr b="1">
                <a:latin typeface="Helvetica"/>
                <a:ea typeface="Helvetica"/>
                <a:cs typeface="Helvetica"/>
                <a:sym typeface="Helvetica"/>
              </a:defRPr>
            </a:pPr>
            <a:r>
              <a:rPr b="0">
                <a:latin typeface="+mn-lt"/>
                <a:ea typeface="+mn-ea"/>
                <a:cs typeface="+mn-cs"/>
                <a:sym typeface="Helvetica Light"/>
              </a:rPr>
              <a:t>  doesn’t consider enough about the data</a:t>
            </a:r>
          </a:p>
        </p:txBody>
      </p:sp>
      <p:sp>
        <p:nvSpPr>
          <p:cNvPr id="217" name="variance - highly sensitive to fluctuations in the data"/>
          <p:cNvSpPr txBox="1"/>
          <p:nvPr/>
        </p:nvSpPr>
        <p:spPr>
          <a:xfrm>
            <a:off x="763184" y="5895261"/>
            <a:ext cx="11478431" cy="647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b="1">
                <a:latin typeface="Helvetica"/>
                <a:ea typeface="Helvetica"/>
                <a:cs typeface="Helvetica"/>
                <a:sym typeface="Helvetica"/>
              </a:defRPr>
            </a:pPr>
            <a:r>
              <a:t>variance - </a:t>
            </a:r>
            <a:r>
              <a:rPr b="0">
                <a:latin typeface="+mn-lt"/>
                <a:ea typeface="+mn-ea"/>
                <a:cs typeface="+mn-cs"/>
                <a:sym typeface="Helvetica Light"/>
              </a:rPr>
              <a:t>highly sensitive to fluctuations in the data</a:t>
            </a:r>
          </a:p>
        </p:txBody>
      </p:sp>
      <p:sp>
        <p:nvSpPr>
          <p:cNvPr id="218" name="high bias = under-fitting"/>
          <p:cNvSpPr txBox="1"/>
          <p:nvPr/>
        </p:nvSpPr>
        <p:spPr>
          <a:xfrm>
            <a:off x="2092177" y="3725405"/>
            <a:ext cx="9207921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high bias = under-fitting</a:t>
            </a:r>
          </a:p>
        </p:txBody>
      </p:sp>
      <p:sp>
        <p:nvSpPr>
          <p:cNvPr id="219" name="high variance = over-fitting"/>
          <p:cNvSpPr txBox="1"/>
          <p:nvPr/>
        </p:nvSpPr>
        <p:spPr>
          <a:xfrm>
            <a:off x="3027003" y="6797504"/>
            <a:ext cx="9207921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high variance = over-fitting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17" grpId="3"/>
      <p:bldP build="whole" bldLvl="1" animBg="1" rev="0" advAuto="0" spid="219" grpId="4"/>
      <p:bldP build="whole" bldLvl="1" animBg="1" rev="0" advAuto="0" spid="218" grpId="2"/>
      <p:bldP build="whole" bldLvl="1" animBg="1" rev="0" advAuto="0" spid="216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Screen Shot 2017-05-05 at 2.47.58 PM.png" descr="Screen Shot 2017-05-05 at 2.47.58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47919" y="5200686"/>
            <a:ext cx="2209801" cy="2641601"/>
          </a:xfrm>
          <a:prstGeom prst="rect">
            <a:avLst/>
          </a:prstGeom>
          <a:ln w="12700">
            <a:miter lim="400000"/>
          </a:ln>
        </p:spPr>
      </p:pic>
      <p:sp>
        <p:nvSpPr>
          <p:cNvPr id="222" name="Line"/>
          <p:cNvSpPr/>
          <p:nvPr/>
        </p:nvSpPr>
        <p:spPr>
          <a:xfrm>
            <a:off x="2298474" y="5050511"/>
            <a:ext cx="8153853" cy="1"/>
          </a:xfrm>
          <a:prstGeom prst="line">
            <a:avLst/>
          </a:prstGeom>
          <a:ln w="762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223" name="There is a inescapable tradeoff between bias and variance"/>
          <p:cNvSpPr txBox="1"/>
          <p:nvPr/>
        </p:nvSpPr>
        <p:spPr>
          <a:xfrm>
            <a:off x="493521" y="243176"/>
            <a:ext cx="12372595" cy="647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There is a 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inescapable</a:t>
            </a:r>
            <a:r>
              <a:t> tradeoff between 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bias</a:t>
            </a:r>
            <a:r>
              <a:t> and 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variance</a:t>
            </a:r>
          </a:p>
        </p:txBody>
      </p:sp>
      <p:sp>
        <p:nvSpPr>
          <p:cNvPr id="229" name="Connection Line"/>
          <p:cNvSpPr/>
          <p:nvPr/>
        </p:nvSpPr>
        <p:spPr>
          <a:xfrm>
            <a:off x="2603727" y="1520606"/>
            <a:ext cx="7725135" cy="33606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712" fill="norm" stroke="1" extrusionOk="0">
                <a:moveTo>
                  <a:pt x="21600" y="20620"/>
                </a:moveTo>
                <a:cubicBezTo>
                  <a:pt x="9765" y="21600"/>
                  <a:pt x="2565" y="14727"/>
                  <a:pt x="0" y="0"/>
                </a:cubicBezTo>
              </a:path>
            </a:pathLst>
          </a:custGeom>
          <a:ln w="38100">
            <a:solidFill>
              <a:schemeClr val="accent1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230" name="Connection Line"/>
          <p:cNvSpPr/>
          <p:nvPr/>
        </p:nvSpPr>
        <p:spPr>
          <a:xfrm>
            <a:off x="2681717" y="1490097"/>
            <a:ext cx="7725135" cy="33606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712" fill="norm" stroke="1" extrusionOk="0">
                <a:moveTo>
                  <a:pt x="0" y="20620"/>
                </a:moveTo>
                <a:cubicBezTo>
                  <a:pt x="11835" y="21600"/>
                  <a:pt x="19035" y="14727"/>
                  <a:pt x="21600" y="0"/>
                </a:cubicBezTo>
              </a:path>
            </a:pathLst>
          </a:custGeom>
          <a:ln w="38100">
            <a:solidFill>
              <a:schemeClr val="accent6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226" name="bias"/>
          <p:cNvSpPr txBox="1"/>
          <p:nvPr/>
        </p:nvSpPr>
        <p:spPr>
          <a:xfrm>
            <a:off x="1276341" y="1825014"/>
            <a:ext cx="977952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/>
            <a:r>
              <a:t>bias</a:t>
            </a:r>
          </a:p>
        </p:txBody>
      </p:sp>
      <p:sp>
        <p:nvSpPr>
          <p:cNvPr id="227" name="variance"/>
          <p:cNvSpPr txBox="1"/>
          <p:nvPr/>
        </p:nvSpPr>
        <p:spPr>
          <a:xfrm>
            <a:off x="10429274" y="1825014"/>
            <a:ext cx="1867663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pPr/>
            <a:r>
              <a:t>variance</a:t>
            </a:r>
          </a:p>
        </p:txBody>
      </p:sp>
      <p:sp>
        <p:nvSpPr>
          <p:cNvPr id="228" name="Absolute Error = Bias2 + Variance + Noise"/>
          <p:cNvSpPr txBox="1"/>
          <p:nvPr/>
        </p:nvSpPr>
        <p:spPr>
          <a:xfrm>
            <a:off x="2328951" y="8549187"/>
            <a:ext cx="8701736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Absolute Error = Bias</a:t>
            </a:r>
            <a:r>
              <a:rPr baseline="31999"/>
              <a:t>2</a:t>
            </a:r>
            <a:r>
              <a:t> + Variance + Noise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tandard approach to data and testing"/>
          <p:cNvSpPr txBox="1"/>
          <p:nvPr/>
        </p:nvSpPr>
        <p:spPr>
          <a:xfrm>
            <a:off x="-108938" y="282310"/>
            <a:ext cx="9851396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/>
            </a:lvl1pPr>
          </a:lstStyle>
          <a:p>
            <a:pPr/>
            <a:r>
              <a:t>Standard approach to data and testing</a:t>
            </a:r>
          </a:p>
        </p:txBody>
      </p:sp>
      <p:graphicFrame>
        <p:nvGraphicFramePr>
          <p:cNvPr id="233" name="Scatter Chart"/>
          <p:cNvGraphicFramePr/>
          <p:nvPr/>
        </p:nvGraphicFramePr>
        <p:xfrm>
          <a:off x="3407549" y="958235"/>
          <a:ext cx="4717517" cy="251565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34" name="Scatter Chart"/>
          <p:cNvGraphicFramePr/>
          <p:nvPr/>
        </p:nvGraphicFramePr>
        <p:xfrm>
          <a:off x="-28486" y="5967149"/>
          <a:ext cx="5161691" cy="327040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35" name="Scatter Chart"/>
          <p:cNvGraphicFramePr/>
          <p:nvPr/>
        </p:nvGraphicFramePr>
        <p:xfrm>
          <a:off x="7602552" y="5967149"/>
          <a:ext cx="5161690" cy="327040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6" name="Line"/>
          <p:cNvSpPr/>
          <p:nvPr/>
        </p:nvSpPr>
        <p:spPr>
          <a:xfrm flipH="1">
            <a:off x="4031112" y="3854468"/>
            <a:ext cx="963660" cy="963660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237" name="Line"/>
          <p:cNvSpPr/>
          <p:nvPr/>
        </p:nvSpPr>
        <p:spPr>
          <a:xfrm>
            <a:off x="8107811" y="3854468"/>
            <a:ext cx="963660" cy="963660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238" name="Testing (20-30% of data)"/>
          <p:cNvSpPr txBox="1"/>
          <p:nvPr/>
        </p:nvSpPr>
        <p:spPr>
          <a:xfrm>
            <a:off x="7623305" y="5273899"/>
            <a:ext cx="5120184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Testing (20-30% of data)</a:t>
            </a:r>
          </a:p>
        </p:txBody>
      </p:sp>
      <p:sp>
        <p:nvSpPr>
          <p:cNvPr id="239" name="Training (70-80% of data)"/>
          <p:cNvSpPr txBox="1"/>
          <p:nvPr/>
        </p:nvSpPr>
        <p:spPr>
          <a:xfrm>
            <a:off x="203366" y="5273899"/>
            <a:ext cx="5281118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Training (70-80% of data)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More principled approach"/>
          <p:cNvSpPr txBox="1"/>
          <p:nvPr/>
        </p:nvSpPr>
        <p:spPr>
          <a:xfrm>
            <a:off x="-108938" y="282310"/>
            <a:ext cx="7149398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/>
            </a:lvl1pPr>
          </a:lstStyle>
          <a:p>
            <a:pPr/>
            <a:r>
              <a:t>More principled approach</a:t>
            </a:r>
          </a:p>
        </p:txBody>
      </p:sp>
      <p:graphicFrame>
        <p:nvGraphicFramePr>
          <p:cNvPr id="242" name="Scatter Chart"/>
          <p:cNvGraphicFramePr/>
          <p:nvPr/>
        </p:nvGraphicFramePr>
        <p:xfrm>
          <a:off x="389176" y="2206121"/>
          <a:ext cx="4426106" cy="253447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3" name="Testing (20% of data)"/>
          <p:cNvSpPr txBox="1"/>
          <p:nvPr/>
        </p:nvSpPr>
        <p:spPr>
          <a:xfrm>
            <a:off x="5830741" y="1512871"/>
            <a:ext cx="445953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Testing (20% of data)</a:t>
            </a:r>
          </a:p>
        </p:txBody>
      </p:sp>
      <p:sp>
        <p:nvSpPr>
          <p:cNvPr id="244" name="Training (60% of data)"/>
          <p:cNvSpPr txBox="1"/>
          <p:nvPr/>
        </p:nvSpPr>
        <p:spPr>
          <a:xfrm>
            <a:off x="291997" y="1512871"/>
            <a:ext cx="4620464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Training (60% of data)</a:t>
            </a:r>
          </a:p>
        </p:txBody>
      </p:sp>
      <p:graphicFrame>
        <p:nvGraphicFramePr>
          <p:cNvPr id="245" name="Scatter Chart"/>
          <p:cNvGraphicFramePr/>
          <p:nvPr/>
        </p:nvGraphicFramePr>
        <p:xfrm>
          <a:off x="389176" y="6803056"/>
          <a:ext cx="4426106" cy="253447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46" name="Scatter Chart"/>
          <p:cNvGraphicFramePr/>
          <p:nvPr/>
        </p:nvGraphicFramePr>
        <p:xfrm>
          <a:off x="5789978" y="2206121"/>
          <a:ext cx="4299106" cy="253447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47" name="Validation (20% of data)"/>
          <p:cNvSpPr txBox="1"/>
          <p:nvPr/>
        </p:nvSpPr>
        <p:spPr>
          <a:xfrm>
            <a:off x="105688" y="5819852"/>
            <a:ext cx="4993082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Validation (20% of data)</a:t>
            </a:r>
          </a:p>
        </p:txBody>
      </p:sp>
      <p:sp>
        <p:nvSpPr>
          <p:cNvPr id="248" name="Rounded Rectangle"/>
          <p:cNvSpPr/>
          <p:nvPr/>
        </p:nvSpPr>
        <p:spPr>
          <a:xfrm>
            <a:off x="50342" y="1201721"/>
            <a:ext cx="10541916" cy="4137197"/>
          </a:xfrm>
          <a:prstGeom prst="roundRect">
            <a:avLst>
              <a:gd name="adj" fmla="val 15000"/>
            </a:avLst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249" name="Model Training"/>
          <p:cNvSpPr txBox="1"/>
          <p:nvPr/>
        </p:nvSpPr>
        <p:spPr>
          <a:xfrm>
            <a:off x="7354748" y="6348028"/>
            <a:ext cx="3120848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Model Training</a:t>
            </a:r>
          </a:p>
        </p:txBody>
      </p:sp>
      <p:sp>
        <p:nvSpPr>
          <p:cNvPr id="250" name="Evaluate model once"/>
          <p:cNvSpPr txBox="1"/>
          <p:nvPr/>
        </p:nvSpPr>
        <p:spPr>
          <a:xfrm>
            <a:off x="6042154" y="7973090"/>
            <a:ext cx="4408781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Evaluate model once</a:t>
            </a:r>
          </a:p>
        </p:txBody>
      </p:sp>
      <p:sp>
        <p:nvSpPr>
          <p:cNvPr id="251" name="Line"/>
          <p:cNvSpPr/>
          <p:nvPr/>
        </p:nvSpPr>
        <p:spPr>
          <a:xfrm>
            <a:off x="8959801" y="5361687"/>
            <a:ext cx="1" cy="782826"/>
          </a:xfrm>
          <a:prstGeom prst="line">
            <a:avLst/>
          </a:prstGeom>
          <a:ln w="508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252" name="Line"/>
          <p:cNvSpPr/>
          <p:nvPr/>
        </p:nvSpPr>
        <p:spPr>
          <a:xfrm>
            <a:off x="4935566" y="8296940"/>
            <a:ext cx="872070" cy="1"/>
          </a:xfrm>
          <a:prstGeom prst="line">
            <a:avLst/>
          </a:prstGeom>
          <a:ln w="508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More principled approach"/>
          <p:cNvSpPr txBox="1"/>
          <p:nvPr/>
        </p:nvSpPr>
        <p:spPr>
          <a:xfrm>
            <a:off x="-108938" y="282310"/>
            <a:ext cx="7149398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200"/>
            </a:lvl1pPr>
          </a:lstStyle>
          <a:p>
            <a:pPr/>
            <a:r>
              <a:t>More principled approach</a:t>
            </a:r>
          </a:p>
        </p:txBody>
      </p:sp>
      <p:graphicFrame>
        <p:nvGraphicFramePr>
          <p:cNvPr id="255" name="Scatter Chart"/>
          <p:cNvGraphicFramePr/>
          <p:nvPr/>
        </p:nvGraphicFramePr>
        <p:xfrm>
          <a:off x="389176" y="6803056"/>
          <a:ext cx="4426106" cy="253447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6" name="Validation (20% of data)"/>
          <p:cNvSpPr txBox="1"/>
          <p:nvPr/>
        </p:nvSpPr>
        <p:spPr>
          <a:xfrm>
            <a:off x="105688" y="5819852"/>
            <a:ext cx="4993082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Validation (20% of data)</a:t>
            </a:r>
          </a:p>
        </p:txBody>
      </p:sp>
      <p:sp>
        <p:nvSpPr>
          <p:cNvPr id="257" name="Rounded Rectangle"/>
          <p:cNvSpPr/>
          <p:nvPr/>
        </p:nvSpPr>
        <p:spPr>
          <a:xfrm>
            <a:off x="50342" y="1201721"/>
            <a:ext cx="11692556" cy="4137197"/>
          </a:xfrm>
          <a:prstGeom prst="roundRect">
            <a:avLst>
              <a:gd name="adj" fmla="val 15000"/>
            </a:avLst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258" name="Model Training"/>
          <p:cNvSpPr txBox="1"/>
          <p:nvPr/>
        </p:nvSpPr>
        <p:spPr>
          <a:xfrm>
            <a:off x="7354748" y="6348028"/>
            <a:ext cx="3120848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Model Training</a:t>
            </a:r>
          </a:p>
        </p:txBody>
      </p:sp>
      <p:sp>
        <p:nvSpPr>
          <p:cNvPr id="259" name="Evaluate model once"/>
          <p:cNvSpPr txBox="1"/>
          <p:nvPr/>
        </p:nvSpPr>
        <p:spPr>
          <a:xfrm>
            <a:off x="6042154" y="7973090"/>
            <a:ext cx="4408781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Evaluate model once</a:t>
            </a:r>
          </a:p>
        </p:txBody>
      </p:sp>
      <p:sp>
        <p:nvSpPr>
          <p:cNvPr id="260" name="Line"/>
          <p:cNvSpPr/>
          <p:nvPr/>
        </p:nvSpPr>
        <p:spPr>
          <a:xfrm>
            <a:off x="8959801" y="5361687"/>
            <a:ext cx="1" cy="782826"/>
          </a:xfrm>
          <a:prstGeom prst="line">
            <a:avLst/>
          </a:prstGeom>
          <a:ln w="508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261" name="Line"/>
          <p:cNvSpPr/>
          <p:nvPr/>
        </p:nvSpPr>
        <p:spPr>
          <a:xfrm>
            <a:off x="4935566" y="8296940"/>
            <a:ext cx="872070" cy="1"/>
          </a:xfrm>
          <a:prstGeom prst="line">
            <a:avLst/>
          </a:prstGeom>
          <a:ln w="508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pic>
        <p:nvPicPr>
          <p:cNvPr id="262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6718" y="1411370"/>
            <a:ext cx="6908329" cy="3768179"/>
          </a:xfrm>
          <a:prstGeom prst="rect">
            <a:avLst/>
          </a:prstGeom>
          <a:ln w="12700">
            <a:miter lim="400000"/>
          </a:ln>
        </p:spPr>
      </p:pic>
      <p:sp>
        <p:nvSpPr>
          <p:cNvPr id="263" name="or k-fold…"/>
          <p:cNvSpPr txBox="1"/>
          <p:nvPr/>
        </p:nvSpPr>
        <p:spPr>
          <a:xfrm>
            <a:off x="7795006" y="2698559"/>
            <a:ext cx="3332531" cy="119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or </a:t>
            </a:r>
            <a:r>
              <a:rPr i="1">
                <a:latin typeface="Helvetica"/>
                <a:ea typeface="Helvetica"/>
                <a:cs typeface="Helvetica"/>
                <a:sym typeface="Helvetica"/>
              </a:rPr>
              <a:t>k</a:t>
            </a:r>
            <a:r>
              <a:t>-fold</a:t>
            </a:r>
          </a:p>
          <a:p>
            <a:pPr/>
            <a:r>
              <a:t>cross-validation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So is it all about numbers and metrics?"/>
          <p:cNvSpPr txBox="1"/>
          <p:nvPr/>
        </p:nvSpPr>
        <p:spPr>
          <a:xfrm>
            <a:off x="144983" y="268816"/>
            <a:ext cx="8041234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So is it all about numbers and metrics?</a:t>
            </a:r>
          </a:p>
        </p:txBody>
      </p:sp>
      <p:sp>
        <p:nvSpPr>
          <p:cNvPr id="266" name="Is an ML solution that is 90% accurate for one problem…"/>
          <p:cNvSpPr txBox="1"/>
          <p:nvPr/>
        </p:nvSpPr>
        <p:spPr>
          <a:xfrm>
            <a:off x="145863" y="7823200"/>
            <a:ext cx="914014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pPr/>
            <a:r>
              <a:t>Is an ML solution that is 90% accurate for one problem…</a:t>
            </a:r>
          </a:p>
        </p:txBody>
      </p:sp>
      <p:sp>
        <p:nvSpPr>
          <p:cNvPr id="267" name="…better than an ML solution that is 70% accurate for a different problem?"/>
          <p:cNvSpPr txBox="1"/>
          <p:nvPr/>
        </p:nvSpPr>
        <p:spPr>
          <a:xfrm>
            <a:off x="1149366" y="8585200"/>
            <a:ext cx="11755934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pPr/>
            <a:r>
              <a:t>…better than an ML solution that is 70% accurate for a different problem?</a:t>
            </a:r>
          </a:p>
        </p:txBody>
      </p:sp>
      <p:pic>
        <p:nvPicPr>
          <p:cNvPr id="268" name="ct-scan-vs-mri-scan-4-638.jpg" descr="ct-scan-vs-mri-scan-4-638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32050" y="1511300"/>
            <a:ext cx="8102600" cy="6083300"/>
          </a:xfrm>
          <a:prstGeom prst="rect">
            <a:avLst/>
          </a:prstGeom>
          <a:ln w="12700">
            <a:miter lim="400000"/>
          </a:ln>
        </p:spPr>
      </p:pic>
      <p:sp>
        <p:nvSpPr>
          <p:cNvPr id="269" name="Rectangle"/>
          <p:cNvSpPr/>
          <p:nvPr/>
        </p:nvSpPr>
        <p:spPr>
          <a:xfrm>
            <a:off x="6373283" y="1511300"/>
            <a:ext cx="4199467" cy="60833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270" name="Human accuracy:…"/>
          <p:cNvSpPr txBox="1"/>
          <p:nvPr/>
        </p:nvSpPr>
        <p:spPr>
          <a:xfrm>
            <a:off x="2613270" y="1570566"/>
            <a:ext cx="3748127" cy="119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Human accuracy: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88%</a:t>
            </a:r>
          </a:p>
        </p:txBody>
      </p:sp>
      <p:sp>
        <p:nvSpPr>
          <p:cNvPr id="271" name="Human accuracy:…"/>
          <p:cNvSpPr txBox="1"/>
          <p:nvPr/>
        </p:nvSpPr>
        <p:spPr>
          <a:xfrm>
            <a:off x="6753470" y="1570566"/>
            <a:ext cx="3748127" cy="119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Human accuracy: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52%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xit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70" grpId="4"/>
      <p:bldP build="whole" bldLvl="1" animBg="1" rev="0" advAuto="0" spid="271" grpId="3"/>
      <p:bldP build="whole" bldLvl="1" animBg="1" rev="0" advAuto="0" spid="269" grpId="1"/>
      <p:bldP build="whole" bldLvl="1" animBg="1" rev="0" advAuto="0" spid="267" grpId="2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AI performance really only matters…"/>
          <p:cNvSpPr txBox="1"/>
          <p:nvPr/>
        </p:nvSpPr>
        <p:spPr>
          <a:xfrm>
            <a:off x="143637" y="3022594"/>
            <a:ext cx="12717527" cy="370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5900"/>
            </a:pPr>
            <a:r>
              <a:t>AI performance 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really only matters</a:t>
            </a:r>
            <a:r>
              <a:t> </a:t>
            </a:r>
          </a:p>
          <a:p>
            <a:pPr>
              <a:defRPr sz="5900"/>
            </a:pPr>
            <a:r>
              <a:t>in comparison to human performance</a:t>
            </a:r>
          </a:p>
          <a:p>
            <a:pPr>
              <a:defRPr sz="5900"/>
            </a:pPr>
            <a:r>
              <a:t>and scaling/amount of time the task takes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png"/></Relationships>

</file>

<file path=ppt/theme/_rels/theme2.xml.rels><?xml version="1.0" encoding="UTF-8"?>
<Relationships xmlns="http://schemas.openxmlformats.org/package/2006/relationships"><Relationship Id="rId1" Type="http://schemas.openxmlformats.org/officeDocument/2006/relationships/image" Target="../media/image2.png"/></Relationships>
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50800" dist="1270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38100" dist="254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50800" dist="1270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38100" dist="254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