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87"/>
    <p:restoredTop sz="94610"/>
  </p:normalViewPr>
  <p:slideViewPr>
    <p:cSldViewPr snapToGrid="0" snapToObjects="1">
      <p:cViewPr varScale="1">
        <p:scale>
          <a:sx n="197" d="100"/>
          <a:sy n="197" d="100"/>
        </p:scale>
        <p:origin x="200" y="1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3541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7910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17241" y="457200"/>
            <a:ext cx="4709517" cy="6172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4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Packages</a:t>
            </a:r>
            <a:endParaRPr lang="en-US" sz="4050" dirty="0"/>
          </a:p>
        </p:txBody>
      </p:sp>
      <p:sp>
        <p:nvSpPr>
          <p:cNvPr id="4" name="Text 1"/>
          <p:cNvSpPr/>
          <p:nvPr/>
        </p:nvSpPr>
        <p:spPr>
          <a:xfrm>
            <a:off x="2217241" y="1217284"/>
            <a:ext cx="4709517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Building Blocks of Reusable Code</a:t>
            </a:r>
            <a:endParaRPr lang="en-US" sz="2025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2117396"/>
            <a:ext cx="5715000" cy="321650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8600" y="5419623"/>
            <a:ext cx="243621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Understanding Structure, Creation, and Distribution</a:t>
            </a:r>
            <a:endParaRPr lang="en-US" sz="732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8286750" y="4933848"/>
            <a:ext cx="714375" cy="7143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921544"/>
            <a:ext cx="371475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D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a Python Package?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28625" y="1537692"/>
            <a:ext cx="147518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Python package is a </a:t>
            </a:r>
            <a:endParaRPr lang="en-US" sz="1046" dirty="0"/>
          </a:p>
        </p:txBody>
      </p:sp>
      <p:sp>
        <p:nvSpPr>
          <p:cNvPr id="5" name="Text 2"/>
          <p:cNvSpPr/>
          <p:nvPr/>
        </p:nvSpPr>
        <p:spPr>
          <a:xfrm>
            <a:off x="1903809" y="1537692"/>
            <a:ext cx="193059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FFD4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collection of related modules</a:t>
            </a:r>
            <a:endParaRPr lang="en-US" sz="1046" dirty="0"/>
          </a:p>
        </p:txBody>
      </p:sp>
      <p:sp>
        <p:nvSpPr>
          <p:cNvPr id="6" name="Text 3"/>
          <p:cNvSpPr/>
          <p:nvPr/>
        </p:nvSpPr>
        <p:spPr>
          <a:xfrm>
            <a:off x="428625" y="1766292"/>
            <a:ext cx="357008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organized in a directory hierarchy that provides a way </a:t>
            </a:r>
            <a:endParaRPr lang="en-US" sz="1046" dirty="0"/>
          </a:p>
        </p:txBody>
      </p:sp>
      <p:sp>
        <p:nvSpPr>
          <p:cNvPr id="7" name="Text 4"/>
          <p:cNvSpPr/>
          <p:nvPr/>
        </p:nvSpPr>
        <p:spPr>
          <a:xfrm>
            <a:off x="428625" y="1994892"/>
            <a:ext cx="259139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structure and organize Python code. </a:t>
            </a:r>
            <a:endParaRPr lang="en-US" sz="1046" dirty="0"/>
          </a:p>
        </p:txBody>
      </p:sp>
      <p:sp>
        <p:nvSpPr>
          <p:cNvPr id="8" name="Shape 5"/>
          <p:cNvSpPr/>
          <p:nvPr/>
        </p:nvSpPr>
        <p:spPr>
          <a:xfrm>
            <a:off x="428625" y="2400300"/>
            <a:ext cx="285750" cy="28575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06" y="2486025"/>
            <a:ext cx="128588" cy="1143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1531" y="2359223"/>
            <a:ext cx="74685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Modularity: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1568388" y="2359223"/>
            <a:ext cx="188742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Break down complex code into </a:t>
            </a:r>
            <a:endParaRPr lang="en-US" sz="942" dirty="0"/>
          </a:p>
        </p:txBody>
      </p:sp>
      <p:sp>
        <p:nvSpPr>
          <p:cNvPr id="12" name="Text 8"/>
          <p:cNvSpPr/>
          <p:nvPr/>
        </p:nvSpPr>
        <p:spPr>
          <a:xfrm>
            <a:off x="821531" y="2552105"/>
            <a:ext cx="21309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manageable, reusable components </a:t>
            </a:r>
            <a:endParaRPr lang="en-US" sz="942" dirty="0"/>
          </a:p>
        </p:txBody>
      </p:sp>
      <p:sp>
        <p:nvSpPr>
          <p:cNvPr id="13" name="Shape 9"/>
          <p:cNvSpPr/>
          <p:nvPr/>
        </p:nvSpPr>
        <p:spPr>
          <a:xfrm>
            <a:off x="428625" y="2893219"/>
            <a:ext cx="285750" cy="28575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" y="2978944"/>
            <a:ext cx="114300" cy="1143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1531" y="2852142"/>
            <a:ext cx="75160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Reusability:</a:t>
            </a:r>
            <a:endParaRPr lang="en-US" sz="942" dirty="0"/>
          </a:p>
        </p:txBody>
      </p:sp>
      <p:sp>
        <p:nvSpPr>
          <p:cNvPr id="16" name="Text 11"/>
          <p:cNvSpPr/>
          <p:nvPr/>
        </p:nvSpPr>
        <p:spPr>
          <a:xfrm>
            <a:off x="1573132" y="2852142"/>
            <a:ext cx="242787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Share code across projects and with the </a:t>
            </a:r>
            <a:endParaRPr lang="en-US" sz="942" dirty="0"/>
          </a:p>
        </p:txBody>
      </p:sp>
      <p:sp>
        <p:nvSpPr>
          <p:cNvPr id="17" name="Text 12"/>
          <p:cNvSpPr/>
          <p:nvPr/>
        </p:nvSpPr>
        <p:spPr>
          <a:xfrm>
            <a:off x="821531" y="3045023"/>
            <a:ext cx="68409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community </a:t>
            </a:r>
            <a:endParaRPr lang="en-US" sz="942" dirty="0"/>
          </a:p>
        </p:txBody>
      </p:sp>
      <p:sp>
        <p:nvSpPr>
          <p:cNvPr id="18" name="Shape 13"/>
          <p:cNvSpPr/>
          <p:nvPr/>
        </p:nvSpPr>
        <p:spPr>
          <a:xfrm>
            <a:off x="428625" y="3336131"/>
            <a:ext cx="285750" cy="28575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21494" y="3421856"/>
            <a:ext cx="100013" cy="1143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1531" y="3391495"/>
            <a:ext cx="81332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Distribution:</a:t>
            </a:r>
            <a:endParaRPr lang="en-US" sz="942" dirty="0"/>
          </a:p>
        </p:txBody>
      </p:sp>
      <p:sp>
        <p:nvSpPr>
          <p:cNvPr id="21" name="Text 15"/>
          <p:cNvSpPr/>
          <p:nvPr/>
        </p:nvSpPr>
        <p:spPr>
          <a:xfrm>
            <a:off x="1634858" y="3391495"/>
            <a:ext cx="25063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Package code for easy installation via pip </a:t>
            </a:r>
            <a:endParaRPr lang="en-US" sz="942" dirty="0"/>
          </a:p>
        </p:txBody>
      </p:sp>
      <p:sp>
        <p:nvSpPr>
          <p:cNvPr id="22" name="Shape 16"/>
          <p:cNvSpPr/>
          <p:nvPr/>
        </p:nvSpPr>
        <p:spPr>
          <a:xfrm>
            <a:off x="428625" y="3779044"/>
            <a:ext cx="285750" cy="28575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14350" y="3864769"/>
            <a:ext cx="114300" cy="1143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21531" y="3737967"/>
            <a:ext cx="78620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Namespace:</a:t>
            </a:r>
            <a:endParaRPr lang="en-US" sz="942" dirty="0"/>
          </a:p>
        </p:txBody>
      </p:sp>
      <p:sp>
        <p:nvSpPr>
          <p:cNvPr id="25" name="Text 18"/>
          <p:cNvSpPr/>
          <p:nvPr/>
        </p:nvSpPr>
        <p:spPr>
          <a:xfrm>
            <a:off x="1607734" y="3737967"/>
            <a:ext cx="205703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Avoid naming conflicts with other </a:t>
            </a:r>
            <a:endParaRPr lang="en-US" sz="942" dirty="0"/>
          </a:p>
        </p:txBody>
      </p:sp>
      <p:sp>
        <p:nvSpPr>
          <p:cNvPr id="26" name="Text 19"/>
          <p:cNvSpPr/>
          <p:nvPr/>
        </p:nvSpPr>
        <p:spPr>
          <a:xfrm>
            <a:off x="821531" y="3930848"/>
            <a:ext cx="52386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modules </a:t>
            </a:r>
            <a:endParaRPr lang="en-US" sz="942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2063" y="1566574"/>
            <a:ext cx="3571875" cy="2010324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3964781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1"/>
          <p:cNvSpPr/>
          <p:nvPr/>
        </p:nvSpPr>
        <p:spPr>
          <a:xfrm>
            <a:off x="4107656" y="4929188"/>
            <a:ext cx="71438" cy="71438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2"/>
          <p:cNvSpPr/>
          <p:nvPr/>
        </p:nvSpPr>
        <p:spPr>
          <a:xfrm>
            <a:off x="4250531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3"/>
          <p:cNvSpPr/>
          <p:nvPr/>
        </p:nvSpPr>
        <p:spPr>
          <a:xfrm>
            <a:off x="4393406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>
            <a:off x="4536281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5"/>
          <p:cNvSpPr/>
          <p:nvPr/>
        </p:nvSpPr>
        <p:spPr>
          <a:xfrm>
            <a:off x="4679156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6"/>
          <p:cNvSpPr/>
          <p:nvPr/>
        </p:nvSpPr>
        <p:spPr>
          <a:xfrm>
            <a:off x="4822031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7"/>
          <p:cNvSpPr/>
          <p:nvPr/>
        </p:nvSpPr>
        <p:spPr>
          <a:xfrm>
            <a:off x="4964906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28"/>
          <p:cNvSpPr/>
          <p:nvPr/>
        </p:nvSpPr>
        <p:spPr>
          <a:xfrm>
            <a:off x="5107781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7078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371475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D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Modules vs. Packages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428625" y="1278731"/>
            <a:ext cx="1597465" cy="378619"/>
          </a:xfrm>
          <a:prstGeom prst="rect">
            <a:avLst/>
          </a:prstGeom>
          <a:solidFill>
            <a:srgbClr val="4B8BB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8625" y="1278731"/>
            <a:ext cx="1597465" cy="37861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ctr">
              <a:buNone/>
            </a:pPr>
            <a:r>
              <a:rPr lang="en-US" sz="1238" b="1" dirty="0">
                <a:solidFill>
                  <a:srgbClr val="4B8BB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Module</a:t>
            </a:r>
            <a:endParaRPr lang="en-US" sz="1238" dirty="0"/>
          </a:p>
        </p:txBody>
      </p:sp>
      <p:sp>
        <p:nvSpPr>
          <p:cNvPr id="6" name="Shape 3"/>
          <p:cNvSpPr/>
          <p:nvPr/>
        </p:nvSpPr>
        <p:spPr>
          <a:xfrm>
            <a:off x="2026090" y="1278731"/>
            <a:ext cx="2117285" cy="378619"/>
          </a:xfrm>
          <a:prstGeom prst="rect">
            <a:avLst/>
          </a:prstGeom>
          <a:solidFill>
            <a:srgbClr val="FFD43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026090" y="1278731"/>
            <a:ext cx="2117285" cy="37861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ctr">
              <a:buNone/>
            </a:pPr>
            <a:r>
              <a:rPr lang="en-US" sz="1238" b="1" dirty="0">
                <a:solidFill>
                  <a:srgbClr val="FFD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Package</a:t>
            </a:r>
            <a:endParaRPr lang="en-US" sz="1238" dirty="0"/>
          </a:p>
        </p:txBody>
      </p:sp>
      <p:sp>
        <p:nvSpPr>
          <p:cNvPr id="8" name="Shape 5"/>
          <p:cNvSpPr/>
          <p:nvPr/>
        </p:nvSpPr>
        <p:spPr>
          <a:xfrm>
            <a:off x="428625" y="1764506"/>
            <a:ext cx="1597465" cy="60007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28625" y="1764506"/>
            <a:ext cx="1597465" cy="60007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single Python file (.py)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2026090" y="1764506"/>
            <a:ext cx="2117285" cy="60007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026090" y="1764506"/>
            <a:ext cx="2117285" cy="60007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directory containing multiple modules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428625" y="2471738"/>
            <a:ext cx="1597465" cy="614363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28625" y="2471738"/>
            <a:ext cx="1597465" cy="6143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Contains functions, classes, and variables</a:t>
            </a:r>
            <a:endParaRPr lang="en-US" sz="942" dirty="0"/>
          </a:p>
        </p:txBody>
      </p:sp>
      <p:sp>
        <p:nvSpPr>
          <p:cNvPr id="14" name="Shape 11"/>
          <p:cNvSpPr/>
          <p:nvPr/>
        </p:nvSpPr>
        <p:spPr>
          <a:xfrm>
            <a:off x="2026090" y="2471738"/>
            <a:ext cx="2117285" cy="614363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133247" y="2587823"/>
            <a:ext cx="7498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Contains an 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2883061" y="2616398"/>
            <a:ext cx="84882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__init__.py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2133247" y="2587823"/>
            <a:ext cx="1815182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file and other modules</a:t>
            </a:r>
            <a:endParaRPr lang="en-US" sz="942" dirty="0"/>
          </a:p>
        </p:txBody>
      </p:sp>
      <p:sp>
        <p:nvSpPr>
          <p:cNvPr id="18" name="Shape 15"/>
          <p:cNvSpPr/>
          <p:nvPr/>
        </p:nvSpPr>
        <p:spPr>
          <a:xfrm>
            <a:off x="428625" y="3193256"/>
            <a:ext cx="1597465" cy="1050131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35781" y="3336131"/>
            <a:ext cx="1383153" cy="8001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21506" y="3400425"/>
            <a:ext cx="66180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helpers.py</a:t>
            </a:r>
            <a:endParaRPr lang="en-US" sz="837" dirty="0"/>
          </a:p>
        </p:txBody>
      </p:sp>
      <p:sp>
        <p:nvSpPr>
          <p:cNvPr id="21" name="Text 18"/>
          <p:cNvSpPr/>
          <p:nvPr/>
        </p:nvSpPr>
        <p:spPr>
          <a:xfrm>
            <a:off x="621506" y="3571875"/>
            <a:ext cx="8945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def greet(name):</a:t>
            </a:r>
            <a:endParaRPr lang="en-US" sz="837" dirty="0"/>
          </a:p>
        </p:txBody>
      </p:sp>
      <p:sp>
        <p:nvSpPr>
          <p:cNvPr id="22" name="Text 19"/>
          <p:cNvSpPr/>
          <p:nvPr/>
        </p:nvSpPr>
        <p:spPr>
          <a:xfrm>
            <a:off x="621506" y="3743325"/>
            <a:ext cx="7696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return f"Hello, </a:t>
            </a:r>
            <a:endParaRPr lang="en-US" sz="837" dirty="0"/>
          </a:p>
        </p:txBody>
      </p:sp>
      <p:sp>
        <p:nvSpPr>
          <p:cNvPr id="23" name="Text 20"/>
          <p:cNvSpPr/>
          <p:nvPr/>
        </p:nvSpPr>
        <p:spPr>
          <a:xfrm>
            <a:off x="621506" y="3914775"/>
            <a:ext cx="47037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{name}!" </a:t>
            </a:r>
            <a:endParaRPr lang="en-US" sz="837" dirty="0"/>
          </a:p>
        </p:txBody>
      </p:sp>
      <p:sp>
        <p:nvSpPr>
          <p:cNvPr id="24" name="Shape 21"/>
          <p:cNvSpPr/>
          <p:nvPr/>
        </p:nvSpPr>
        <p:spPr>
          <a:xfrm>
            <a:off x="2026090" y="3193256"/>
            <a:ext cx="2117285" cy="1050131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2133247" y="3336131"/>
            <a:ext cx="1902972" cy="8001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2218972" y="3400425"/>
            <a:ext cx="7076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my_package/</a:t>
            </a:r>
            <a:endParaRPr lang="en-US" sz="837" dirty="0"/>
          </a:p>
        </p:txBody>
      </p:sp>
      <p:sp>
        <p:nvSpPr>
          <p:cNvPr id="27" name="Text 24"/>
          <p:cNvSpPr/>
          <p:nvPr/>
        </p:nvSpPr>
        <p:spPr>
          <a:xfrm>
            <a:off x="2218972" y="3571875"/>
            <a:ext cx="90343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├── __init__.py</a:t>
            </a:r>
            <a:endParaRPr lang="en-US" sz="837" dirty="0"/>
          </a:p>
        </p:txBody>
      </p:sp>
      <p:sp>
        <p:nvSpPr>
          <p:cNvPr id="28" name="Text 25"/>
          <p:cNvSpPr/>
          <p:nvPr/>
        </p:nvSpPr>
        <p:spPr>
          <a:xfrm>
            <a:off x="2218972" y="3743325"/>
            <a:ext cx="100584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├── module1.py</a:t>
            </a:r>
            <a:endParaRPr lang="en-US" sz="837" dirty="0"/>
          </a:p>
        </p:txBody>
      </p:sp>
      <p:sp>
        <p:nvSpPr>
          <p:cNvPr id="29" name="Text 26"/>
          <p:cNvSpPr/>
          <p:nvPr/>
        </p:nvSpPr>
        <p:spPr>
          <a:xfrm>
            <a:off x="2218972" y="3914775"/>
            <a:ext cx="100584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└── module2.py </a:t>
            </a:r>
            <a:endParaRPr lang="en-US" sz="837" dirty="0"/>
          </a:p>
        </p:txBody>
      </p:sp>
      <p:sp>
        <p:nvSpPr>
          <p:cNvPr id="30" name="Shape 27"/>
          <p:cNvSpPr/>
          <p:nvPr/>
        </p:nvSpPr>
        <p:spPr>
          <a:xfrm>
            <a:off x="428625" y="4350544"/>
            <a:ext cx="1597465" cy="821531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35781" y="4570214"/>
            <a:ext cx="74825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Import with:</a:t>
            </a:r>
            <a:endParaRPr lang="en-US" sz="942" dirty="0"/>
          </a:p>
        </p:txBody>
      </p:sp>
      <p:sp>
        <p:nvSpPr>
          <p:cNvPr id="32" name="Text 29"/>
          <p:cNvSpPr/>
          <p:nvPr/>
        </p:nvSpPr>
        <p:spPr>
          <a:xfrm>
            <a:off x="535781" y="4791670"/>
            <a:ext cx="108032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import helpers</a:t>
            </a:r>
            <a:endParaRPr lang="en-US" sz="942" dirty="0"/>
          </a:p>
        </p:txBody>
      </p:sp>
      <p:sp>
        <p:nvSpPr>
          <p:cNvPr id="33" name="Shape 30"/>
          <p:cNvSpPr/>
          <p:nvPr/>
        </p:nvSpPr>
        <p:spPr>
          <a:xfrm>
            <a:off x="2026090" y="4350544"/>
            <a:ext cx="2117285" cy="821531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2133247" y="4466630"/>
            <a:ext cx="74825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Import with:</a:t>
            </a:r>
            <a:endParaRPr lang="en-US" sz="942" dirty="0"/>
          </a:p>
        </p:txBody>
      </p:sp>
      <p:sp>
        <p:nvSpPr>
          <p:cNvPr id="35" name="Text 32"/>
          <p:cNvSpPr/>
          <p:nvPr/>
        </p:nvSpPr>
        <p:spPr>
          <a:xfrm>
            <a:off x="2133247" y="4688086"/>
            <a:ext cx="1388985" cy="353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import my_package.module1</a:t>
            </a:r>
            <a:endParaRPr lang="en-US" sz="942" dirty="0"/>
          </a:p>
        </p:txBody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063" y="1067991"/>
            <a:ext cx="3571875" cy="3571875"/>
          </a:xfrm>
          <a:prstGeom prst="rect">
            <a:avLst/>
          </a:prstGeom>
        </p:spPr>
      </p:pic>
      <p:sp>
        <p:nvSpPr>
          <p:cNvPr id="37" name="Shape 33"/>
          <p:cNvSpPr/>
          <p:nvPr/>
        </p:nvSpPr>
        <p:spPr>
          <a:xfrm>
            <a:off x="3964781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4107656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5"/>
          <p:cNvSpPr/>
          <p:nvPr/>
        </p:nvSpPr>
        <p:spPr>
          <a:xfrm>
            <a:off x="4250531" y="4929188"/>
            <a:ext cx="71438" cy="71438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6"/>
          <p:cNvSpPr/>
          <p:nvPr/>
        </p:nvSpPr>
        <p:spPr>
          <a:xfrm>
            <a:off x="4393406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7"/>
          <p:cNvSpPr/>
          <p:nvPr/>
        </p:nvSpPr>
        <p:spPr>
          <a:xfrm>
            <a:off x="4536281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8"/>
          <p:cNvSpPr/>
          <p:nvPr/>
        </p:nvSpPr>
        <p:spPr>
          <a:xfrm>
            <a:off x="4679156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39"/>
          <p:cNvSpPr/>
          <p:nvPr/>
        </p:nvSpPr>
        <p:spPr>
          <a:xfrm>
            <a:off x="4822031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0"/>
          <p:cNvSpPr/>
          <p:nvPr/>
        </p:nvSpPr>
        <p:spPr>
          <a:xfrm>
            <a:off x="4964906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1"/>
          <p:cNvSpPr/>
          <p:nvPr/>
        </p:nvSpPr>
        <p:spPr>
          <a:xfrm>
            <a:off x="5107781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704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371475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D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Package Structure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428625" y="1028700"/>
            <a:ext cx="3714750" cy="25486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1185863"/>
            <a:ext cx="79611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D4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my_package/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571500" y="1391580"/>
            <a:ext cx="4192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├── 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990721" y="1391580"/>
            <a:ext cx="59717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4B8BB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__init__.py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1597298"/>
            <a:ext cx="4192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├── 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990721" y="1597298"/>
            <a:ext cx="71239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module1.py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571500" y="1803016"/>
            <a:ext cx="4192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├── 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990721" y="1803016"/>
            <a:ext cx="71239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module2.py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571500" y="2008733"/>
            <a:ext cx="4192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├── 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990721" y="2008733"/>
            <a:ext cx="77333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D4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subpackage/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571500" y="2214451"/>
            <a:ext cx="58123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│ ├── 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1152739" y="2214451"/>
            <a:ext cx="59717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4B8BB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__init__.py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571500" y="2420169"/>
            <a:ext cx="58123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│ └── 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1152739" y="2420169"/>
            <a:ext cx="71239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module3.py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571500" y="2625886"/>
            <a:ext cx="4192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├── 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990721" y="2625886"/>
            <a:ext cx="51566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4B8BB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setup.py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1506382" y="2625886"/>
            <a:ext cx="19779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or 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1704175" y="2625886"/>
            <a:ext cx="87544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4B8BB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pyproject.toml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571500" y="2831604"/>
            <a:ext cx="4192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├── 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990721" y="2831604"/>
            <a:ext cx="74942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README.md</a:t>
            </a:r>
            <a:endParaRPr lang="en-US" sz="942" dirty="0"/>
          </a:p>
        </p:txBody>
      </p:sp>
      <p:sp>
        <p:nvSpPr>
          <p:cNvPr id="24" name="Text 21"/>
          <p:cNvSpPr/>
          <p:nvPr/>
        </p:nvSpPr>
        <p:spPr>
          <a:xfrm>
            <a:off x="571500" y="3037322"/>
            <a:ext cx="4192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├── </a:t>
            </a:r>
            <a:endParaRPr lang="en-US" sz="942" dirty="0"/>
          </a:p>
        </p:txBody>
      </p:sp>
      <p:sp>
        <p:nvSpPr>
          <p:cNvPr id="25" name="Text 22"/>
          <p:cNvSpPr/>
          <p:nvPr/>
        </p:nvSpPr>
        <p:spPr>
          <a:xfrm>
            <a:off x="990721" y="3037322"/>
            <a:ext cx="50355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LICENSE</a:t>
            </a:r>
            <a:endParaRPr lang="en-US" sz="942" dirty="0"/>
          </a:p>
        </p:txBody>
      </p:sp>
      <p:sp>
        <p:nvSpPr>
          <p:cNvPr id="26" name="Text 23"/>
          <p:cNvSpPr/>
          <p:nvPr/>
        </p:nvSpPr>
        <p:spPr>
          <a:xfrm>
            <a:off x="571500" y="3243039"/>
            <a:ext cx="4192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└── </a:t>
            </a:r>
            <a:endParaRPr lang="en-US" sz="942" dirty="0"/>
          </a:p>
        </p:txBody>
      </p:sp>
      <p:sp>
        <p:nvSpPr>
          <p:cNvPr id="27" name="Text 24"/>
          <p:cNvSpPr/>
          <p:nvPr/>
        </p:nvSpPr>
        <p:spPr>
          <a:xfrm>
            <a:off x="990721" y="3243039"/>
            <a:ext cx="33639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D4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tests/</a:t>
            </a:r>
            <a:endParaRPr lang="en-US" sz="942" dirty="0"/>
          </a:p>
        </p:txBody>
      </p:sp>
      <p:sp>
        <p:nvSpPr>
          <p:cNvPr id="28" name="Shape 25"/>
          <p:cNvSpPr/>
          <p:nvPr/>
        </p:nvSpPr>
        <p:spPr>
          <a:xfrm>
            <a:off x="428625" y="3748794"/>
            <a:ext cx="214313" cy="214313"/>
          </a:xfrm>
          <a:prstGeom prst="ellipse">
            <a:avLst/>
          </a:prstGeom>
          <a:solidFill>
            <a:srgbClr val="FFD43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78631" y="3798801"/>
            <a:ext cx="114300" cy="11430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50094" y="3755938"/>
            <a:ext cx="8492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Root directory:</a:t>
            </a:r>
            <a:endParaRPr lang="en-US" sz="837" dirty="0"/>
          </a:p>
        </p:txBody>
      </p:sp>
      <p:sp>
        <p:nvSpPr>
          <p:cNvPr id="31" name="Text 27"/>
          <p:cNvSpPr/>
          <p:nvPr/>
        </p:nvSpPr>
        <p:spPr>
          <a:xfrm>
            <a:off x="1599363" y="3755938"/>
            <a:ext cx="232269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Contains the package and distribution files </a:t>
            </a:r>
            <a:endParaRPr lang="en-US" sz="837" dirty="0"/>
          </a:p>
        </p:txBody>
      </p:sp>
      <p:sp>
        <p:nvSpPr>
          <p:cNvPr id="32" name="Shape 28"/>
          <p:cNvSpPr/>
          <p:nvPr/>
        </p:nvSpPr>
        <p:spPr>
          <a:xfrm>
            <a:off x="428625" y="4070263"/>
            <a:ext cx="214313" cy="214313"/>
          </a:xfrm>
          <a:prstGeom prst="ellipse">
            <a:avLst/>
          </a:prstGeom>
          <a:solidFill>
            <a:srgbClr val="FFD43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92919" y="4120269"/>
            <a:ext cx="85725" cy="11430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750094" y="4077407"/>
            <a:ext cx="5826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__init__.py:</a:t>
            </a:r>
            <a:endParaRPr lang="en-US" sz="837" dirty="0"/>
          </a:p>
        </p:txBody>
      </p:sp>
      <p:sp>
        <p:nvSpPr>
          <p:cNvPr id="35" name="Text 30"/>
          <p:cNvSpPr/>
          <p:nvPr/>
        </p:nvSpPr>
        <p:spPr>
          <a:xfrm>
            <a:off x="1332700" y="4077407"/>
            <a:ext cx="235470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Makes Python treat directories as packages </a:t>
            </a:r>
            <a:endParaRPr lang="en-US" sz="837" dirty="0"/>
          </a:p>
        </p:txBody>
      </p:sp>
      <p:sp>
        <p:nvSpPr>
          <p:cNvPr id="36" name="Shape 31"/>
          <p:cNvSpPr/>
          <p:nvPr/>
        </p:nvSpPr>
        <p:spPr>
          <a:xfrm>
            <a:off x="428625" y="4391732"/>
            <a:ext cx="214313" cy="214313"/>
          </a:xfrm>
          <a:prstGeom prst="ellipse">
            <a:avLst/>
          </a:prstGeom>
          <a:solidFill>
            <a:srgbClr val="FFD43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31" y="4441738"/>
            <a:ext cx="114300" cy="11430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750094" y="4398876"/>
            <a:ext cx="140751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setup.py/pyproject.toml:</a:t>
            </a:r>
            <a:endParaRPr lang="en-US" sz="837" dirty="0"/>
          </a:p>
        </p:txBody>
      </p:sp>
      <p:sp>
        <p:nvSpPr>
          <p:cNvPr id="39" name="Text 33"/>
          <p:cNvSpPr/>
          <p:nvPr/>
        </p:nvSpPr>
        <p:spPr>
          <a:xfrm>
            <a:off x="2157608" y="4398876"/>
            <a:ext cx="155873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Package metadata and build </a:t>
            </a:r>
            <a:endParaRPr lang="en-US" sz="837" dirty="0"/>
          </a:p>
        </p:txBody>
      </p:sp>
      <p:sp>
        <p:nvSpPr>
          <p:cNvPr id="40" name="Text 34"/>
          <p:cNvSpPr/>
          <p:nvPr/>
        </p:nvSpPr>
        <p:spPr>
          <a:xfrm>
            <a:off x="750094" y="4570326"/>
            <a:ext cx="72400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configuration </a:t>
            </a:r>
            <a:endParaRPr lang="en-US" sz="837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2063" y="1784598"/>
            <a:ext cx="3571875" cy="1701217"/>
          </a:xfrm>
          <a:prstGeom prst="rect">
            <a:avLst/>
          </a:prstGeom>
        </p:spPr>
      </p:pic>
      <p:sp>
        <p:nvSpPr>
          <p:cNvPr id="42" name="Shape 35"/>
          <p:cNvSpPr/>
          <p:nvPr/>
        </p:nvSpPr>
        <p:spPr>
          <a:xfrm>
            <a:off x="3964781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36"/>
          <p:cNvSpPr/>
          <p:nvPr/>
        </p:nvSpPr>
        <p:spPr>
          <a:xfrm>
            <a:off x="4107656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37"/>
          <p:cNvSpPr/>
          <p:nvPr/>
        </p:nvSpPr>
        <p:spPr>
          <a:xfrm>
            <a:off x="4250531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38"/>
          <p:cNvSpPr/>
          <p:nvPr/>
        </p:nvSpPr>
        <p:spPr>
          <a:xfrm>
            <a:off x="4393406" y="4929188"/>
            <a:ext cx="71438" cy="71438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39"/>
          <p:cNvSpPr/>
          <p:nvPr/>
        </p:nvSpPr>
        <p:spPr>
          <a:xfrm>
            <a:off x="4536281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0"/>
          <p:cNvSpPr/>
          <p:nvPr/>
        </p:nvSpPr>
        <p:spPr>
          <a:xfrm>
            <a:off x="4679156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1"/>
          <p:cNvSpPr/>
          <p:nvPr/>
        </p:nvSpPr>
        <p:spPr>
          <a:xfrm>
            <a:off x="4822031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2"/>
          <p:cNvSpPr/>
          <p:nvPr/>
        </p:nvSpPr>
        <p:spPr>
          <a:xfrm>
            <a:off x="4964906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3"/>
          <p:cNvSpPr/>
          <p:nvPr/>
        </p:nvSpPr>
        <p:spPr>
          <a:xfrm>
            <a:off x="5107781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149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371475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D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Files Explained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428625" y="1028700"/>
            <a:ext cx="3714750" cy="87153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35781" y="1135856"/>
            <a:ext cx="357188" cy="357188"/>
          </a:xfrm>
          <a:prstGeom prst="rect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60797" y="1310878"/>
            <a:ext cx="107156" cy="71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0125" y="1135856"/>
            <a:ext cx="303609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__init__.py</a:t>
            </a:r>
            <a:endParaRPr lang="en-US" sz="1238" dirty="0"/>
          </a:p>
        </p:txBody>
      </p:sp>
      <p:sp>
        <p:nvSpPr>
          <p:cNvPr id="8" name="Text 4"/>
          <p:cNvSpPr/>
          <p:nvPr/>
        </p:nvSpPr>
        <p:spPr>
          <a:xfrm>
            <a:off x="1000125" y="1407319"/>
            <a:ext cx="303609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Makes Python treat directories as packages; can be empty or contain initialization code</a:t>
            </a:r>
            <a:endParaRPr lang="en-US" sz="942" dirty="0"/>
          </a:p>
        </p:txBody>
      </p:sp>
      <p:sp>
        <p:nvSpPr>
          <p:cNvPr id="9" name="Shape 5"/>
          <p:cNvSpPr/>
          <p:nvPr/>
        </p:nvSpPr>
        <p:spPr>
          <a:xfrm>
            <a:off x="428625" y="2043113"/>
            <a:ext cx="3714750" cy="87153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535781" y="2150269"/>
            <a:ext cx="357188" cy="357188"/>
          </a:xfrm>
          <a:prstGeom prst="rect">
            <a:avLst/>
          </a:prstGeom>
          <a:solidFill>
            <a:srgbClr val="4B8BB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25078" y="2325291"/>
            <a:ext cx="178594" cy="71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0125" y="2150269"/>
            <a:ext cx="303609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setup.py / pyproject.toml</a:t>
            </a:r>
            <a:endParaRPr lang="en-US" sz="1238" dirty="0"/>
          </a:p>
        </p:txBody>
      </p:sp>
      <p:sp>
        <p:nvSpPr>
          <p:cNvPr id="13" name="Text 8"/>
          <p:cNvSpPr/>
          <p:nvPr/>
        </p:nvSpPr>
        <p:spPr>
          <a:xfrm>
            <a:off x="1000125" y="2421731"/>
            <a:ext cx="303609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Defines package metadata, dependencies, and build instructions for distribution</a:t>
            </a:r>
            <a:endParaRPr lang="en-US" sz="942" dirty="0"/>
          </a:p>
        </p:txBody>
      </p:sp>
      <p:sp>
        <p:nvSpPr>
          <p:cNvPr id="14" name="Shape 9"/>
          <p:cNvSpPr/>
          <p:nvPr/>
        </p:nvSpPr>
        <p:spPr>
          <a:xfrm>
            <a:off x="428625" y="3057525"/>
            <a:ext cx="3714750" cy="87153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535781" y="3164681"/>
            <a:ext cx="357188" cy="357188"/>
          </a:xfrm>
          <a:prstGeom prst="rect">
            <a:avLst/>
          </a:prstGeom>
          <a:solidFill>
            <a:srgbClr val="64646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51867" y="3339703"/>
            <a:ext cx="125016" cy="71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0125" y="3164681"/>
            <a:ext cx="303609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README.md</a:t>
            </a:r>
            <a:endParaRPr lang="en-US" sz="1238" dirty="0"/>
          </a:p>
        </p:txBody>
      </p:sp>
      <p:sp>
        <p:nvSpPr>
          <p:cNvPr id="18" name="Text 12"/>
          <p:cNvSpPr/>
          <p:nvPr/>
        </p:nvSpPr>
        <p:spPr>
          <a:xfrm>
            <a:off x="1000125" y="3436144"/>
            <a:ext cx="303609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Documentation with package overview, installation instructions, and usage examples</a:t>
            </a:r>
            <a:endParaRPr lang="en-US" sz="942" dirty="0"/>
          </a:p>
        </p:txBody>
      </p:sp>
      <p:sp>
        <p:nvSpPr>
          <p:cNvPr id="19" name="Shape 13"/>
          <p:cNvSpPr/>
          <p:nvPr/>
        </p:nvSpPr>
        <p:spPr>
          <a:xfrm>
            <a:off x="428625" y="4071938"/>
            <a:ext cx="3714750" cy="87153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535781" y="4179094"/>
            <a:ext cx="357188" cy="357188"/>
          </a:xfrm>
          <a:prstGeom prst="rect">
            <a:avLst/>
          </a:prstGeom>
          <a:solidFill>
            <a:srgbClr val="30699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42938" y="4354116"/>
            <a:ext cx="142875" cy="71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00125" y="4179094"/>
            <a:ext cx="303609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LICENSE</a:t>
            </a:r>
            <a:endParaRPr lang="en-US" sz="1238" dirty="0"/>
          </a:p>
        </p:txBody>
      </p:sp>
      <p:sp>
        <p:nvSpPr>
          <p:cNvPr id="23" name="Text 16"/>
          <p:cNvSpPr/>
          <p:nvPr/>
        </p:nvSpPr>
        <p:spPr>
          <a:xfrm>
            <a:off x="1000125" y="4450556"/>
            <a:ext cx="303609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Specifies terms of use, distribution, and modification (e.g., MIT, GPL, Apache)</a:t>
            </a:r>
            <a:endParaRPr lang="en-US" sz="942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063" y="1474236"/>
            <a:ext cx="3571875" cy="2566504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3964781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18"/>
          <p:cNvSpPr/>
          <p:nvPr/>
        </p:nvSpPr>
        <p:spPr>
          <a:xfrm>
            <a:off x="4107656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19"/>
          <p:cNvSpPr/>
          <p:nvPr/>
        </p:nvSpPr>
        <p:spPr>
          <a:xfrm>
            <a:off x="4250531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0"/>
          <p:cNvSpPr/>
          <p:nvPr/>
        </p:nvSpPr>
        <p:spPr>
          <a:xfrm>
            <a:off x="4393406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1"/>
          <p:cNvSpPr/>
          <p:nvPr/>
        </p:nvSpPr>
        <p:spPr>
          <a:xfrm>
            <a:off x="4536281" y="4929188"/>
            <a:ext cx="71438" cy="71438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2"/>
          <p:cNvSpPr/>
          <p:nvPr/>
        </p:nvSpPr>
        <p:spPr>
          <a:xfrm>
            <a:off x="4679156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3"/>
          <p:cNvSpPr/>
          <p:nvPr/>
        </p:nvSpPr>
        <p:spPr>
          <a:xfrm>
            <a:off x="4822031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>
            <a:off x="4964906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5"/>
          <p:cNvSpPr/>
          <p:nvPr/>
        </p:nvSpPr>
        <p:spPr>
          <a:xfrm>
            <a:off x="5107781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97638"/>
            <a:ext cx="4000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D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Creating a Simple Package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285750" y="838163"/>
            <a:ext cx="228600" cy="22860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285750" y="838163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837" dirty="0"/>
          </a:p>
        </p:txBody>
      </p:sp>
      <p:sp>
        <p:nvSpPr>
          <p:cNvPr id="6" name="Text 3"/>
          <p:cNvSpPr/>
          <p:nvPr/>
        </p:nvSpPr>
        <p:spPr>
          <a:xfrm>
            <a:off x="600075" y="838163"/>
            <a:ext cx="36861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Create Project Directory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600075" y="1052475"/>
            <a:ext cx="36861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Make a directory for your package</a:t>
            </a:r>
            <a:endParaRPr lang="en-US" sz="837" dirty="0"/>
          </a:p>
        </p:txBody>
      </p:sp>
      <p:sp>
        <p:nvSpPr>
          <p:cNvPr id="8" name="Shape 5"/>
          <p:cNvSpPr/>
          <p:nvPr/>
        </p:nvSpPr>
        <p:spPr>
          <a:xfrm>
            <a:off x="600075" y="1245357"/>
            <a:ext cx="3686175" cy="235744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0075" y="1245357"/>
            <a:ext cx="3686175" cy="235744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$ mkdir my_package</a:t>
            </a:r>
            <a:endParaRPr lang="en-US" sz="732" dirty="0"/>
          </a:p>
        </p:txBody>
      </p:sp>
      <p:sp>
        <p:nvSpPr>
          <p:cNvPr id="10" name="Shape 7"/>
          <p:cNvSpPr/>
          <p:nvPr/>
        </p:nvSpPr>
        <p:spPr>
          <a:xfrm>
            <a:off x="285750" y="1566825"/>
            <a:ext cx="228600" cy="22860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85750" y="156682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837" dirty="0"/>
          </a:p>
        </p:txBody>
      </p:sp>
      <p:sp>
        <p:nvSpPr>
          <p:cNvPr id="12" name="Text 9"/>
          <p:cNvSpPr/>
          <p:nvPr/>
        </p:nvSpPr>
        <p:spPr>
          <a:xfrm>
            <a:off x="600075" y="1566825"/>
            <a:ext cx="36861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 __init__.py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600075" y="1781138"/>
            <a:ext cx="36861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Create an empty file or add initialization code</a:t>
            </a:r>
            <a:endParaRPr lang="en-US" sz="837" dirty="0"/>
          </a:p>
        </p:txBody>
      </p:sp>
      <p:sp>
        <p:nvSpPr>
          <p:cNvPr id="14" name="Shape 11"/>
          <p:cNvSpPr/>
          <p:nvPr/>
        </p:nvSpPr>
        <p:spPr>
          <a:xfrm>
            <a:off x="600075" y="1974019"/>
            <a:ext cx="3686175" cy="235744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00075" y="1974019"/>
            <a:ext cx="3686175" cy="235744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$ touch my_package/__init__.py</a:t>
            </a:r>
            <a:endParaRPr lang="en-US" sz="732" dirty="0"/>
          </a:p>
        </p:txBody>
      </p:sp>
      <p:sp>
        <p:nvSpPr>
          <p:cNvPr id="16" name="Shape 13"/>
          <p:cNvSpPr/>
          <p:nvPr/>
        </p:nvSpPr>
        <p:spPr>
          <a:xfrm>
            <a:off x="285750" y="2295488"/>
            <a:ext cx="228600" cy="22860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85750" y="2295488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837" dirty="0"/>
          </a:p>
        </p:txBody>
      </p:sp>
      <p:sp>
        <p:nvSpPr>
          <p:cNvPr id="18" name="Text 15"/>
          <p:cNvSpPr/>
          <p:nvPr/>
        </p:nvSpPr>
        <p:spPr>
          <a:xfrm>
            <a:off x="600075" y="2295488"/>
            <a:ext cx="36861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 Modules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600075" y="2509800"/>
            <a:ext cx="36861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Create Python files with your functionality</a:t>
            </a:r>
            <a:endParaRPr lang="en-US" sz="837" dirty="0"/>
          </a:p>
        </p:txBody>
      </p:sp>
      <p:sp>
        <p:nvSpPr>
          <p:cNvPr id="20" name="Shape 17"/>
          <p:cNvSpPr/>
          <p:nvPr/>
        </p:nvSpPr>
        <p:spPr>
          <a:xfrm>
            <a:off x="600075" y="2702682"/>
            <a:ext cx="3686175" cy="535781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71513" y="2752688"/>
            <a:ext cx="129388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 my_package/greetings.py</a:t>
            </a:r>
            <a:endParaRPr lang="en-US" sz="732" dirty="0"/>
          </a:p>
        </p:txBody>
      </p:sp>
      <p:sp>
        <p:nvSpPr>
          <p:cNvPr id="22" name="Text 19"/>
          <p:cNvSpPr/>
          <p:nvPr/>
        </p:nvSpPr>
        <p:spPr>
          <a:xfrm>
            <a:off x="671513" y="2902707"/>
            <a:ext cx="138368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 say_hello(name="World"):</a:t>
            </a:r>
            <a:endParaRPr lang="en-US" sz="732" dirty="0"/>
          </a:p>
        </p:txBody>
      </p:sp>
      <p:sp>
        <p:nvSpPr>
          <p:cNvPr id="23" name="Text 20"/>
          <p:cNvSpPr/>
          <p:nvPr/>
        </p:nvSpPr>
        <p:spPr>
          <a:xfrm>
            <a:off x="671513" y="3052725"/>
            <a:ext cx="111096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return f"Hello, {name}!"</a:t>
            </a:r>
            <a:endParaRPr lang="en-US" sz="732" dirty="0"/>
          </a:p>
        </p:txBody>
      </p:sp>
      <p:sp>
        <p:nvSpPr>
          <p:cNvPr id="24" name="Shape 21"/>
          <p:cNvSpPr/>
          <p:nvPr/>
        </p:nvSpPr>
        <p:spPr>
          <a:xfrm>
            <a:off x="285750" y="3324188"/>
            <a:ext cx="228600" cy="22860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285750" y="3324188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837" dirty="0"/>
          </a:p>
        </p:txBody>
      </p:sp>
      <p:sp>
        <p:nvSpPr>
          <p:cNvPr id="26" name="Text 23"/>
          <p:cNvSpPr/>
          <p:nvPr/>
        </p:nvSpPr>
        <p:spPr>
          <a:xfrm>
            <a:off x="600075" y="3324188"/>
            <a:ext cx="36861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Create setup.py</a:t>
            </a:r>
            <a:endParaRPr lang="en-US" sz="942" dirty="0"/>
          </a:p>
        </p:txBody>
      </p:sp>
      <p:sp>
        <p:nvSpPr>
          <p:cNvPr id="27" name="Text 24"/>
          <p:cNvSpPr/>
          <p:nvPr/>
        </p:nvSpPr>
        <p:spPr>
          <a:xfrm>
            <a:off x="600075" y="3538500"/>
            <a:ext cx="36861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Define package metadata</a:t>
            </a:r>
            <a:endParaRPr lang="en-US" sz="837" dirty="0"/>
          </a:p>
        </p:txBody>
      </p:sp>
      <p:sp>
        <p:nvSpPr>
          <p:cNvPr id="28" name="Shape 25"/>
          <p:cNvSpPr/>
          <p:nvPr/>
        </p:nvSpPr>
        <p:spPr>
          <a:xfrm>
            <a:off x="600075" y="3731382"/>
            <a:ext cx="3686175" cy="385763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71513" y="3781388"/>
            <a:ext cx="210447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from setuptools import setup, find_packages</a:t>
            </a:r>
            <a:endParaRPr lang="en-US" sz="732" dirty="0"/>
          </a:p>
        </p:txBody>
      </p:sp>
      <p:sp>
        <p:nvSpPr>
          <p:cNvPr id="30" name="Text 27"/>
          <p:cNvSpPr/>
          <p:nvPr/>
        </p:nvSpPr>
        <p:spPr>
          <a:xfrm>
            <a:off x="671513" y="3931407"/>
            <a:ext cx="334963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setup(name="my_package", version="0.1.0", packages=find_packages())</a:t>
            </a:r>
            <a:endParaRPr lang="en-US" sz="732" dirty="0"/>
          </a:p>
        </p:txBody>
      </p:sp>
      <p:sp>
        <p:nvSpPr>
          <p:cNvPr id="31" name="Shape 28"/>
          <p:cNvSpPr/>
          <p:nvPr/>
        </p:nvSpPr>
        <p:spPr>
          <a:xfrm>
            <a:off x="285750" y="4202869"/>
            <a:ext cx="228600" cy="22860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285750" y="4202869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837" dirty="0"/>
          </a:p>
        </p:txBody>
      </p:sp>
      <p:sp>
        <p:nvSpPr>
          <p:cNvPr id="33" name="Text 30"/>
          <p:cNvSpPr/>
          <p:nvPr/>
        </p:nvSpPr>
        <p:spPr>
          <a:xfrm>
            <a:off x="600075" y="4202869"/>
            <a:ext cx="36861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Install Locally</a:t>
            </a:r>
            <a:endParaRPr lang="en-US" sz="942" dirty="0"/>
          </a:p>
        </p:txBody>
      </p:sp>
      <p:sp>
        <p:nvSpPr>
          <p:cNvPr id="34" name="Text 31"/>
          <p:cNvSpPr/>
          <p:nvPr/>
        </p:nvSpPr>
        <p:spPr>
          <a:xfrm>
            <a:off x="600075" y="4417182"/>
            <a:ext cx="36861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Install your package for development</a:t>
            </a:r>
            <a:endParaRPr lang="en-US" sz="837" dirty="0"/>
          </a:p>
        </p:txBody>
      </p:sp>
      <p:sp>
        <p:nvSpPr>
          <p:cNvPr id="35" name="Shape 32"/>
          <p:cNvSpPr/>
          <p:nvPr/>
        </p:nvSpPr>
        <p:spPr>
          <a:xfrm>
            <a:off x="600075" y="4610063"/>
            <a:ext cx="3686175" cy="235744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600075" y="4610063"/>
            <a:ext cx="3686175" cy="235744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$ pip install -e .</a:t>
            </a:r>
            <a:endParaRPr lang="en-US" sz="732" dirty="0"/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063" y="1564509"/>
            <a:ext cx="3571875" cy="2014454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>
            <a:off x="3964781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5"/>
          <p:cNvSpPr/>
          <p:nvPr/>
        </p:nvSpPr>
        <p:spPr>
          <a:xfrm>
            <a:off x="4107656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6"/>
          <p:cNvSpPr/>
          <p:nvPr/>
        </p:nvSpPr>
        <p:spPr>
          <a:xfrm>
            <a:off x="4250531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7"/>
          <p:cNvSpPr/>
          <p:nvPr/>
        </p:nvSpPr>
        <p:spPr>
          <a:xfrm>
            <a:off x="4393406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8"/>
          <p:cNvSpPr/>
          <p:nvPr/>
        </p:nvSpPr>
        <p:spPr>
          <a:xfrm>
            <a:off x="4536281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39"/>
          <p:cNvSpPr/>
          <p:nvPr/>
        </p:nvSpPr>
        <p:spPr>
          <a:xfrm>
            <a:off x="4679156" y="4929188"/>
            <a:ext cx="71438" cy="71438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0"/>
          <p:cNvSpPr/>
          <p:nvPr/>
        </p:nvSpPr>
        <p:spPr>
          <a:xfrm>
            <a:off x="4822031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1"/>
          <p:cNvSpPr/>
          <p:nvPr/>
        </p:nvSpPr>
        <p:spPr>
          <a:xfrm>
            <a:off x="4964906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2"/>
          <p:cNvSpPr/>
          <p:nvPr/>
        </p:nvSpPr>
        <p:spPr>
          <a:xfrm>
            <a:off x="5107781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578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371475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D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Distributing Your Package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428625" y="1028700"/>
            <a:ext cx="285750" cy="28575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8625" y="1028700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046" dirty="0"/>
          </a:p>
        </p:txBody>
      </p:sp>
      <p:sp>
        <p:nvSpPr>
          <p:cNvPr id="6" name="Text 3"/>
          <p:cNvSpPr/>
          <p:nvPr/>
        </p:nvSpPr>
        <p:spPr>
          <a:xfrm>
            <a:off x="821531" y="1028700"/>
            <a:ext cx="332184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Build Distribution Files</a:t>
            </a:r>
            <a:endParaRPr lang="en-US" sz="1238" dirty="0"/>
          </a:p>
        </p:txBody>
      </p:sp>
      <p:sp>
        <p:nvSpPr>
          <p:cNvPr id="7" name="Text 4"/>
          <p:cNvSpPr/>
          <p:nvPr/>
        </p:nvSpPr>
        <p:spPr>
          <a:xfrm>
            <a:off x="821531" y="1300163"/>
            <a:ext cx="332184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Create source distribution and wheel files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821531" y="1528763"/>
            <a:ext cx="3321844" cy="28575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21531" y="1528763"/>
            <a:ext cx="3321844" cy="28575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 -m build</a:t>
            </a:r>
            <a:endParaRPr lang="en-US" sz="837" dirty="0"/>
          </a:p>
        </p:txBody>
      </p:sp>
      <p:sp>
        <p:nvSpPr>
          <p:cNvPr id="10" name="Shape 7"/>
          <p:cNvSpPr/>
          <p:nvPr/>
        </p:nvSpPr>
        <p:spPr>
          <a:xfrm>
            <a:off x="821531" y="1850231"/>
            <a:ext cx="3321844" cy="4572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07256" y="1914525"/>
            <a:ext cx="127638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Or traditional method</a:t>
            </a:r>
            <a:endParaRPr lang="en-US" sz="837" dirty="0"/>
          </a:p>
        </p:txBody>
      </p:sp>
      <p:sp>
        <p:nvSpPr>
          <p:cNvPr id="12" name="Text 9"/>
          <p:cNvSpPr/>
          <p:nvPr/>
        </p:nvSpPr>
        <p:spPr>
          <a:xfrm>
            <a:off x="907256" y="2085975"/>
            <a:ext cx="181177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python setup.py sdist bdist_wheel </a:t>
            </a:r>
            <a:endParaRPr lang="en-US" sz="837" dirty="0"/>
          </a:p>
        </p:txBody>
      </p:sp>
      <p:sp>
        <p:nvSpPr>
          <p:cNvPr id="13" name="Shape 10"/>
          <p:cNvSpPr/>
          <p:nvPr/>
        </p:nvSpPr>
        <p:spPr>
          <a:xfrm>
            <a:off x="428625" y="2486025"/>
            <a:ext cx="285750" cy="28575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28625" y="2486025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046" dirty="0"/>
          </a:p>
        </p:txBody>
      </p:sp>
      <p:sp>
        <p:nvSpPr>
          <p:cNvPr id="15" name="Text 12"/>
          <p:cNvSpPr/>
          <p:nvPr/>
        </p:nvSpPr>
        <p:spPr>
          <a:xfrm>
            <a:off x="821531" y="2486025"/>
            <a:ext cx="332184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Upload to PyPI</a:t>
            </a:r>
            <a:endParaRPr lang="en-US" sz="1238" dirty="0"/>
          </a:p>
        </p:txBody>
      </p:sp>
      <p:sp>
        <p:nvSpPr>
          <p:cNvPr id="16" name="Text 13"/>
          <p:cNvSpPr/>
          <p:nvPr/>
        </p:nvSpPr>
        <p:spPr>
          <a:xfrm>
            <a:off x="821531" y="2757488"/>
            <a:ext cx="332184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Share your package with the Python community</a:t>
            </a:r>
            <a:endParaRPr lang="en-US" sz="942" dirty="0"/>
          </a:p>
        </p:txBody>
      </p:sp>
      <p:sp>
        <p:nvSpPr>
          <p:cNvPr id="17" name="Shape 14"/>
          <p:cNvSpPr/>
          <p:nvPr/>
        </p:nvSpPr>
        <p:spPr>
          <a:xfrm>
            <a:off x="821531" y="2986088"/>
            <a:ext cx="3321844" cy="28575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21531" y="2986088"/>
            <a:ext cx="3321844" cy="28575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twine upload dist/*</a:t>
            </a:r>
            <a:endParaRPr lang="en-US" sz="837" dirty="0"/>
          </a:p>
        </p:txBody>
      </p:sp>
      <p:sp>
        <p:nvSpPr>
          <p:cNvPr id="19" name="Shape 16"/>
          <p:cNvSpPr/>
          <p:nvPr/>
        </p:nvSpPr>
        <p:spPr>
          <a:xfrm>
            <a:off x="428625" y="3450431"/>
            <a:ext cx="285750" cy="28575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28625" y="3450431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046" dirty="0"/>
          </a:p>
        </p:txBody>
      </p:sp>
      <p:sp>
        <p:nvSpPr>
          <p:cNvPr id="21" name="Text 18"/>
          <p:cNvSpPr/>
          <p:nvPr/>
        </p:nvSpPr>
        <p:spPr>
          <a:xfrm>
            <a:off x="821531" y="3450431"/>
            <a:ext cx="332184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Installation by Users</a:t>
            </a:r>
            <a:endParaRPr lang="en-US" sz="1238" dirty="0"/>
          </a:p>
        </p:txBody>
      </p:sp>
      <p:sp>
        <p:nvSpPr>
          <p:cNvPr id="22" name="Text 19"/>
          <p:cNvSpPr/>
          <p:nvPr/>
        </p:nvSpPr>
        <p:spPr>
          <a:xfrm>
            <a:off x="821531" y="3721894"/>
            <a:ext cx="332184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Anyone can now install your package</a:t>
            </a:r>
            <a:endParaRPr lang="en-US" sz="942" dirty="0"/>
          </a:p>
        </p:txBody>
      </p:sp>
      <p:sp>
        <p:nvSpPr>
          <p:cNvPr id="23" name="Shape 20"/>
          <p:cNvSpPr/>
          <p:nvPr/>
        </p:nvSpPr>
        <p:spPr>
          <a:xfrm>
            <a:off x="821531" y="3950494"/>
            <a:ext cx="3321844" cy="28575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21531" y="3950494"/>
            <a:ext cx="3321844" cy="28575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pip install your-package</a:t>
            </a:r>
            <a:endParaRPr lang="en-US" sz="837" dirty="0"/>
          </a:p>
        </p:txBody>
      </p:sp>
      <p:sp>
        <p:nvSpPr>
          <p:cNvPr id="25" name="Text 22"/>
          <p:cNvSpPr/>
          <p:nvPr/>
        </p:nvSpPr>
        <p:spPr>
          <a:xfrm>
            <a:off x="428625" y="4545211"/>
            <a:ext cx="36254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Note:</a:t>
            </a:r>
            <a:endParaRPr lang="en-US" sz="1046" dirty="0"/>
          </a:p>
        </p:txBody>
      </p:sp>
      <p:sp>
        <p:nvSpPr>
          <p:cNvPr id="26" name="Text 23"/>
          <p:cNvSpPr/>
          <p:nvPr/>
        </p:nvSpPr>
        <p:spPr>
          <a:xfrm>
            <a:off x="791170" y="4545211"/>
            <a:ext cx="284142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Consider using TestPyPI first to verify your </a:t>
            </a:r>
            <a:endParaRPr lang="en-US" sz="1046" dirty="0"/>
          </a:p>
        </p:txBody>
      </p:sp>
      <p:sp>
        <p:nvSpPr>
          <p:cNvPr id="27" name="Text 24"/>
          <p:cNvSpPr/>
          <p:nvPr/>
        </p:nvSpPr>
        <p:spPr>
          <a:xfrm>
            <a:off x="428625" y="4773811"/>
            <a:ext cx="163413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package works correctly. </a:t>
            </a:r>
            <a:endParaRPr lang="en-US" sz="1046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063" y="1928310"/>
            <a:ext cx="3571875" cy="1701217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3964781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4107656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4250531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4393406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4536281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4679156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1"/>
          <p:cNvSpPr/>
          <p:nvPr/>
        </p:nvSpPr>
        <p:spPr>
          <a:xfrm>
            <a:off x="4822031" y="4929188"/>
            <a:ext cx="71438" cy="71438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4964906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5107781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75097"/>
            <a:ext cx="371475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D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NLTK?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28625" y="1391245"/>
            <a:ext cx="213419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FFD4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NLTK (Natural Language Toolkit)</a:t>
            </a:r>
            <a:endParaRPr lang="en-US" sz="1046" dirty="0"/>
          </a:p>
        </p:txBody>
      </p:sp>
      <p:sp>
        <p:nvSpPr>
          <p:cNvPr id="5" name="Text 2"/>
          <p:cNvSpPr/>
          <p:nvPr/>
        </p:nvSpPr>
        <p:spPr>
          <a:xfrm>
            <a:off x="2562820" y="1391245"/>
            <a:ext cx="139303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 a leading platform </a:t>
            </a:r>
            <a:endParaRPr lang="en-US" sz="1046" dirty="0"/>
          </a:p>
        </p:txBody>
      </p:sp>
      <p:sp>
        <p:nvSpPr>
          <p:cNvPr id="6" name="Text 3"/>
          <p:cNvSpPr/>
          <p:nvPr/>
        </p:nvSpPr>
        <p:spPr>
          <a:xfrm>
            <a:off x="428625" y="1619845"/>
            <a:ext cx="333255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building Python programs to work with human </a:t>
            </a:r>
            <a:endParaRPr lang="en-US" sz="1046" dirty="0"/>
          </a:p>
        </p:txBody>
      </p:sp>
      <p:sp>
        <p:nvSpPr>
          <p:cNvPr id="7" name="Text 4"/>
          <p:cNvSpPr/>
          <p:nvPr/>
        </p:nvSpPr>
        <p:spPr>
          <a:xfrm>
            <a:off x="428625" y="1848445"/>
            <a:ext cx="97333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language data. </a:t>
            </a:r>
            <a:endParaRPr lang="en-US" sz="1046" dirty="0"/>
          </a:p>
        </p:txBody>
      </p:sp>
      <p:sp>
        <p:nvSpPr>
          <p:cNvPr id="8" name="Shape 5"/>
          <p:cNvSpPr/>
          <p:nvPr/>
        </p:nvSpPr>
        <p:spPr>
          <a:xfrm>
            <a:off x="428625" y="2350294"/>
            <a:ext cx="285750" cy="28575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21494" y="2436019"/>
            <a:ext cx="100013" cy="1143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1531" y="2212777"/>
            <a:ext cx="152661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Comprehensive Library: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2348145" y="2212777"/>
            <a:ext cx="13517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Provides tools for text </a:t>
            </a:r>
            <a:endParaRPr lang="en-US" sz="942" dirty="0"/>
          </a:p>
        </p:txBody>
      </p:sp>
      <p:sp>
        <p:nvSpPr>
          <p:cNvPr id="12" name="Text 8"/>
          <p:cNvSpPr/>
          <p:nvPr/>
        </p:nvSpPr>
        <p:spPr>
          <a:xfrm>
            <a:off x="821531" y="2405658"/>
            <a:ext cx="302643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processing, classification, tokenization, stemming, </a:t>
            </a:r>
            <a:endParaRPr lang="en-US" sz="942" dirty="0"/>
          </a:p>
        </p:txBody>
      </p:sp>
      <p:sp>
        <p:nvSpPr>
          <p:cNvPr id="13" name="Text 9"/>
          <p:cNvSpPr/>
          <p:nvPr/>
        </p:nvSpPr>
        <p:spPr>
          <a:xfrm>
            <a:off x="821531" y="2598539"/>
            <a:ext cx="251247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tagging, parsing, and semantic reasoning </a:t>
            </a:r>
            <a:endParaRPr lang="en-US" sz="942" dirty="0"/>
          </a:p>
        </p:txBody>
      </p:sp>
      <p:sp>
        <p:nvSpPr>
          <p:cNvPr id="14" name="Shape 10"/>
          <p:cNvSpPr/>
          <p:nvPr/>
        </p:nvSpPr>
        <p:spPr>
          <a:xfrm>
            <a:off x="428625" y="2939653"/>
            <a:ext cx="285750" cy="28575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21494" y="3025378"/>
            <a:ext cx="100013" cy="1143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1531" y="2898577"/>
            <a:ext cx="99540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Rich Resources:</a:t>
            </a:r>
            <a:endParaRPr lang="en-US" sz="942" dirty="0"/>
          </a:p>
        </p:txBody>
      </p:sp>
      <p:sp>
        <p:nvSpPr>
          <p:cNvPr id="17" name="Text 12"/>
          <p:cNvSpPr/>
          <p:nvPr/>
        </p:nvSpPr>
        <p:spPr>
          <a:xfrm>
            <a:off x="1816940" y="2898577"/>
            <a:ext cx="224707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Access to over 50 corpora and lexical </a:t>
            </a:r>
            <a:endParaRPr lang="en-US" sz="942" dirty="0"/>
          </a:p>
        </p:txBody>
      </p:sp>
      <p:sp>
        <p:nvSpPr>
          <p:cNvPr id="18" name="Text 13"/>
          <p:cNvSpPr/>
          <p:nvPr/>
        </p:nvSpPr>
        <p:spPr>
          <a:xfrm>
            <a:off x="821531" y="3091458"/>
            <a:ext cx="140380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resources like WordNet </a:t>
            </a:r>
            <a:endParaRPr lang="en-US" sz="942" dirty="0"/>
          </a:p>
        </p:txBody>
      </p:sp>
      <p:sp>
        <p:nvSpPr>
          <p:cNvPr id="19" name="Shape 14"/>
          <p:cNvSpPr/>
          <p:nvPr/>
        </p:nvSpPr>
        <p:spPr>
          <a:xfrm>
            <a:off x="428625" y="3432572"/>
            <a:ext cx="285750" cy="28575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00063" y="3518297"/>
            <a:ext cx="142875" cy="1143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1531" y="3391495"/>
            <a:ext cx="119239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Educational Focus:</a:t>
            </a:r>
            <a:endParaRPr lang="en-US" sz="942" dirty="0"/>
          </a:p>
        </p:txBody>
      </p:sp>
      <p:sp>
        <p:nvSpPr>
          <p:cNvPr id="22" name="Text 16"/>
          <p:cNvSpPr/>
          <p:nvPr/>
        </p:nvSpPr>
        <p:spPr>
          <a:xfrm>
            <a:off x="2013924" y="3391495"/>
            <a:ext cx="199413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Designed for teaching, research, </a:t>
            </a:r>
            <a:endParaRPr lang="en-US" sz="942" dirty="0"/>
          </a:p>
        </p:txBody>
      </p:sp>
      <p:sp>
        <p:nvSpPr>
          <p:cNvPr id="23" name="Text 17"/>
          <p:cNvSpPr/>
          <p:nvPr/>
        </p:nvSpPr>
        <p:spPr>
          <a:xfrm>
            <a:off x="821531" y="3584377"/>
            <a:ext cx="323064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 practical applications in computational linguistics </a:t>
            </a:r>
            <a:endParaRPr lang="en-US" sz="942" dirty="0"/>
          </a:p>
        </p:txBody>
      </p:sp>
      <p:sp>
        <p:nvSpPr>
          <p:cNvPr id="24" name="Shape 18"/>
          <p:cNvSpPr/>
          <p:nvPr/>
        </p:nvSpPr>
        <p:spPr>
          <a:xfrm>
            <a:off x="428625" y="3925491"/>
            <a:ext cx="285750" cy="28575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3" y="4011216"/>
            <a:ext cx="142875" cy="1143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21531" y="3884414"/>
            <a:ext cx="126865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 Integration:</a:t>
            </a:r>
            <a:endParaRPr lang="en-US" sz="942" dirty="0"/>
          </a:p>
        </p:txBody>
      </p:sp>
      <p:sp>
        <p:nvSpPr>
          <p:cNvPr id="27" name="Text 20"/>
          <p:cNvSpPr/>
          <p:nvPr/>
        </p:nvSpPr>
        <p:spPr>
          <a:xfrm>
            <a:off x="2090189" y="3884414"/>
            <a:ext cx="174854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Seamlessly works with other </a:t>
            </a:r>
            <a:endParaRPr lang="en-US" sz="942" dirty="0"/>
          </a:p>
        </p:txBody>
      </p:sp>
      <p:sp>
        <p:nvSpPr>
          <p:cNvPr id="28" name="Text 21"/>
          <p:cNvSpPr/>
          <p:nvPr/>
        </p:nvSpPr>
        <p:spPr>
          <a:xfrm>
            <a:off x="821531" y="4077295"/>
            <a:ext cx="196534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 libraries and frameworks </a:t>
            </a:r>
            <a:endParaRPr lang="en-US" sz="942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2063" y="628929"/>
            <a:ext cx="3571875" cy="3885614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4250531" y="4929188"/>
            <a:ext cx="71438" cy="71438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3"/>
          <p:cNvSpPr/>
          <p:nvPr/>
        </p:nvSpPr>
        <p:spPr>
          <a:xfrm>
            <a:off x="4393406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>
            <a:off x="4536281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5"/>
          <p:cNvSpPr/>
          <p:nvPr/>
        </p:nvSpPr>
        <p:spPr>
          <a:xfrm>
            <a:off x="4679156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6"/>
          <p:cNvSpPr/>
          <p:nvPr/>
        </p:nvSpPr>
        <p:spPr>
          <a:xfrm>
            <a:off x="4822031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371475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D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Features of NLTK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28625" y="1028700"/>
            <a:ext cx="3714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NLTK provides a comprehensive suite of tools for natural language processing tasks: </a:t>
            </a:r>
            <a:endParaRPr lang="en-US" sz="1046" dirty="0"/>
          </a:p>
        </p:txBody>
      </p:sp>
      <p:sp>
        <p:nvSpPr>
          <p:cNvPr id="5" name="Shape 2"/>
          <p:cNvSpPr/>
          <p:nvPr/>
        </p:nvSpPr>
        <p:spPr>
          <a:xfrm>
            <a:off x="428625" y="1771650"/>
            <a:ext cx="1785938" cy="138588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35781" y="1878806"/>
            <a:ext cx="357188" cy="357188"/>
          </a:xfrm>
          <a:prstGeom prst="rect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2000250"/>
            <a:ext cx="114300" cy="1143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5781" y="2307431"/>
            <a:ext cx="15716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FFD4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Tokenization</a:t>
            </a:r>
            <a:endParaRPr lang="en-US" sz="942" dirty="0"/>
          </a:p>
        </p:txBody>
      </p:sp>
      <p:sp>
        <p:nvSpPr>
          <p:cNvPr id="9" name="Text 5"/>
          <p:cNvSpPr/>
          <p:nvPr/>
        </p:nvSpPr>
        <p:spPr>
          <a:xfrm>
            <a:off x="535781" y="2536031"/>
            <a:ext cx="15716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Split text into words, sentences, or other meaningful units</a:t>
            </a:r>
            <a:endParaRPr lang="en-US" sz="837" dirty="0"/>
          </a:p>
        </p:txBody>
      </p:sp>
      <p:sp>
        <p:nvSpPr>
          <p:cNvPr id="10" name="Shape 6"/>
          <p:cNvSpPr/>
          <p:nvPr/>
        </p:nvSpPr>
        <p:spPr>
          <a:xfrm>
            <a:off x="2357438" y="1771650"/>
            <a:ext cx="1785938" cy="138588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2464594" y="1878806"/>
            <a:ext cx="357188" cy="357188"/>
          </a:xfrm>
          <a:prstGeom prst="rect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586038" y="2000250"/>
            <a:ext cx="114300" cy="114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464594" y="2307431"/>
            <a:ext cx="15716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FFD4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Stop Word Filtering</a:t>
            </a:r>
            <a:endParaRPr lang="en-US" sz="942" dirty="0"/>
          </a:p>
        </p:txBody>
      </p:sp>
      <p:sp>
        <p:nvSpPr>
          <p:cNvPr id="14" name="Text 9"/>
          <p:cNvSpPr/>
          <p:nvPr/>
        </p:nvSpPr>
        <p:spPr>
          <a:xfrm>
            <a:off x="2464594" y="2536031"/>
            <a:ext cx="15716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Remove common words that don't add significant meaning</a:t>
            </a:r>
            <a:endParaRPr lang="en-US" sz="837" dirty="0"/>
          </a:p>
        </p:txBody>
      </p:sp>
      <p:sp>
        <p:nvSpPr>
          <p:cNvPr id="15" name="Shape 10"/>
          <p:cNvSpPr/>
          <p:nvPr/>
        </p:nvSpPr>
        <p:spPr>
          <a:xfrm>
            <a:off x="428625" y="3300413"/>
            <a:ext cx="1785938" cy="1407319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535781" y="3407569"/>
            <a:ext cx="357188" cy="357188"/>
          </a:xfrm>
          <a:prstGeom prst="rect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57225" y="3529013"/>
            <a:ext cx="114300" cy="1143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5781" y="3836194"/>
            <a:ext cx="15716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FFD4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Stemming &amp; Lemmatization</a:t>
            </a:r>
            <a:endParaRPr lang="en-US" sz="942" dirty="0"/>
          </a:p>
        </p:txBody>
      </p:sp>
      <p:sp>
        <p:nvSpPr>
          <p:cNvPr id="19" name="Text 13"/>
          <p:cNvSpPr/>
          <p:nvPr/>
        </p:nvSpPr>
        <p:spPr>
          <a:xfrm>
            <a:off x="535781" y="4257675"/>
            <a:ext cx="1571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Reduce words to their root or base forms</a:t>
            </a:r>
            <a:endParaRPr lang="en-US" sz="837" dirty="0"/>
          </a:p>
        </p:txBody>
      </p:sp>
      <p:sp>
        <p:nvSpPr>
          <p:cNvPr id="20" name="Shape 14"/>
          <p:cNvSpPr/>
          <p:nvPr/>
        </p:nvSpPr>
        <p:spPr>
          <a:xfrm>
            <a:off x="2357438" y="3300413"/>
            <a:ext cx="1785938" cy="1407319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2464594" y="3407569"/>
            <a:ext cx="357188" cy="357188"/>
          </a:xfrm>
          <a:prstGeom prst="rect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593181" y="3529013"/>
            <a:ext cx="100013" cy="1143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464594" y="3836194"/>
            <a:ext cx="15716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FFD4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Part-of-Speech Tagging</a:t>
            </a:r>
            <a:endParaRPr lang="en-US" sz="942" dirty="0"/>
          </a:p>
        </p:txBody>
      </p:sp>
      <p:sp>
        <p:nvSpPr>
          <p:cNvPr id="24" name="Text 17"/>
          <p:cNvSpPr/>
          <p:nvPr/>
        </p:nvSpPr>
        <p:spPr>
          <a:xfrm>
            <a:off x="2464594" y="4064794"/>
            <a:ext cx="1571625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Identify grammatical parts of speech in text</a:t>
            </a:r>
            <a:endParaRPr lang="en-US" sz="837" dirty="0"/>
          </a:p>
        </p:txBody>
      </p:sp>
      <p:sp>
        <p:nvSpPr>
          <p:cNvPr id="25" name="Shape 18"/>
          <p:cNvSpPr/>
          <p:nvPr/>
        </p:nvSpPr>
        <p:spPr>
          <a:xfrm>
            <a:off x="428625" y="4850606"/>
            <a:ext cx="1785938" cy="1578769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535781" y="4957763"/>
            <a:ext cx="357188" cy="357188"/>
          </a:xfrm>
          <a:prstGeom prst="rect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50081" y="5079206"/>
            <a:ext cx="128588" cy="1143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35781" y="5386388"/>
            <a:ext cx="15716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FFD4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Named Entity Recognition</a:t>
            </a:r>
            <a:endParaRPr lang="en-US" sz="942" dirty="0"/>
          </a:p>
        </p:txBody>
      </p:sp>
      <p:sp>
        <p:nvSpPr>
          <p:cNvPr id="29" name="Text 21"/>
          <p:cNvSpPr/>
          <p:nvPr/>
        </p:nvSpPr>
        <p:spPr>
          <a:xfrm>
            <a:off x="535781" y="5807869"/>
            <a:ext cx="15716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Identify named entities like people, organizations, locations</a:t>
            </a:r>
            <a:endParaRPr lang="en-US" sz="837" dirty="0"/>
          </a:p>
        </p:txBody>
      </p:sp>
      <p:sp>
        <p:nvSpPr>
          <p:cNvPr id="30" name="Shape 22"/>
          <p:cNvSpPr/>
          <p:nvPr/>
        </p:nvSpPr>
        <p:spPr>
          <a:xfrm>
            <a:off x="2357438" y="4850606"/>
            <a:ext cx="1785938" cy="1578769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3"/>
          <p:cNvSpPr/>
          <p:nvPr/>
        </p:nvSpPr>
        <p:spPr>
          <a:xfrm>
            <a:off x="2464594" y="4957763"/>
            <a:ext cx="357188" cy="357188"/>
          </a:xfrm>
          <a:prstGeom prst="rect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8894" y="5079206"/>
            <a:ext cx="128588" cy="11430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2464594" y="5386388"/>
            <a:ext cx="15716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FFD4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 Classification</a:t>
            </a:r>
            <a:endParaRPr lang="en-US" sz="942" dirty="0"/>
          </a:p>
        </p:txBody>
      </p:sp>
      <p:sp>
        <p:nvSpPr>
          <p:cNvPr id="34" name="Text 25"/>
          <p:cNvSpPr/>
          <p:nvPr/>
        </p:nvSpPr>
        <p:spPr>
          <a:xfrm>
            <a:off x="2464594" y="5614988"/>
            <a:ext cx="1571625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Categorize text by sentiment, topic, or other criteria</a:t>
            </a:r>
            <a:endParaRPr lang="en-US" sz="837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2063" y="2424410"/>
            <a:ext cx="3571875" cy="2009180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4250531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27"/>
          <p:cNvSpPr/>
          <p:nvPr/>
        </p:nvSpPr>
        <p:spPr>
          <a:xfrm>
            <a:off x="4393406" y="4929188"/>
            <a:ext cx="71438" cy="71438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28"/>
          <p:cNvSpPr/>
          <p:nvPr/>
        </p:nvSpPr>
        <p:spPr>
          <a:xfrm>
            <a:off x="4536281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29"/>
          <p:cNvSpPr/>
          <p:nvPr/>
        </p:nvSpPr>
        <p:spPr>
          <a:xfrm>
            <a:off x="4679156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0"/>
          <p:cNvSpPr/>
          <p:nvPr/>
        </p:nvSpPr>
        <p:spPr>
          <a:xfrm>
            <a:off x="4822031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6222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371475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D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NLTK Text Processing Pipeline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28625" y="1414463"/>
            <a:ext cx="3714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NLTK provides a structured workflow for processing natural language: </a:t>
            </a:r>
            <a:endParaRPr lang="en-US" sz="1046" dirty="0"/>
          </a:p>
        </p:txBody>
      </p:sp>
      <p:sp>
        <p:nvSpPr>
          <p:cNvPr id="5" name="Shape 2"/>
          <p:cNvSpPr/>
          <p:nvPr/>
        </p:nvSpPr>
        <p:spPr>
          <a:xfrm>
            <a:off x="428625" y="2157413"/>
            <a:ext cx="257175" cy="257175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28625" y="2157413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792956" y="2157413"/>
            <a:ext cx="33504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Tokenization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792956" y="2407444"/>
            <a:ext cx="33504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Split text into sentences and words</a:t>
            </a:r>
            <a:endParaRPr lang="en-US" sz="837" dirty="0"/>
          </a:p>
        </p:txBody>
      </p:sp>
      <p:sp>
        <p:nvSpPr>
          <p:cNvPr id="9" name="Shape 6"/>
          <p:cNvSpPr/>
          <p:nvPr/>
        </p:nvSpPr>
        <p:spPr>
          <a:xfrm>
            <a:off x="792956" y="2614613"/>
            <a:ext cx="3350419" cy="264319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92956" y="2614613"/>
            <a:ext cx="3350419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tokens = nltk.word_tokenize(text)</a:t>
            </a:r>
            <a:endParaRPr lang="en-US" sz="732" dirty="0"/>
          </a:p>
        </p:txBody>
      </p:sp>
      <p:sp>
        <p:nvSpPr>
          <p:cNvPr id="11" name="Shape 8"/>
          <p:cNvSpPr/>
          <p:nvPr/>
        </p:nvSpPr>
        <p:spPr>
          <a:xfrm>
            <a:off x="428625" y="2986088"/>
            <a:ext cx="257175" cy="257175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28625" y="2986088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792956" y="2986088"/>
            <a:ext cx="33504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Normalization</a:t>
            </a:r>
            <a:endParaRPr lang="en-US" sz="1046" dirty="0"/>
          </a:p>
        </p:txBody>
      </p:sp>
      <p:sp>
        <p:nvSpPr>
          <p:cNvPr id="14" name="Text 11"/>
          <p:cNvSpPr/>
          <p:nvPr/>
        </p:nvSpPr>
        <p:spPr>
          <a:xfrm>
            <a:off x="792956" y="3236119"/>
            <a:ext cx="33504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Convert to lowercase, remove punctuation, filter stop words</a:t>
            </a:r>
            <a:endParaRPr lang="en-US" sz="837" dirty="0"/>
          </a:p>
        </p:txBody>
      </p:sp>
      <p:sp>
        <p:nvSpPr>
          <p:cNvPr id="15" name="Shape 12"/>
          <p:cNvSpPr/>
          <p:nvPr/>
        </p:nvSpPr>
        <p:spPr>
          <a:xfrm>
            <a:off x="792956" y="3443288"/>
            <a:ext cx="3350419" cy="264319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92956" y="3443288"/>
            <a:ext cx="3350419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filtered = [w for w in tokens if w not in stopwords]</a:t>
            </a:r>
            <a:endParaRPr lang="en-US" sz="732" dirty="0"/>
          </a:p>
        </p:txBody>
      </p:sp>
      <p:sp>
        <p:nvSpPr>
          <p:cNvPr id="17" name="Shape 14"/>
          <p:cNvSpPr/>
          <p:nvPr/>
        </p:nvSpPr>
        <p:spPr>
          <a:xfrm>
            <a:off x="428625" y="3814763"/>
            <a:ext cx="257175" cy="257175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28625" y="3814763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792956" y="3814763"/>
            <a:ext cx="33504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Stemming/Lemmatization</a:t>
            </a:r>
            <a:endParaRPr lang="en-US" sz="1046" dirty="0"/>
          </a:p>
        </p:txBody>
      </p:sp>
      <p:sp>
        <p:nvSpPr>
          <p:cNvPr id="20" name="Text 17"/>
          <p:cNvSpPr/>
          <p:nvPr/>
        </p:nvSpPr>
        <p:spPr>
          <a:xfrm>
            <a:off x="792956" y="4064794"/>
            <a:ext cx="33504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Reduce words to their base forms</a:t>
            </a:r>
            <a:endParaRPr lang="en-US" sz="837" dirty="0"/>
          </a:p>
        </p:txBody>
      </p:sp>
      <p:sp>
        <p:nvSpPr>
          <p:cNvPr id="21" name="Shape 18"/>
          <p:cNvSpPr/>
          <p:nvPr/>
        </p:nvSpPr>
        <p:spPr>
          <a:xfrm>
            <a:off x="792956" y="4271963"/>
            <a:ext cx="3350419" cy="264319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92956" y="4271963"/>
            <a:ext cx="3350419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lemmatized = [lemmatizer.lemmatize(w) for w in filtered]</a:t>
            </a:r>
            <a:endParaRPr lang="en-US" sz="732" dirty="0"/>
          </a:p>
        </p:txBody>
      </p:sp>
      <p:sp>
        <p:nvSpPr>
          <p:cNvPr id="23" name="Shape 20"/>
          <p:cNvSpPr/>
          <p:nvPr/>
        </p:nvSpPr>
        <p:spPr>
          <a:xfrm>
            <a:off x="428625" y="4643438"/>
            <a:ext cx="257175" cy="257175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28625" y="4643438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942" dirty="0"/>
          </a:p>
        </p:txBody>
      </p:sp>
      <p:sp>
        <p:nvSpPr>
          <p:cNvPr id="25" name="Text 22"/>
          <p:cNvSpPr/>
          <p:nvPr/>
        </p:nvSpPr>
        <p:spPr>
          <a:xfrm>
            <a:off x="792956" y="4643438"/>
            <a:ext cx="33504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 Tagging</a:t>
            </a:r>
            <a:endParaRPr lang="en-US" sz="1046" dirty="0"/>
          </a:p>
        </p:txBody>
      </p:sp>
      <p:sp>
        <p:nvSpPr>
          <p:cNvPr id="26" name="Text 23"/>
          <p:cNvSpPr/>
          <p:nvPr/>
        </p:nvSpPr>
        <p:spPr>
          <a:xfrm>
            <a:off x="792956" y="4893469"/>
            <a:ext cx="33504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Identify parts of speech</a:t>
            </a:r>
            <a:endParaRPr lang="en-US" sz="837" dirty="0"/>
          </a:p>
        </p:txBody>
      </p:sp>
      <p:sp>
        <p:nvSpPr>
          <p:cNvPr id="27" name="Shape 24"/>
          <p:cNvSpPr/>
          <p:nvPr/>
        </p:nvSpPr>
        <p:spPr>
          <a:xfrm>
            <a:off x="792956" y="5100638"/>
            <a:ext cx="3350419" cy="264319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92956" y="5100638"/>
            <a:ext cx="3350419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tagged = nltk.pos_tag(lemmatized)</a:t>
            </a:r>
            <a:endParaRPr lang="en-US" sz="732" dirty="0"/>
          </a:p>
        </p:txBody>
      </p:sp>
      <p:sp>
        <p:nvSpPr>
          <p:cNvPr id="29" name="Shape 26"/>
          <p:cNvSpPr/>
          <p:nvPr/>
        </p:nvSpPr>
        <p:spPr>
          <a:xfrm>
            <a:off x="428625" y="5472113"/>
            <a:ext cx="257175" cy="257175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28625" y="5472113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942" dirty="0"/>
          </a:p>
        </p:txBody>
      </p:sp>
      <p:sp>
        <p:nvSpPr>
          <p:cNvPr id="31" name="Text 28"/>
          <p:cNvSpPr/>
          <p:nvPr/>
        </p:nvSpPr>
        <p:spPr>
          <a:xfrm>
            <a:off x="792956" y="5472113"/>
            <a:ext cx="33504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Named Entity Recognition</a:t>
            </a:r>
            <a:endParaRPr lang="en-US" sz="1046" dirty="0"/>
          </a:p>
        </p:txBody>
      </p:sp>
      <p:sp>
        <p:nvSpPr>
          <p:cNvPr id="32" name="Text 29"/>
          <p:cNvSpPr/>
          <p:nvPr/>
        </p:nvSpPr>
        <p:spPr>
          <a:xfrm>
            <a:off x="792956" y="5722144"/>
            <a:ext cx="33504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Identify entities like people, organizations, locations</a:t>
            </a:r>
            <a:endParaRPr lang="en-US" sz="837" dirty="0"/>
          </a:p>
        </p:txBody>
      </p:sp>
      <p:sp>
        <p:nvSpPr>
          <p:cNvPr id="33" name="Shape 30"/>
          <p:cNvSpPr/>
          <p:nvPr/>
        </p:nvSpPr>
        <p:spPr>
          <a:xfrm>
            <a:off x="792956" y="5929313"/>
            <a:ext cx="3350419" cy="264319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92956" y="5929313"/>
            <a:ext cx="3350419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entities = nltk.ne_chunk(tagged)</a:t>
            </a:r>
            <a:endParaRPr lang="en-US" sz="732" dirty="0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063" y="2184620"/>
            <a:ext cx="3571875" cy="2253016"/>
          </a:xfrm>
          <a:prstGeom prst="rect">
            <a:avLst/>
          </a:prstGeom>
        </p:spPr>
      </p:pic>
      <p:sp>
        <p:nvSpPr>
          <p:cNvPr id="36" name="Shape 32"/>
          <p:cNvSpPr/>
          <p:nvPr/>
        </p:nvSpPr>
        <p:spPr>
          <a:xfrm>
            <a:off x="4250531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4393406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4536281" y="4929188"/>
            <a:ext cx="71438" cy="71438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5"/>
          <p:cNvSpPr/>
          <p:nvPr/>
        </p:nvSpPr>
        <p:spPr>
          <a:xfrm>
            <a:off x="4679156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6"/>
          <p:cNvSpPr/>
          <p:nvPr/>
        </p:nvSpPr>
        <p:spPr>
          <a:xfrm>
            <a:off x="4822031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6865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371475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D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Using NLTK in Python</a:t>
            </a:r>
            <a:endParaRPr lang="en-US" sz="2025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28625" y="1207294"/>
            <a:ext cx="125016" cy="142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5078" y="1193006"/>
            <a:ext cx="69735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Install NLTK: </a:t>
            </a:r>
            <a:endParaRPr lang="en-US" sz="837" dirty="0"/>
          </a:p>
        </p:txBody>
      </p:sp>
      <p:sp>
        <p:nvSpPr>
          <p:cNvPr id="6" name="Text 2"/>
          <p:cNvSpPr/>
          <p:nvPr/>
        </p:nvSpPr>
        <p:spPr>
          <a:xfrm>
            <a:off x="1322431" y="1221581"/>
            <a:ext cx="109745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pip install nltk</a:t>
            </a:r>
            <a:endParaRPr lang="en-US" sz="837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28625" y="1493044"/>
            <a:ext cx="125016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5078" y="1478756"/>
            <a:ext cx="14369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Download necessary data: </a:t>
            </a:r>
            <a:endParaRPr lang="en-US" sz="837" dirty="0"/>
          </a:p>
        </p:txBody>
      </p:sp>
      <p:sp>
        <p:nvSpPr>
          <p:cNvPr id="9" name="Text 4"/>
          <p:cNvSpPr/>
          <p:nvPr/>
        </p:nvSpPr>
        <p:spPr>
          <a:xfrm>
            <a:off x="2062060" y="1507331"/>
            <a:ext cx="15090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nltk.download('punkt')</a:t>
            </a:r>
            <a:endParaRPr lang="en-US" sz="837" dirty="0"/>
          </a:p>
        </p:txBody>
      </p:sp>
      <p:sp>
        <p:nvSpPr>
          <p:cNvPr id="10" name="Shape 5"/>
          <p:cNvSpPr/>
          <p:nvPr/>
        </p:nvSpPr>
        <p:spPr>
          <a:xfrm>
            <a:off x="428625" y="1885950"/>
            <a:ext cx="3714750" cy="42291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571500" y="2035969"/>
            <a:ext cx="144122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i="1" dirty="0">
                <a:solidFill>
                  <a:srgbClr val="FFD4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 Import necessary modules</a:t>
            </a:r>
            <a:endParaRPr lang="en-US" sz="837" dirty="0"/>
          </a:p>
        </p:txBody>
      </p:sp>
      <p:sp>
        <p:nvSpPr>
          <p:cNvPr id="12" name="Text 7"/>
          <p:cNvSpPr/>
          <p:nvPr/>
        </p:nvSpPr>
        <p:spPr>
          <a:xfrm>
            <a:off x="571500" y="2207419"/>
            <a:ext cx="3917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4B8BB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import</a:t>
            </a:r>
            <a:endParaRPr lang="en-US" sz="837" dirty="0"/>
          </a:p>
        </p:txBody>
      </p:sp>
      <p:sp>
        <p:nvSpPr>
          <p:cNvPr id="13" name="Text 8"/>
          <p:cNvSpPr/>
          <p:nvPr/>
        </p:nvSpPr>
        <p:spPr>
          <a:xfrm>
            <a:off x="963206" y="2207419"/>
            <a:ext cx="2321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nltk</a:t>
            </a:r>
            <a:endParaRPr lang="en-US" sz="837" dirty="0"/>
          </a:p>
        </p:txBody>
      </p:sp>
      <p:sp>
        <p:nvSpPr>
          <p:cNvPr id="14" name="Text 9"/>
          <p:cNvSpPr/>
          <p:nvPr/>
        </p:nvSpPr>
        <p:spPr>
          <a:xfrm>
            <a:off x="571500" y="2378869"/>
            <a:ext cx="27684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4B8BB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from</a:t>
            </a:r>
            <a:endParaRPr lang="en-US" sz="837" dirty="0"/>
          </a:p>
        </p:txBody>
      </p:sp>
      <p:sp>
        <p:nvSpPr>
          <p:cNvPr id="15" name="Text 10"/>
          <p:cNvSpPr/>
          <p:nvPr/>
        </p:nvSpPr>
        <p:spPr>
          <a:xfrm>
            <a:off x="848348" y="2378869"/>
            <a:ext cx="7467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nltk.tokenize </a:t>
            </a:r>
            <a:endParaRPr lang="en-US" sz="837" dirty="0"/>
          </a:p>
        </p:txBody>
      </p:sp>
      <p:sp>
        <p:nvSpPr>
          <p:cNvPr id="16" name="Text 11"/>
          <p:cNvSpPr/>
          <p:nvPr/>
        </p:nvSpPr>
        <p:spPr>
          <a:xfrm>
            <a:off x="1595093" y="2378869"/>
            <a:ext cx="3917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4B8BB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import</a:t>
            </a:r>
            <a:endParaRPr lang="en-US" sz="837" dirty="0"/>
          </a:p>
        </p:txBody>
      </p:sp>
      <p:sp>
        <p:nvSpPr>
          <p:cNvPr id="17" name="Text 12"/>
          <p:cNvSpPr/>
          <p:nvPr/>
        </p:nvSpPr>
        <p:spPr>
          <a:xfrm>
            <a:off x="1986800" y="2378869"/>
            <a:ext cx="160536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word_tokenize, sent_tokenize</a:t>
            </a:r>
            <a:endParaRPr lang="en-US" sz="837" dirty="0"/>
          </a:p>
        </p:txBody>
      </p:sp>
      <p:sp>
        <p:nvSpPr>
          <p:cNvPr id="18" name="Text 13"/>
          <p:cNvSpPr/>
          <p:nvPr/>
        </p:nvSpPr>
        <p:spPr>
          <a:xfrm>
            <a:off x="571500" y="2550319"/>
            <a:ext cx="27684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4B8BB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from</a:t>
            </a:r>
            <a:endParaRPr lang="en-US" sz="837" dirty="0"/>
          </a:p>
        </p:txBody>
      </p:sp>
      <p:sp>
        <p:nvSpPr>
          <p:cNvPr id="19" name="Text 14"/>
          <p:cNvSpPr/>
          <p:nvPr/>
        </p:nvSpPr>
        <p:spPr>
          <a:xfrm>
            <a:off x="848348" y="2550319"/>
            <a:ext cx="65940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nltk.corpus </a:t>
            </a:r>
            <a:endParaRPr lang="en-US" sz="837" dirty="0"/>
          </a:p>
        </p:txBody>
      </p:sp>
      <p:sp>
        <p:nvSpPr>
          <p:cNvPr id="20" name="Text 15"/>
          <p:cNvSpPr/>
          <p:nvPr/>
        </p:nvSpPr>
        <p:spPr>
          <a:xfrm>
            <a:off x="1507750" y="2550319"/>
            <a:ext cx="3917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4B8BB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import</a:t>
            </a:r>
            <a:endParaRPr lang="en-US" sz="837" dirty="0"/>
          </a:p>
        </p:txBody>
      </p:sp>
      <p:sp>
        <p:nvSpPr>
          <p:cNvPr id="21" name="Text 16"/>
          <p:cNvSpPr/>
          <p:nvPr/>
        </p:nvSpPr>
        <p:spPr>
          <a:xfrm>
            <a:off x="1899456" y="2550319"/>
            <a:ext cx="59187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stopwords</a:t>
            </a:r>
            <a:endParaRPr lang="en-US" sz="837" dirty="0"/>
          </a:p>
        </p:txBody>
      </p:sp>
      <p:sp>
        <p:nvSpPr>
          <p:cNvPr id="22" name="Text 17"/>
          <p:cNvSpPr/>
          <p:nvPr/>
        </p:nvSpPr>
        <p:spPr>
          <a:xfrm>
            <a:off x="571500" y="2721769"/>
            <a:ext cx="27684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4B8BB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from</a:t>
            </a:r>
            <a:endParaRPr lang="en-US" sz="837" dirty="0"/>
          </a:p>
        </p:txBody>
      </p:sp>
      <p:sp>
        <p:nvSpPr>
          <p:cNvPr id="23" name="Text 18"/>
          <p:cNvSpPr/>
          <p:nvPr/>
        </p:nvSpPr>
        <p:spPr>
          <a:xfrm>
            <a:off x="848348" y="2721769"/>
            <a:ext cx="5598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nltk.stem </a:t>
            </a:r>
            <a:endParaRPr lang="en-US" sz="837" dirty="0"/>
          </a:p>
        </p:txBody>
      </p:sp>
      <p:sp>
        <p:nvSpPr>
          <p:cNvPr id="24" name="Text 19"/>
          <p:cNvSpPr/>
          <p:nvPr/>
        </p:nvSpPr>
        <p:spPr>
          <a:xfrm>
            <a:off x="1408212" y="2721769"/>
            <a:ext cx="3917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4B8BB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import</a:t>
            </a:r>
            <a:endParaRPr lang="en-US" sz="837" dirty="0"/>
          </a:p>
        </p:txBody>
      </p:sp>
      <p:sp>
        <p:nvSpPr>
          <p:cNvPr id="25" name="Text 20"/>
          <p:cNvSpPr/>
          <p:nvPr/>
        </p:nvSpPr>
        <p:spPr>
          <a:xfrm>
            <a:off x="1799918" y="2721769"/>
            <a:ext cx="114908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WordNetLemmatizer</a:t>
            </a:r>
            <a:endParaRPr lang="en-US" sz="837" dirty="0"/>
          </a:p>
        </p:txBody>
      </p:sp>
      <p:sp>
        <p:nvSpPr>
          <p:cNvPr id="26" name="Text 21"/>
          <p:cNvSpPr/>
          <p:nvPr/>
        </p:nvSpPr>
        <p:spPr>
          <a:xfrm>
            <a:off x="571500" y="3064669"/>
            <a:ext cx="69679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i="1" dirty="0">
                <a:solidFill>
                  <a:srgbClr val="FFD4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 Sample text</a:t>
            </a:r>
            <a:endParaRPr lang="en-US" sz="837" dirty="0"/>
          </a:p>
        </p:txBody>
      </p:sp>
      <p:sp>
        <p:nvSpPr>
          <p:cNvPr id="27" name="Text 22"/>
          <p:cNvSpPr/>
          <p:nvPr/>
        </p:nvSpPr>
        <p:spPr>
          <a:xfrm>
            <a:off x="571500" y="3236119"/>
            <a:ext cx="3300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text = </a:t>
            </a:r>
            <a:endParaRPr lang="en-US" sz="837" dirty="0"/>
          </a:p>
        </p:txBody>
      </p:sp>
      <p:sp>
        <p:nvSpPr>
          <p:cNvPr id="28" name="Text 23"/>
          <p:cNvSpPr/>
          <p:nvPr/>
        </p:nvSpPr>
        <p:spPr>
          <a:xfrm>
            <a:off x="901508" y="3236119"/>
            <a:ext cx="25486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98C37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"NLTK is a powerful library for natural language </a:t>
            </a:r>
            <a:endParaRPr lang="en-US" sz="837" dirty="0"/>
          </a:p>
        </p:txBody>
      </p:sp>
      <p:sp>
        <p:nvSpPr>
          <p:cNvPr id="29" name="Text 24"/>
          <p:cNvSpPr/>
          <p:nvPr/>
        </p:nvSpPr>
        <p:spPr>
          <a:xfrm>
            <a:off x="571500" y="3407569"/>
            <a:ext cx="119959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98C37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processing in Python."</a:t>
            </a:r>
            <a:endParaRPr lang="en-US" sz="837" dirty="0"/>
          </a:p>
        </p:txBody>
      </p:sp>
      <p:sp>
        <p:nvSpPr>
          <p:cNvPr id="30" name="Text 25"/>
          <p:cNvSpPr/>
          <p:nvPr/>
        </p:nvSpPr>
        <p:spPr>
          <a:xfrm>
            <a:off x="571500" y="3750469"/>
            <a:ext cx="12814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i="1" dirty="0">
                <a:solidFill>
                  <a:srgbClr val="FFD4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 Tokenize into sentences</a:t>
            </a:r>
            <a:endParaRPr lang="en-US" sz="837" dirty="0"/>
          </a:p>
        </p:txBody>
      </p:sp>
      <p:sp>
        <p:nvSpPr>
          <p:cNvPr id="31" name="Text 26"/>
          <p:cNvSpPr/>
          <p:nvPr/>
        </p:nvSpPr>
        <p:spPr>
          <a:xfrm>
            <a:off x="571500" y="3921919"/>
            <a:ext cx="167495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sentences = sent_tokenize(text)</a:t>
            </a:r>
            <a:endParaRPr lang="en-US" sz="837" dirty="0"/>
          </a:p>
        </p:txBody>
      </p:sp>
      <p:sp>
        <p:nvSpPr>
          <p:cNvPr id="32" name="Text 27"/>
          <p:cNvSpPr/>
          <p:nvPr/>
        </p:nvSpPr>
        <p:spPr>
          <a:xfrm>
            <a:off x="571500" y="4093369"/>
            <a:ext cx="25890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61AFE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print</a:t>
            </a:r>
            <a:endParaRPr lang="en-US" sz="837" dirty="0"/>
          </a:p>
        </p:txBody>
      </p:sp>
      <p:sp>
        <p:nvSpPr>
          <p:cNvPr id="33" name="Text 28"/>
          <p:cNvSpPr/>
          <p:nvPr/>
        </p:nvSpPr>
        <p:spPr>
          <a:xfrm>
            <a:off x="830405" y="4093369"/>
            <a:ext cx="60889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(sentences)</a:t>
            </a:r>
            <a:endParaRPr lang="en-US" sz="837" dirty="0"/>
          </a:p>
        </p:txBody>
      </p:sp>
      <p:sp>
        <p:nvSpPr>
          <p:cNvPr id="34" name="Text 29"/>
          <p:cNvSpPr/>
          <p:nvPr/>
        </p:nvSpPr>
        <p:spPr>
          <a:xfrm>
            <a:off x="571500" y="4436269"/>
            <a:ext cx="109522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i="1" dirty="0">
                <a:solidFill>
                  <a:srgbClr val="FFD4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 Tokenize into words</a:t>
            </a:r>
            <a:endParaRPr lang="en-US" sz="837" dirty="0"/>
          </a:p>
        </p:txBody>
      </p:sp>
      <p:sp>
        <p:nvSpPr>
          <p:cNvPr id="35" name="Text 30"/>
          <p:cNvSpPr/>
          <p:nvPr/>
        </p:nvSpPr>
        <p:spPr>
          <a:xfrm>
            <a:off x="571500" y="4607719"/>
            <a:ext cx="150671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words = word_tokenize(text)</a:t>
            </a:r>
            <a:endParaRPr lang="en-US" sz="837" dirty="0"/>
          </a:p>
        </p:txBody>
      </p:sp>
      <p:sp>
        <p:nvSpPr>
          <p:cNvPr id="36" name="Text 31"/>
          <p:cNvSpPr/>
          <p:nvPr/>
        </p:nvSpPr>
        <p:spPr>
          <a:xfrm>
            <a:off x="571500" y="4779169"/>
            <a:ext cx="25890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61AFE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print</a:t>
            </a:r>
            <a:endParaRPr lang="en-US" sz="837" dirty="0"/>
          </a:p>
        </p:txBody>
      </p:sp>
      <p:sp>
        <p:nvSpPr>
          <p:cNvPr id="37" name="Text 32"/>
          <p:cNvSpPr/>
          <p:nvPr/>
        </p:nvSpPr>
        <p:spPr>
          <a:xfrm>
            <a:off x="830405" y="4779169"/>
            <a:ext cx="39753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(words)</a:t>
            </a:r>
            <a:endParaRPr lang="en-US" sz="837" dirty="0"/>
          </a:p>
        </p:txBody>
      </p:sp>
      <p:sp>
        <p:nvSpPr>
          <p:cNvPr id="38" name="Text 33"/>
          <p:cNvSpPr/>
          <p:nvPr/>
        </p:nvSpPr>
        <p:spPr>
          <a:xfrm>
            <a:off x="571500" y="5122069"/>
            <a:ext cx="9405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i="1" dirty="0">
                <a:solidFill>
                  <a:srgbClr val="FFD4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 Filter stop words</a:t>
            </a:r>
            <a:endParaRPr lang="en-US" sz="837" dirty="0"/>
          </a:p>
        </p:txBody>
      </p:sp>
      <p:sp>
        <p:nvSpPr>
          <p:cNvPr id="39" name="Text 34"/>
          <p:cNvSpPr/>
          <p:nvPr/>
        </p:nvSpPr>
        <p:spPr>
          <a:xfrm>
            <a:off x="571500" y="5293519"/>
            <a:ext cx="73999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stop_words = </a:t>
            </a:r>
            <a:endParaRPr lang="en-US" sz="837" dirty="0"/>
          </a:p>
        </p:txBody>
      </p:sp>
      <p:sp>
        <p:nvSpPr>
          <p:cNvPr id="40" name="Text 35"/>
          <p:cNvSpPr/>
          <p:nvPr/>
        </p:nvSpPr>
        <p:spPr>
          <a:xfrm>
            <a:off x="1311492" y="5293519"/>
            <a:ext cx="16048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61AFE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set</a:t>
            </a:r>
            <a:endParaRPr lang="en-US" sz="837" dirty="0"/>
          </a:p>
        </p:txBody>
      </p:sp>
      <p:sp>
        <p:nvSpPr>
          <p:cNvPr id="41" name="Text 36"/>
          <p:cNvSpPr/>
          <p:nvPr/>
        </p:nvSpPr>
        <p:spPr>
          <a:xfrm>
            <a:off x="1471975" y="5293519"/>
            <a:ext cx="99030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(stopwords.words(</a:t>
            </a:r>
            <a:endParaRPr lang="en-US" sz="837" dirty="0"/>
          </a:p>
        </p:txBody>
      </p:sp>
      <p:sp>
        <p:nvSpPr>
          <p:cNvPr id="42" name="Text 37"/>
          <p:cNvSpPr/>
          <p:nvPr/>
        </p:nvSpPr>
        <p:spPr>
          <a:xfrm>
            <a:off x="2462278" y="5293519"/>
            <a:ext cx="43320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98C37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'english'</a:t>
            </a:r>
            <a:endParaRPr lang="en-US" sz="837" dirty="0"/>
          </a:p>
        </p:txBody>
      </p:sp>
      <p:sp>
        <p:nvSpPr>
          <p:cNvPr id="43" name="Text 38"/>
          <p:cNvSpPr/>
          <p:nvPr/>
        </p:nvSpPr>
        <p:spPr>
          <a:xfrm>
            <a:off x="2895479" y="5293519"/>
            <a:ext cx="685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))</a:t>
            </a:r>
            <a:endParaRPr lang="en-US" sz="837" dirty="0"/>
          </a:p>
        </p:txBody>
      </p:sp>
      <p:sp>
        <p:nvSpPr>
          <p:cNvPr id="44" name="Text 39"/>
          <p:cNvSpPr/>
          <p:nvPr/>
        </p:nvSpPr>
        <p:spPr>
          <a:xfrm>
            <a:off x="571500" y="5464969"/>
            <a:ext cx="104538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filtered_words = [w </a:t>
            </a:r>
            <a:endParaRPr lang="en-US" sz="837" dirty="0"/>
          </a:p>
        </p:txBody>
      </p:sp>
      <p:sp>
        <p:nvSpPr>
          <p:cNvPr id="45" name="Text 40"/>
          <p:cNvSpPr/>
          <p:nvPr/>
        </p:nvSpPr>
        <p:spPr>
          <a:xfrm>
            <a:off x="1616887" y="5464969"/>
            <a:ext cx="16690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4B8BB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</a:t>
            </a:r>
            <a:endParaRPr lang="en-US" sz="837" dirty="0"/>
          </a:p>
        </p:txBody>
      </p:sp>
      <p:sp>
        <p:nvSpPr>
          <p:cNvPr id="46" name="Text 41"/>
          <p:cNvSpPr/>
          <p:nvPr/>
        </p:nvSpPr>
        <p:spPr>
          <a:xfrm>
            <a:off x="1783789" y="5464969"/>
            <a:ext cx="14929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 </a:t>
            </a:r>
            <a:endParaRPr lang="en-US" sz="837" dirty="0"/>
          </a:p>
        </p:txBody>
      </p:sp>
      <p:sp>
        <p:nvSpPr>
          <p:cNvPr id="47" name="Text 42"/>
          <p:cNvSpPr/>
          <p:nvPr/>
        </p:nvSpPr>
        <p:spPr>
          <a:xfrm>
            <a:off x="1933082" y="5464969"/>
            <a:ext cx="1099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4B8BB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</a:t>
            </a:r>
            <a:endParaRPr lang="en-US" sz="837" dirty="0"/>
          </a:p>
        </p:txBody>
      </p:sp>
      <p:sp>
        <p:nvSpPr>
          <p:cNvPr id="48" name="Text 43"/>
          <p:cNvSpPr/>
          <p:nvPr/>
        </p:nvSpPr>
        <p:spPr>
          <a:xfrm>
            <a:off x="2043057" y="5464969"/>
            <a:ext cx="38841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words </a:t>
            </a:r>
            <a:endParaRPr lang="en-US" sz="837" dirty="0"/>
          </a:p>
        </p:txBody>
      </p:sp>
      <p:sp>
        <p:nvSpPr>
          <p:cNvPr id="49" name="Text 44"/>
          <p:cNvSpPr/>
          <p:nvPr/>
        </p:nvSpPr>
        <p:spPr>
          <a:xfrm>
            <a:off x="2431470" y="5464969"/>
            <a:ext cx="7911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4B8BB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if</a:t>
            </a:r>
            <a:endParaRPr lang="en-US" sz="837" dirty="0"/>
          </a:p>
        </p:txBody>
      </p:sp>
      <p:sp>
        <p:nvSpPr>
          <p:cNvPr id="50" name="Text 45"/>
          <p:cNvSpPr/>
          <p:nvPr/>
        </p:nvSpPr>
        <p:spPr>
          <a:xfrm>
            <a:off x="2510582" y="5464969"/>
            <a:ext cx="54180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w.lower() </a:t>
            </a:r>
            <a:endParaRPr lang="en-US" sz="837" dirty="0"/>
          </a:p>
        </p:txBody>
      </p:sp>
      <p:sp>
        <p:nvSpPr>
          <p:cNvPr id="51" name="Text 46"/>
          <p:cNvSpPr/>
          <p:nvPr/>
        </p:nvSpPr>
        <p:spPr>
          <a:xfrm>
            <a:off x="3052390" y="5464969"/>
            <a:ext cx="33514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4B8BB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not in</a:t>
            </a:r>
            <a:endParaRPr lang="en-US" sz="837" dirty="0"/>
          </a:p>
        </p:txBody>
      </p:sp>
      <p:sp>
        <p:nvSpPr>
          <p:cNvPr id="52" name="Text 47"/>
          <p:cNvSpPr/>
          <p:nvPr/>
        </p:nvSpPr>
        <p:spPr>
          <a:xfrm>
            <a:off x="571500" y="5636419"/>
            <a:ext cx="6527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stop_words]</a:t>
            </a:r>
            <a:endParaRPr lang="en-US" sz="837" dirty="0"/>
          </a:p>
        </p:txBody>
      </p:sp>
      <p:sp>
        <p:nvSpPr>
          <p:cNvPr id="53" name="Text 48"/>
          <p:cNvSpPr/>
          <p:nvPr/>
        </p:nvSpPr>
        <p:spPr>
          <a:xfrm>
            <a:off x="571500" y="5807869"/>
            <a:ext cx="25890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61AFE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print</a:t>
            </a:r>
            <a:endParaRPr lang="en-US" sz="837" dirty="0"/>
          </a:p>
        </p:txBody>
      </p:sp>
      <p:sp>
        <p:nvSpPr>
          <p:cNvPr id="54" name="Text 49"/>
          <p:cNvSpPr/>
          <p:nvPr/>
        </p:nvSpPr>
        <p:spPr>
          <a:xfrm>
            <a:off x="830405" y="5807869"/>
            <a:ext cx="83199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(filtered_words) </a:t>
            </a:r>
            <a:endParaRPr lang="en-US" sz="837" dirty="0"/>
          </a:p>
        </p:txBody>
      </p:sp>
      <p:pic>
        <p:nvPicPr>
          <p:cNvPr id="5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063" y="2221343"/>
            <a:ext cx="3571875" cy="2243863"/>
          </a:xfrm>
          <a:prstGeom prst="rect">
            <a:avLst/>
          </a:prstGeom>
        </p:spPr>
      </p:pic>
      <p:sp>
        <p:nvSpPr>
          <p:cNvPr id="56" name="Shape 50"/>
          <p:cNvSpPr/>
          <p:nvPr/>
        </p:nvSpPr>
        <p:spPr>
          <a:xfrm>
            <a:off x="4250531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1"/>
          <p:cNvSpPr/>
          <p:nvPr/>
        </p:nvSpPr>
        <p:spPr>
          <a:xfrm>
            <a:off x="4393406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2"/>
          <p:cNvSpPr/>
          <p:nvPr/>
        </p:nvSpPr>
        <p:spPr>
          <a:xfrm>
            <a:off x="4536281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3"/>
          <p:cNvSpPr/>
          <p:nvPr/>
        </p:nvSpPr>
        <p:spPr>
          <a:xfrm>
            <a:off x="4679156" y="4929188"/>
            <a:ext cx="71438" cy="71438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4"/>
          <p:cNvSpPr/>
          <p:nvPr/>
        </p:nvSpPr>
        <p:spPr>
          <a:xfrm>
            <a:off x="4822031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9865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371475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D4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NLTK Applications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28625" y="1028700"/>
            <a:ext cx="3714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NLTK enables a wide range of natural language processing applications: </a:t>
            </a:r>
            <a:endParaRPr lang="en-US" sz="1046" dirty="0"/>
          </a:p>
        </p:txBody>
      </p:sp>
      <p:sp>
        <p:nvSpPr>
          <p:cNvPr id="5" name="Shape 2"/>
          <p:cNvSpPr/>
          <p:nvPr/>
        </p:nvSpPr>
        <p:spPr>
          <a:xfrm>
            <a:off x="428625" y="1771650"/>
            <a:ext cx="1785938" cy="155733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35781" y="1878806"/>
            <a:ext cx="357188" cy="357188"/>
          </a:xfrm>
          <a:prstGeom prst="rect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57225" y="2000250"/>
            <a:ext cx="114300" cy="1143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5781" y="2307431"/>
            <a:ext cx="15716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FFD4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Sentiment Analysis</a:t>
            </a:r>
            <a:endParaRPr lang="en-US" sz="942" dirty="0"/>
          </a:p>
        </p:txBody>
      </p:sp>
      <p:sp>
        <p:nvSpPr>
          <p:cNvPr id="9" name="Text 5"/>
          <p:cNvSpPr/>
          <p:nvPr/>
        </p:nvSpPr>
        <p:spPr>
          <a:xfrm>
            <a:off x="535781" y="2536031"/>
            <a:ext cx="15716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Determine the sentiment or emotion in text, useful for social media monitoring and customer feedback analysis</a:t>
            </a:r>
            <a:endParaRPr lang="en-US" sz="837" dirty="0"/>
          </a:p>
        </p:txBody>
      </p:sp>
      <p:sp>
        <p:nvSpPr>
          <p:cNvPr id="10" name="Shape 6"/>
          <p:cNvSpPr/>
          <p:nvPr/>
        </p:nvSpPr>
        <p:spPr>
          <a:xfrm>
            <a:off x="2357438" y="1771650"/>
            <a:ext cx="1785938" cy="155733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2464594" y="1878806"/>
            <a:ext cx="357188" cy="357188"/>
          </a:xfrm>
          <a:prstGeom prst="rect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571750" y="2000250"/>
            <a:ext cx="142875" cy="114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464594" y="2307431"/>
            <a:ext cx="15716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FFD4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Chatbots</a:t>
            </a:r>
            <a:endParaRPr lang="en-US" sz="942" dirty="0"/>
          </a:p>
        </p:txBody>
      </p:sp>
      <p:sp>
        <p:nvSpPr>
          <p:cNvPr id="14" name="Text 9"/>
          <p:cNvSpPr/>
          <p:nvPr/>
        </p:nvSpPr>
        <p:spPr>
          <a:xfrm>
            <a:off x="2464594" y="2536031"/>
            <a:ext cx="15716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Build conversational interfaces that can understand and respond to natural language queries</a:t>
            </a:r>
            <a:endParaRPr lang="en-US" sz="837" dirty="0"/>
          </a:p>
        </p:txBody>
      </p:sp>
      <p:sp>
        <p:nvSpPr>
          <p:cNvPr id="15" name="Shape 10"/>
          <p:cNvSpPr/>
          <p:nvPr/>
        </p:nvSpPr>
        <p:spPr>
          <a:xfrm>
            <a:off x="428625" y="3471863"/>
            <a:ext cx="1785938" cy="155733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535781" y="3579019"/>
            <a:ext cx="357188" cy="357188"/>
          </a:xfrm>
          <a:prstGeom prst="rect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71513" y="3700463"/>
            <a:ext cx="85725" cy="1143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5781" y="4007644"/>
            <a:ext cx="15716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FFD4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 Summarization</a:t>
            </a:r>
            <a:endParaRPr lang="en-US" sz="942" dirty="0"/>
          </a:p>
        </p:txBody>
      </p:sp>
      <p:sp>
        <p:nvSpPr>
          <p:cNvPr id="19" name="Text 13"/>
          <p:cNvSpPr/>
          <p:nvPr/>
        </p:nvSpPr>
        <p:spPr>
          <a:xfrm>
            <a:off x="535781" y="4236244"/>
            <a:ext cx="15716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Create concise summaries of longer texts, extracting key information automatically</a:t>
            </a:r>
            <a:endParaRPr lang="en-US" sz="837" dirty="0"/>
          </a:p>
        </p:txBody>
      </p:sp>
      <p:sp>
        <p:nvSpPr>
          <p:cNvPr id="20" name="Shape 14"/>
          <p:cNvSpPr/>
          <p:nvPr/>
        </p:nvSpPr>
        <p:spPr>
          <a:xfrm>
            <a:off x="2357438" y="3471863"/>
            <a:ext cx="1785938" cy="155733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2464594" y="3579019"/>
            <a:ext cx="357188" cy="357188"/>
          </a:xfrm>
          <a:prstGeom prst="rect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571750" y="3700463"/>
            <a:ext cx="142875" cy="1143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464594" y="4007644"/>
            <a:ext cx="15716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FFD4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Machine Translation</a:t>
            </a:r>
            <a:endParaRPr lang="en-US" sz="942" dirty="0"/>
          </a:p>
        </p:txBody>
      </p:sp>
      <p:sp>
        <p:nvSpPr>
          <p:cNvPr id="24" name="Text 17"/>
          <p:cNvSpPr/>
          <p:nvPr/>
        </p:nvSpPr>
        <p:spPr>
          <a:xfrm>
            <a:off x="2464594" y="4236244"/>
            <a:ext cx="15716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Assist in language translation tasks by providing linguistic analysis and processing</a:t>
            </a:r>
            <a:endParaRPr lang="en-US" sz="837" dirty="0"/>
          </a:p>
        </p:txBody>
      </p:sp>
      <p:sp>
        <p:nvSpPr>
          <p:cNvPr id="25" name="Shape 18"/>
          <p:cNvSpPr/>
          <p:nvPr/>
        </p:nvSpPr>
        <p:spPr>
          <a:xfrm>
            <a:off x="428625" y="5172075"/>
            <a:ext cx="1785938" cy="138588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535781" y="5279231"/>
            <a:ext cx="357188" cy="357188"/>
          </a:xfrm>
          <a:prstGeom prst="rect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57225" y="5400675"/>
            <a:ext cx="114300" cy="1143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35781" y="5707856"/>
            <a:ext cx="15716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FFD4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Information Extraction</a:t>
            </a:r>
            <a:endParaRPr lang="en-US" sz="942" dirty="0"/>
          </a:p>
        </p:txBody>
      </p:sp>
      <p:sp>
        <p:nvSpPr>
          <p:cNvPr id="29" name="Text 21"/>
          <p:cNvSpPr/>
          <p:nvPr/>
        </p:nvSpPr>
        <p:spPr>
          <a:xfrm>
            <a:off x="535781" y="5936456"/>
            <a:ext cx="15716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Pull structured information from unstructured text, such as names, dates, and events</a:t>
            </a:r>
            <a:endParaRPr lang="en-US" sz="837" dirty="0"/>
          </a:p>
        </p:txBody>
      </p:sp>
      <p:sp>
        <p:nvSpPr>
          <p:cNvPr id="30" name="Shape 22"/>
          <p:cNvSpPr/>
          <p:nvPr/>
        </p:nvSpPr>
        <p:spPr>
          <a:xfrm>
            <a:off x="2357438" y="5172075"/>
            <a:ext cx="1785938" cy="138588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3"/>
          <p:cNvSpPr/>
          <p:nvPr/>
        </p:nvSpPr>
        <p:spPr>
          <a:xfrm>
            <a:off x="2464594" y="5279231"/>
            <a:ext cx="357188" cy="357188"/>
          </a:xfrm>
          <a:prstGeom prst="rect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578894" y="5400675"/>
            <a:ext cx="128588" cy="11430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2464594" y="5707856"/>
            <a:ext cx="15716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FFD4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Spell Checking</a:t>
            </a:r>
            <a:endParaRPr lang="en-US" sz="942" dirty="0"/>
          </a:p>
        </p:txBody>
      </p:sp>
      <p:sp>
        <p:nvSpPr>
          <p:cNvPr id="34" name="Text 25"/>
          <p:cNvSpPr/>
          <p:nvPr/>
        </p:nvSpPr>
        <p:spPr>
          <a:xfrm>
            <a:off x="2464594" y="5936456"/>
            <a:ext cx="15716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Identify and correct spelling and grammar errors in text documents</a:t>
            </a:r>
            <a:endParaRPr lang="en-US" sz="837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063" y="2529334"/>
            <a:ext cx="3571875" cy="1927892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4250531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27"/>
          <p:cNvSpPr/>
          <p:nvPr/>
        </p:nvSpPr>
        <p:spPr>
          <a:xfrm>
            <a:off x="4393406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28"/>
          <p:cNvSpPr/>
          <p:nvPr/>
        </p:nvSpPr>
        <p:spPr>
          <a:xfrm>
            <a:off x="4536281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29"/>
          <p:cNvSpPr/>
          <p:nvPr/>
        </p:nvSpPr>
        <p:spPr>
          <a:xfrm>
            <a:off x="4679156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0"/>
          <p:cNvSpPr/>
          <p:nvPr/>
        </p:nvSpPr>
        <p:spPr>
          <a:xfrm>
            <a:off x="4822031" y="4929188"/>
            <a:ext cx="71438" cy="71438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1117</Words>
  <Application>Microsoft Macintosh PowerPoint</Application>
  <PresentationFormat>On-screen Show (16:9)</PresentationFormat>
  <Paragraphs>251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Montserrat</vt:lpstr>
      <vt:lpstr>Noto Sans</vt:lpstr>
      <vt:lpstr>Open Sans</vt:lpstr>
      <vt:lpstr>ui-monospace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Adam Pah</cp:lastModifiedBy>
  <cp:revision>2</cp:revision>
  <dcterms:created xsi:type="dcterms:W3CDTF">2025-09-25T18:03:37Z</dcterms:created>
  <dcterms:modified xsi:type="dcterms:W3CDTF">2025-09-25T19:50:27Z</dcterms:modified>
</cp:coreProperties>
</file>