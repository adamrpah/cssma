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embeddedFontLst>
    <p:embeddedFont>
      <p:font typeface="Montserrat" pitchFamily="2" charset="77"/>
      <p:regular r:id="rId16"/>
      <p:bold r:id="rId17"/>
      <p:italic r:id="rId18"/>
      <p:boldItalic r:id="rId19"/>
    </p:embeddedFont>
    <p:embeddedFont>
      <p:font typeface="Noto Sans" panose="020B0502040504020204" pitchFamily="34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rGQB/xNUmxg6LrWqRKmw8NaT2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769864" y="427202"/>
            <a:ext cx="5604272" cy="617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4050"/>
              <a:buFont typeface="Montserrat"/>
              <a:buNone/>
            </a:pPr>
            <a:r>
              <a:rPr lang="en-US" sz="4050" b="1" i="0" u="none" strike="noStrike" cap="none">
                <a:solidFill>
                  <a:srgbClr val="66999B"/>
                </a:solidFill>
                <a:latin typeface="Montserrat"/>
                <a:ea typeface="Montserrat"/>
                <a:cs typeface="Montserrat"/>
                <a:sym typeface="Montserrat"/>
              </a:rPr>
              <a:t>Git &amp; Version Control</a:t>
            </a:r>
            <a:endParaRPr sz="4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769864" y="4716298"/>
            <a:ext cx="5604272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3AF8F"/>
              </a:buClr>
              <a:buSzPts val="2025"/>
              <a:buFont typeface="Montserrat"/>
              <a:buNone/>
            </a:pPr>
            <a:r>
              <a:rPr lang="en-US" sz="2025" b="1" i="0" u="none" strike="noStrike" cap="none" dirty="0">
                <a:solidFill>
                  <a:srgbClr val="B3AF8F"/>
                </a:solidFill>
                <a:latin typeface="Montserrat"/>
                <a:ea typeface="Montserrat"/>
                <a:cs typeface="Montserrat"/>
                <a:sym typeface="Montserrat"/>
              </a:rPr>
              <a:t>Your Time-Traveling Code Companion!</a:t>
            </a:r>
            <a:endParaRPr sz="20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1688" y="1601623"/>
            <a:ext cx="500062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>
            <a:off x="428625" y="1114425"/>
            <a:ext cx="37147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What is Version Control?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28625" y="1730573"/>
            <a:ext cx="1307306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Version control is a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735931" y="1730573"/>
            <a:ext cx="1907381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Open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Open Sans"/>
                <a:ea typeface="Open Sans"/>
                <a:cs typeface="Open Sans"/>
                <a:sym typeface="Open Sans"/>
              </a:rPr>
              <a:t>system that records changes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43313" y="1730573"/>
            <a:ext cx="480417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to files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28625" y="1959173"/>
            <a:ext cx="3275409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over time so you can recall specific versions later.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28625" y="2330648"/>
            <a:ext cx="962620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Think of it like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91245" y="2330648"/>
            <a:ext cx="1464469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Open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Open Sans"/>
                <a:ea typeface="Open Sans"/>
                <a:cs typeface="Open Sans"/>
                <a:sym typeface="Open Sans"/>
              </a:rPr>
              <a:t>saving different drafts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855714" y="2330648"/>
            <a:ext cx="1042988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of a document,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28625" y="2559248"/>
            <a:ext cx="853678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but for code!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95929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628650" y="2930723"/>
            <a:ext cx="1110853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Never lose work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3330773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628650" y="3302198"/>
            <a:ext cx="2412802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Track who made changes and when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370224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628650" y="3673673"/>
            <a:ext cx="2225278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Easily revert to previous versions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2063" y="1750944"/>
            <a:ext cx="3571875" cy="164158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3893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5179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428625" y="1021556"/>
            <a:ext cx="3714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Why Do We Need Version Control?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28625" y="2039541"/>
            <a:ext cx="357188" cy="357188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Google Shape;61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922" y="2214563"/>
            <a:ext cx="178594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892969" y="2007394"/>
            <a:ext cx="2704216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942"/>
              <a:buFont typeface="Noto Sans"/>
              <a:buNone/>
            </a:pPr>
            <a:r>
              <a:rPr lang="en-US" sz="942" b="1" i="0" u="none" strike="noStrike" cap="none">
                <a:solidFill>
                  <a:srgbClr val="FFC482"/>
                </a:solidFill>
                <a:latin typeface="Noto Sans"/>
                <a:ea typeface="Noto Sans"/>
                <a:cs typeface="Noto Sans"/>
                <a:sym typeface="Noto Sans"/>
              </a:rPr>
              <a:t>Collaboration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2969" y="2235994"/>
            <a:ext cx="2704216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Multiple people working on the same project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28625" y="2568178"/>
            <a:ext cx="357188" cy="357188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5781" y="2743200"/>
            <a:ext cx="142875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892969" y="2536031"/>
            <a:ext cx="2144855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942"/>
              <a:buFont typeface="Noto Sans"/>
              <a:buNone/>
            </a:pPr>
            <a:r>
              <a:rPr lang="en-US" sz="942" b="1" i="0" u="none" strike="noStrike" cap="none">
                <a:solidFill>
                  <a:srgbClr val="FFC482"/>
                </a:solidFill>
                <a:latin typeface="Noto Sans"/>
                <a:ea typeface="Noto Sans"/>
                <a:cs typeface="Noto Sans"/>
                <a:sym typeface="Noto Sans"/>
              </a:rPr>
              <a:t>History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92969" y="2764631"/>
            <a:ext cx="2144855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Who changed what, when, and why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28625" y="3096816"/>
            <a:ext cx="357188" cy="357188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711" y="3271838"/>
            <a:ext cx="125016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892969" y="3064669"/>
            <a:ext cx="2946071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942"/>
              <a:buFont typeface="Noto Sans"/>
              <a:buNone/>
            </a:pPr>
            <a:r>
              <a:rPr lang="en-US" sz="942" b="1" i="0" u="none" strike="noStrike" cap="none">
                <a:solidFill>
                  <a:srgbClr val="FFC482"/>
                </a:solidFill>
                <a:latin typeface="Noto Sans"/>
                <a:ea typeface="Noto Sans"/>
                <a:cs typeface="Noto Sans"/>
                <a:sym typeface="Noto Sans"/>
              </a:rPr>
              <a:t>Experimentation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92969" y="3293269"/>
            <a:ext cx="2946071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Branching out without breaking the main project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28625" y="3625453"/>
            <a:ext cx="357188" cy="357188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5781" y="3800475"/>
            <a:ext cx="142875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892969" y="3593306"/>
            <a:ext cx="1895773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942"/>
              <a:buFont typeface="Noto Sans"/>
              <a:buNone/>
            </a:pPr>
            <a:r>
              <a:rPr lang="en-US" sz="942" b="1" i="0" u="none" strike="noStrike" cap="none">
                <a:solidFill>
                  <a:srgbClr val="FFC482"/>
                </a:solidFill>
                <a:latin typeface="Noto Sans"/>
                <a:ea typeface="Noto Sans"/>
                <a:cs typeface="Noto Sans"/>
                <a:sym typeface="Noto Sans"/>
              </a:rPr>
              <a:t>Disaster Recovery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92969" y="3821906"/>
            <a:ext cx="1895773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Oops! Revert to a working state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72063" y="1381116"/>
            <a:ext cx="3571875" cy="238124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3893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179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428625" y="635794"/>
            <a:ext cx="3714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Types of Version Control Systems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64356" y="1621631"/>
            <a:ext cx="3579019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FFC482"/>
                </a:solidFill>
                <a:latin typeface="Noto Sans"/>
                <a:ea typeface="Noto Sans"/>
                <a:cs typeface="Noto Sans"/>
                <a:sym typeface="Noto Sans"/>
              </a:rPr>
              <a:t>Local VCS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64356" y="1893094"/>
            <a:ext cx="3579019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Simple database on your local computer that tracks changes to files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64356" y="2421731"/>
            <a:ext cx="3579019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FFC482"/>
                </a:solidFill>
                <a:latin typeface="Noto Sans"/>
                <a:ea typeface="Noto Sans"/>
                <a:cs typeface="Noto Sans"/>
                <a:sym typeface="Noto Sans"/>
              </a:rPr>
              <a:t>Centralized VCS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64356" y="2693194"/>
            <a:ext cx="3579019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Single server contains all versioned files, and clients check out files from that central place (e.g., SVN)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64356" y="3221831"/>
            <a:ext cx="3579019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FFC482"/>
                </a:solidFill>
                <a:latin typeface="Noto Sans"/>
                <a:ea typeface="Noto Sans"/>
                <a:cs typeface="Noto Sans"/>
                <a:sym typeface="Noto Sans"/>
              </a:rPr>
              <a:t>Distributed VCS (Git)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64356" y="3493294"/>
            <a:ext cx="3579019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Clients fully mirror the repository, including its complete history, creating multiple backups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4180880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610791" y="4152305"/>
            <a:ext cx="523280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Git is a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134070" y="4152305"/>
            <a:ext cx="732234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C482"/>
                </a:solidFill>
                <a:latin typeface="Open Sans"/>
                <a:ea typeface="Open Sans"/>
                <a:cs typeface="Open Sans"/>
                <a:sym typeface="Open Sans"/>
              </a:rPr>
              <a:t>distributed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866305" y="4152305"/>
            <a:ext cx="1544836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version control system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2063" y="1381116"/>
            <a:ext cx="3571875" cy="238124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3893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179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428625" y="992981"/>
            <a:ext cx="37147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What is Git?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28625" y="1609130"/>
            <a:ext cx="485775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Git is a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914400" y="1609130"/>
            <a:ext cx="2277070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C482"/>
                </a:solidFill>
                <a:latin typeface="Open Sans"/>
                <a:ea typeface="Open Sans"/>
                <a:cs typeface="Open Sans"/>
                <a:sym typeface="Open Sans"/>
              </a:rPr>
              <a:t>distributed version control system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191470" y="1609130"/>
            <a:ext cx="871538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designed for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28625" y="1837730"/>
            <a:ext cx="3637955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speed, data integrity, and support for distributed, non-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28625" y="2066330"/>
            <a:ext cx="1130498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linear workflows.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575322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664369" y="2564606"/>
            <a:ext cx="895369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Fast &amp; efficient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2875359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685800" y="2864644"/>
            <a:ext cx="2031309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Supports non-linear development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3175397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750094" y="3164681"/>
            <a:ext cx="1993888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Enables distributed collaboration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625" y="347543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707231" y="3464719"/>
            <a:ext cx="1322291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Ensures data integrity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8625" y="4007644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585788" y="3979069"/>
            <a:ext cx="319401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F8F"/>
              </a:buClr>
              <a:buSzPts val="837"/>
              <a:buFont typeface="Noto Sans"/>
              <a:buNone/>
            </a:pPr>
            <a:r>
              <a:rPr lang="en-US" sz="837" b="0" i="1" u="none" strike="noStrike" cap="none">
                <a:solidFill>
                  <a:srgbClr val="B3AF8F"/>
                </a:solidFill>
                <a:latin typeface="Noto Sans"/>
                <a:ea typeface="Noto Sans"/>
                <a:cs typeface="Noto Sans"/>
                <a:sym typeface="Noto Sans"/>
              </a:rPr>
              <a:t> Created by Linus Torvalds in 2005 for Linux kernel development 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72063" y="1916897"/>
            <a:ext cx="3571875" cy="130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3893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179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428625" y="942975"/>
            <a:ext cx="37147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Git Key Concepts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28625" y="1685925"/>
            <a:ext cx="257175" cy="257175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631" y="1735931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757238" y="1696641"/>
            <a:ext cx="1386501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 Repository (Repo) 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28625" y="1978819"/>
            <a:ext cx="3714750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115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The project folder with all its history 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28625" y="2314575"/>
            <a:ext cx="257175" cy="257175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454" y="2364581"/>
            <a:ext cx="137517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757238" y="2325291"/>
            <a:ext cx="622232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 Commit 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28625" y="2607469"/>
            <a:ext cx="3714750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115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A snapshot of your changes at a specific point in time 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28625" y="2943225"/>
            <a:ext cx="257175" cy="257175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8454" y="2993231"/>
            <a:ext cx="137517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757238" y="2953941"/>
            <a:ext cx="556068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 Branch 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28625" y="3236119"/>
            <a:ext cx="3714750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115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An independent line of development 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28625" y="3571875"/>
            <a:ext cx="257175" cy="257175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8631" y="3621881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757238" y="3582591"/>
            <a:ext cx="503244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 Merge 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28625" y="3864769"/>
            <a:ext cx="3714750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115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Combining changes from different branches 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72063" y="1232297"/>
            <a:ext cx="3571875" cy="267890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3893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5179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428625" y="975122"/>
            <a:ext cx="37147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Git Workflow: Local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28625" y="1575197"/>
            <a:ext cx="257175" cy="257175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28625" y="1575197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3A67"/>
              </a:buClr>
              <a:buSzPts val="942"/>
              <a:buFont typeface="Noto Sans"/>
              <a:buNone/>
            </a:pPr>
            <a:r>
              <a:rPr lang="en-US" sz="942" b="1" i="0" u="none" strike="noStrike" cap="none">
                <a:solidFill>
                  <a:srgbClr val="2B3A67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92956" y="1575197"/>
            <a:ext cx="335041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Noto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Working Directory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92956" y="1825228"/>
            <a:ext cx="3350419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Where you make changes to your files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792956" y="2053828"/>
            <a:ext cx="3350419" cy="242888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792956" y="2053828"/>
            <a:ext cx="3350419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837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$ git status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28625" y="2439591"/>
            <a:ext cx="257175" cy="257175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28625" y="2439591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3A67"/>
              </a:buClr>
              <a:buSzPts val="942"/>
              <a:buFont typeface="Noto Sans"/>
              <a:buNone/>
            </a:pPr>
            <a:r>
              <a:rPr lang="en-US" sz="942" b="1" i="0" u="none" strike="noStrike" cap="none">
                <a:solidFill>
                  <a:srgbClr val="2B3A67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92956" y="2439591"/>
            <a:ext cx="335041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Noto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Staging Area (Index)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92956" y="2689622"/>
            <a:ext cx="3350419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Preparing changes for a commit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92956" y="2918222"/>
            <a:ext cx="3350419" cy="242888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792956" y="2918222"/>
            <a:ext cx="3350419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837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$ git add file.txt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28625" y="3303984"/>
            <a:ext cx="257175" cy="257175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428625" y="3303984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3A67"/>
              </a:buClr>
              <a:buSzPts val="942"/>
              <a:buFont typeface="Noto Sans"/>
              <a:buNone/>
            </a:pPr>
            <a:r>
              <a:rPr lang="en-US" sz="942" b="1" i="0" u="none" strike="noStrike" cap="none">
                <a:solidFill>
                  <a:srgbClr val="2B3A67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92956" y="3303984"/>
            <a:ext cx="335041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Noto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Local Repository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92956" y="3554016"/>
            <a:ext cx="3350419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Storing committed changes on your machine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92956" y="3782616"/>
            <a:ext cx="3350419" cy="242888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792956" y="3782616"/>
            <a:ext cx="3350419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837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$ git commit -m "Add new feature"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2063" y="1381116"/>
            <a:ext cx="3571875" cy="238124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/>
          <p:nvPr/>
        </p:nvSpPr>
        <p:spPr>
          <a:xfrm>
            <a:off x="3893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5179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428625" y="664369"/>
            <a:ext cx="37147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Git Workflow: Remote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28625" y="1264444"/>
            <a:ext cx="285750" cy="285750"/>
          </a:xfrm>
          <a:prstGeom prst="rect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" name="Google Shape;226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2919" y="1328738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821531" y="1289447"/>
            <a:ext cx="383335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 Push 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28625" y="1621631"/>
            <a:ext cx="3714750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7725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Sending your local commits to the remote repository 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821531" y="1850231"/>
            <a:ext cx="3321844" cy="242888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821531" y="1850231"/>
            <a:ext cx="3321844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837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$ git push origin main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28625" y="2271713"/>
            <a:ext cx="285750" cy="285750"/>
          </a:xfrm>
          <a:prstGeom prst="rect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919" y="2336006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>
            <a:off x="821531" y="2296716"/>
            <a:ext cx="297833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 Pull 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28625" y="2628900"/>
            <a:ext cx="37147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7725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Fetching and merging changes from the remote repository 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821531" y="3050381"/>
            <a:ext cx="3321844" cy="242888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821531" y="3050381"/>
            <a:ext cx="3321844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837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$ git pull origin main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28625" y="3471863"/>
            <a:ext cx="285750" cy="285750"/>
          </a:xfrm>
          <a:prstGeom prst="rect">
            <a:avLst/>
          </a:prstGeom>
          <a:solidFill>
            <a:srgbClr val="B3A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8" name="Google Shape;238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2919" y="3536156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821531" y="3496866"/>
            <a:ext cx="441489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 Clone 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28625" y="3829050"/>
            <a:ext cx="3714750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7725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Creating a local copy of a remote repository 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821531" y="4057650"/>
            <a:ext cx="3321844" cy="242888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821531" y="4057650"/>
            <a:ext cx="3321844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837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$ git clone https://github.com/user/repo.git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72063" y="1381116"/>
            <a:ext cx="3571875" cy="238124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3893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5179219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/>
          <p:nvPr/>
        </p:nvSpPr>
        <p:spPr>
          <a:xfrm>
            <a:off x="428625" y="600075"/>
            <a:ext cx="37147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Fun with Git!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428625" y="1200150"/>
            <a:ext cx="357188" cy="35718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" name="Google Shape;262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063" y="1293019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2"/>
          <p:cNvSpPr/>
          <p:nvPr/>
        </p:nvSpPr>
        <p:spPr>
          <a:xfrm>
            <a:off x="928688" y="1200150"/>
            <a:ext cx="3214688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Collaboration Made Easy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928688" y="1471613"/>
            <a:ext cx="3214688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Work with teammates anywhere in the world without stepping on each other's toes 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928688" y="1893094"/>
            <a:ext cx="3214688" cy="242888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928688" y="1893094"/>
            <a:ext cx="321468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837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$ git branch feature-awesome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428625" y="2314575"/>
            <a:ext cx="357188" cy="35718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8" name="Google Shape;268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2209" y="2407444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/>
          <p:nvPr/>
        </p:nvSpPr>
        <p:spPr>
          <a:xfrm>
            <a:off x="928688" y="2314575"/>
            <a:ext cx="3214688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Experiment Without Fear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928688" y="2586038"/>
            <a:ext cx="3214688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Try wild ideas in separate branches without breaking your main code 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928688" y="3007519"/>
            <a:ext cx="3214688" cy="242888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928688" y="3007519"/>
            <a:ext cx="321468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837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$ git checkout -b crazy-experiment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428625" y="3429000"/>
            <a:ext cx="357188" cy="35718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4" name="Google Shape;274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1494" y="352186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2"/>
          <p:cNvSpPr/>
          <p:nvPr/>
        </p:nvSpPr>
        <p:spPr>
          <a:xfrm>
            <a:off x="928688" y="3429000"/>
            <a:ext cx="3214688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Undo Mistakes Like a Superhero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928688" y="3700463"/>
            <a:ext cx="3214688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Accidentally broke everything? No problem! Git has your back 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928688" y="4121944"/>
            <a:ext cx="3214688" cy="242888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928688" y="4121944"/>
            <a:ext cx="321468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837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$ git reset --hard HEAD~1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72063" y="1630114"/>
            <a:ext cx="3571875" cy="188324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2"/>
          <p:cNvSpPr/>
          <p:nvPr/>
        </p:nvSpPr>
        <p:spPr>
          <a:xfrm>
            <a:off x="36790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38219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39647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41076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49649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1077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5250656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53935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/>
          <p:nvPr/>
        </p:nvSpPr>
        <p:spPr>
          <a:xfrm>
            <a:off x="428625" y="992981"/>
            <a:ext cx="37147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What is GitHub?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28625" y="1609130"/>
            <a:ext cx="766167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GitHub is a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1194792" y="1609130"/>
            <a:ext cx="1428750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Open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Open Sans"/>
                <a:ea typeface="Open Sans"/>
                <a:cs typeface="Open Sans"/>
                <a:sym typeface="Open Sans"/>
              </a:rPr>
              <a:t>cloud-based platform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2623542" y="1609130"/>
            <a:ext cx="1051917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for hosting and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428625" y="1837730"/>
            <a:ext cx="2177058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collaborating on Git repositories.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428625" y="2209205"/>
            <a:ext cx="998339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Think of it as a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1426964" y="2209205"/>
            <a:ext cx="1548408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Open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Open Sans"/>
                <a:ea typeface="Open Sans"/>
                <a:cs typeface="Open Sans"/>
                <a:sym typeface="Open Sans"/>
              </a:rPr>
              <a:t>social network for code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2975372" y="2209205"/>
            <a:ext cx="455414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where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428625" y="2437805"/>
            <a:ext cx="3132534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developers can work together on projects from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428625" y="2666405"/>
            <a:ext cx="1526977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anywhere in the world.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28625" y="3214688"/>
            <a:ext cx="285750" cy="285750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0" name="Google Shape;310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063" y="3300413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9"/>
          <p:cNvSpPr/>
          <p:nvPr/>
        </p:nvSpPr>
        <p:spPr>
          <a:xfrm>
            <a:off x="821531" y="3261122"/>
            <a:ext cx="1435447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100+ million developers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2286000" y="3214688"/>
            <a:ext cx="285750" cy="285750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3" name="Google Shape;313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78869" y="3300413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/>
          <p:nvPr/>
        </p:nvSpPr>
        <p:spPr>
          <a:xfrm>
            <a:off x="2678906" y="3164681"/>
            <a:ext cx="1464469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400+ million repositories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28625" y="3707606"/>
            <a:ext cx="285750" cy="285750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6" name="Google Shape;316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8638" y="3793331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9"/>
          <p:cNvSpPr/>
          <p:nvPr/>
        </p:nvSpPr>
        <p:spPr>
          <a:xfrm>
            <a:off x="821531" y="3754041"/>
            <a:ext cx="1172468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90% of Fortune 100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286000" y="3707606"/>
            <a:ext cx="285750" cy="285750"/>
          </a:xfrm>
          <a:prstGeom prst="ellipse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9" name="Google Shape;319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71725" y="379333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9"/>
          <p:cNvSpPr/>
          <p:nvPr/>
        </p:nvSpPr>
        <p:spPr>
          <a:xfrm>
            <a:off x="2678906" y="3657600"/>
            <a:ext cx="1464469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Largest open source community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72063" y="1143000"/>
            <a:ext cx="35718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/>
          <p:nvPr/>
        </p:nvSpPr>
        <p:spPr>
          <a:xfrm>
            <a:off x="36790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38219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39647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41076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49649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51077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52506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53935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0"/>
          <p:cNvSpPr/>
          <p:nvPr/>
        </p:nvSpPr>
        <p:spPr>
          <a:xfrm>
            <a:off x="428625" y="671513"/>
            <a:ext cx="37147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GitHub Features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428625" y="1271588"/>
            <a:ext cx="357188" cy="357188"/>
          </a:xfrm>
          <a:prstGeom prst="rect">
            <a:avLst/>
          </a:prstGeom>
          <a:solidFill>
            <a:srgbClr val="6699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3" name="Google Shape;343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711" y="1446609"/>
            <a:ext cx="125016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/>
          <p:nvPr/>
        </p:nvSpPr>
        <p:spPr>
          <a:xfrm>
            <a:off x="892969" y="1271588"/>
            <a:ext cx="3250406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FFC482"/>
                </a:solidFill>
                <a:latin typeface="Noto Sans"/>
                <a:ea typeface="Noto Sans"/>
                <a:cs typeface="Noto Sans"/>
                <a:sym typeface="Noto Sans"/>
              </a:rPr>
              <a:t>Pull Requests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892969" y="1543050"/>
            <a:ext cx="3250406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Propose changes, request code reviews, and discuss modifications before merging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28625" y="2071688"/>
            <a:ext cx="357188" cy="357188"/>
          </a:xfrm>
          <a:prstGeom prst="rect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7" name="Google Shape;347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5781" y="2246709"/>
            <a:ext cx="142875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/>
          <p:nvPr/>
        </p:nvSpPr>
        <p:spPr>
          <a:xfrm>
            <a:off x="892969" y="2071688"/>
            <a:ext cx="3250406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FFC482"/>
                </a:solidFill>
                <a:latin typeface="Noto Sans"/>
                <a:ea typeface="Noto Sans"/>
                <a:cs typeface="Noto Sans"/>
                <a:sym typeface="Noto Sans"/>
              </a:rPr>
              <a:t>Issues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892969" y="2343150"/>
            <a:ext cx="3250406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Track bugs, feature requests, and tasks with customizable labels and milestones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428625" y="2871788"/>
            <a:ext cx="357188" cy="357188"/>
          </a:xfrm>
          <a:prstGeom prst="rect">
            <a:avLst/>
          </a:prstGeom>
          <a:solidFill>
            <a:srgbClr val="B3A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1" name="Google Shape;351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5781" y="3046809"/>
            <a:ext cx="142875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/>
          <p:nvPr/>
        </p:nvSpPr>
        <p:spPr>
          <a:xfrm>
            <a:off x="892969" y="2871788"/>
            <a:ext cx="3250406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FFC482"/>
                </a:solidFill>
                <a:latin typeface="Noto Sans"/>
                <a:ea typeface="Noto Sans"/>
                <a:cs typeface="Noto Sans"/>
                <a:sym typeface="Noto Sans"/>
              </a:rPr>
              <a:t>Project Boards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892969" y="3143250"/>
            <a:ext cx="3250406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Organize and prioritize work with Kanban-style boards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428625" y="3671888"/>
            <a:ext cx="357188" cy="357188"/>
          </a:xfrm>
          <a:prstGeom prst="rect">
            <a:avLst/>
          </a:prstGeom>
          <a:solidFill>
            <a:srgbClr val="496A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5" name="Google Shape;355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5781" y="3846909"/>
            <a:ext cx="142875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0"/>
          <p:cNvSpPr/>
          <p:nvPr/>
        </p:nvSpPr>
        <p:spPr>
          <a:xfrm>
            <a:off x="892969" y="3671888"/>
            <a:ext cx="3250406" cy="23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1238"/>
              <a:buFont typeface="Noto Sans"/>
              <a:buNone/>
            </a:pPr>
            <a:r>
              <a:rPr lang="en-US" sz="1238" b="1" i="0" u="none" strike="noStrike" cap="none">
                <a:solidFill>
                  <a:srgbClr val="FFC482"/>
                </a:solidFill>
                <a:latin typeface="Noto Sans"/>
                <a:ea typeface="Noto Sans"/>
                <a:cs typeface="Noto Sans"/>
                <a:sym typeface="Noto Sans"/>
              </a:rPr>
              <a:t>GitHub Actions</a:t>
            </a:r>
            <a:endParaRPr sz="123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892969" y="3943350"/>
            <a:ext cx="3250406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Automate workflows, testing, and deployment directly from your repository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72063" y="1470943"/>
            <a:ext cx="3571875" cy="220158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0"/>
          <p:cNvSpPr/>
          <p:nvPr/>
        </p:nvSpPr>
        <p:spPr>
          <a:xfrm>
            <a:off x="36790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38219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39647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41076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4964906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51077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52506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53935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1"/>
          <p:cNvSpPr/>
          <p:nvPr/>
        </p:nvSpPr>
        <p:spPr>
          <a:xfrm>
            <a:off x="428625" y="435769"/>
            <a:ext cx="37147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Forking Projects on GitHub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428625" y="1051917"/>
            <a:ext cx="128588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557235" y="1051925"/>
            <a:ext cx="481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Open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Open Sans"/>
                <a:ea typeface="Open Sans"/>
                <a:cs typeface="Open Sans"/>
                <a:sym typeface="Open Sans"/>
              </a:rPr>
              <a:t>fork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825103" y="1051917"/>
            <a:ext cx="3120033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is a personal copy of another user's repository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428625" y="1280517"/>
            <a:ext cx="2260997" cy="19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Open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that lives on your GitHub account. 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28625" y="1778794"/>
            <a:ext cx="257175" cy="257175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428625" y="1778794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3A67"/>
              </a:buClr>
              <a:buSzPts val="942"/>
              <a:buFont typeface="Noto Sans"/>
              <a:buNone/>
            </a:pPr>
            <a:r>
              <a:rPr lang="en-US" sz="942" b="1" i="0" u="none" strike="noStrike" cap="none">
                <a:solidFill>
                  <a:srgbClr val="2B3A67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792956" y="1778794"/>
            <a:ext cx="335041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Noto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Fork the Repository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792956" y="2028825"/>
            <a:ext cx="3350419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Click the "Fork" button on a GitHub repository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428625" y="2328863"/>
            <a:ext cx="257175" cy="257175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428625" y="2328863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3A67"/>
              </a:buClr>
              <a:buSzPts val="942"/>
              <a:buFont typeface="Noto Sans"/>
              <a:buNone/>
            </a:pPr>
            <a:r>
              <a:rPr lang="en-US" sz="942" b="1" i="0" u="none" strike="noStrike" cap="none">
                <a:solidFill>
                  <a:srgbClr val="2B3A67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792956" y="2328863"/>
            <a:ext cx="335041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Noto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Clone Your Fork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792956" y="2578894"/>
            <a:ext cx="3350419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Download your fork to your local machine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792956" y="2807494"/>
            <a:ext cx="3350419" cy="414338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792956" y="2807494"/>
            <a:ext cx="3350419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837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$ git clone https://github.com/YOUR-USERNAME/REPO-NAME.git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428625" y="3328988"/>
            <a:ext cx="257175" cy="257175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428625" y="3328988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3A67"/>
              </a:buClr>
              <a:buSzPts val="942"/>
              <a:buFont typeface="Noto Sans"/>
              <a:buNone/>
            </a:pPr>
            <a:r>
              <a:rPr lang="en-US" sz="942" b="1" i="0" u="none" strike="noStrike" cap="none">
                <a:solidFill>
                  <a:srgbClr val="2B3A67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792956" y="3328988"/>
            <a:ext cx="335041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Noto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Make Changes &amp; Push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792956" y="3579019"/>
            <a:ext cx="3350419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Modify code and push to your fork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792956" y="3807619"/>
            <a:ext cx="3350419" cy="242888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792956" y="3807619"/>
            <a:ext cx="3350419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837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$ git push origin main</a:t>
            </a:r>
            <a:endParaRPr sz="83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428625" y="4157663"/>
            <a:ext cx="257175" cy="257175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428625" y="4157663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3A67"/>
              </a:buClr>
              <a:buSzPts val="942"/>
              <a:buFont typeface="Noto Sans"/>
              <a:buNone/>
            </a:pPr>
            <a:r>
              <a:rPr lang="en-US" sz="942" b="1" i="0" u="none" strike="noStrike" cap="none">
                <a:solidFill>
                  <a:srgbClr val="2B3A67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792956" y="4157663"/>
            <a:ext cx="335041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046"/>
              <a:buFont typeface="Noto Sans"/>
              <a:buNone/>
            </a:pPr>
            <a:r>
              <a:rPr lang="en-US" sz="1046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Create Pull Request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792956" y="4407694"/>
            <a:ext cx="3350419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Submit changes to the original repository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2063" y="1650736"/>
            <a:ext cx="3571875" cy="184199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1"/>
          <p:cNvSpPr/>
          <p:nvPr/>
        </p:nvSpPr>
        <p:spPr>
          <a:xfrm>
            <a:off x="36790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38219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39647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41076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49649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5107781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52506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53935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3"/>
          <p:cNvSpPr/>
          <p:nvPr/>
        </p:nvSpPr>
        <p:spPr>
          <a:xfrm>
            <a:off x="428625" y="607219"/>
            <a:ext cx="37147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482"/>
              </a:buClr>
              <a:buSzPts val="2025"/>
              <a:buFont typeface="Montserrat"/>
              <a:buNone/>
            </a:pPr>
            <a:r>
              <a:rPr lang="en-US" sz="2025" b="1" i="0" u="none" strike="noStrike" cap="none">
                <a:solidFill>
                  <a:srgbClr val="FFC482"/>
                </a:solidFill>
                <a:latin typeface="Montserrat"/>
                <a:ea typeface="Montserrat"/>
                <a:cs typeface="Montserrat"/>
                <a:sym typeface="Montserrat"/>
              </a:rPr>
              <a:t>Summary &amp; Next Steps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30730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3"/>
          <p:cNvSpPr/>
          <p:nvPr/>
        </p:nvSpPr>
        <p:spPr>
          <a:xfrm>
            <a:off x="707231" y="1207294"/>
            <a:ext cx="341443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Noto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Git is a powerful distributed version control system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90023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3"/>
          <p:cNvSpPr/>
          <p:nvPr/>
        </p:nvSpPr>
        <p:spPr>
          <a:xfrm>
            <a:off x="707231" y="1685925"/>
            <a:ext cx="34361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Noto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It helps you track changes, collaborate, and maintain code quality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60746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3"/>
          <p:cNvSpPr/>
          <p:nvPr/>
        </p:nvSpPr>
        <p:spPr>
          <a:xfrm>
            <a:off x="707231" y="2393156"/>
            <a:ext cx="34361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Noto Sans"/>
              <a:buNone/>
            </a:pPr>
            <a:r>
              <a:rPr lang="en-US" sz="1046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Understanding the workflow makes Git much easier to use</a:t>
            </a:r>
            <a:endParaRPr sz="104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428625" y="3314700"/>
            <a:ext cx="3714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999B"/>
              </a:buClr>
              <a:buSzPts val="1350"/>
              <a:buFont typeface="Noto Sans"/>
              <a:buNone/>
            </a:pPr>
            <a:r>
              <a:rPr lang="en-US" sz="1350" b="1" i="0" u="none" strike="noStrike" cap="none">
                <a:solidFill>
                  <a:srgbClr val="66999B"/>
                </a:solidFill>
                <a:latin typeface="Noto Sans"/>
                <a:ea typeface="Noto Sans"/>
                <a:cs typeface="Noto Sans"/>
                <a:sym typeface="Noto Sans"/>
              </a:rPr>
              <a:t>Learn More: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428625" y="3679031"/>
            <a:ext cx="214313" cy="214313"/>
          </a:xfrm>
          <a:prstGeom prst="ellipse">
            <a:avLst/>
          </a:prstGeom>
          <a:solidFill>
            <a:srgbClr val="B3A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2" name="Google Shape;432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3729038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3"/>
          <p:cNvSpPr/>
          <p:nvPr/>
        </p:nvSpPr>
        <p:spPr>
          <a:xfrm>
            <a:off x="714375" y="3689747"/>
            <a:ext cx="2434177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F8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B3AF8F"/>
                </a:solidFill>
                <a:latin typeface="Noto Sans"/>
                <a:ea typeface="Noto Sans"/>
                <a:cs typeface="Noto Sans"/>
                <a:sym typeface="Noto Sans"/>
              </a:rPr>
              <a:t>git-scm.com - Official Git documentation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428625" y="3964781"/>
            <a:ext cx="214313" cy="214313"/>
          </a:xfrm>
          <a:prstGeom prst="ellipse">
            <a:avLst/>
          </a:prstGeom>
          <a:solidFill>
            <a:srgbClr val="B3A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5" name="Google Shape;435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4344" y="4014788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3"/>
          <p:cNvSpPr/>
          <p:nvPr/>
        </p:nvSpPr>
        <p:spPr>
          <a:xfrm>
            <a:off x="714375" y="3975497"/>
            <a:ext cx="2744456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F8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B3AF8F"/>
                </a:solidFill>
                <a:latin typeface="Noto Sans"/>
                <a:ea typeface="Noto Sans"/>
                <a:cs typeface="Noto Sans"/>
                <a:sym typeface="Noto Sans"/>
              </a:rPr>
              <a:t>learngitbranching.js.org - Interactive tutorials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428625" y="4250531"/>
            <a:ext cx="214313" cy="214313"/>
          </a:xfrm>
          <a:prstGeom prst="ellipse">
            <a:avLst/>
          </a:prstGeom>
          <a:solidFill>
            <a:srgbClr val="B3A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8" name="Google Shape;438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1488" y="4300538"/>
            <a:ext cx="12858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3"/>
          <p:cNvSpPr/>
          <p:nvPr/>
        </p:nvSpPr>
        <p:spPr>
          <a:xfrm>
            <a:off x="714375" y="4261247"/>
            <a:ext cx="2290158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F8F"/>
              </a:buClr>
              <a:buSzPts val="942"/>
              <a:buFont typeface="Noto Sans"/>
              <a:buNone/>
            </a:pPr>
            <a:r>
              <a:rPr lang="en-US" sz="942" b="0" i="0" u="none" strike="noStrike" cap="none">
                <a:solidFill>
                  <a:srgbClr val="B3AF8F"/>
                </a:solidFill>
                <a:latin typeface="Noto Sans"/>
                <a:ea typeface="Noto Sans"/>
                <a:cs typeface="Noto Sans"/>
                <a:sym typeface="Noto Sans"/>
              </a:rPr>
              <a:t>YouTube: "Git &amp; GitHub Crash Course"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72063" y="660797"/>
            <a:ext cx="3571875" cy="382190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3"/>
          <p:cNvSpPr/>
          <p:nvPr/>
        </p:nvSpPr>
        <p:spPr>
          <a:xfrm>
            <a:off x="36790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38219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39647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41076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42505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43934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45362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46791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482203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496490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5107781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5250656" y="4929188"/>
            <a:ext cx="71438" cy="71438"/>
          </a:xfrm>
          <a:prstGeom prst="ellipse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5393531" y="4929188"/>
            <a:ext cx="71438" cy="71438"/>
          </a:xfrm>
          <a:prstGeom prst="ellipse">
            <a:avLst/>
          </a:prstGeom>
          <a:solidFill>
            <a:srgbClr val="FFC4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</Words>
  <Application>Microsoft Macintosh PowerPoint</Application>
  <PresentationFormat>On-screen Show (16:9)</PresentationFormat>
  <Paragraphs>149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Montserrat</vt:lpstr>
      <vt:lpstr>Noto Sans</vt:lpstr>
      <vt:lpstr>Calibri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Adam Pah</cp:lastModifiedBy>
  <cp:revision>1</cp:revision>
  <dcterms:created xsi:type="dcterms:W3CDTF">2025-09-19T15:41:05Z</dcterms:created>
  <dcterms:modified xsi:type="dcterms:W3CDTF">2025-09-19T15:44:07Z</dcterms:modified>
</cp:coreProperties>
</file>